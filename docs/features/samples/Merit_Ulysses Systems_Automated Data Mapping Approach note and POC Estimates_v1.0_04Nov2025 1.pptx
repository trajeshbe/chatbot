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456" r:id="rId3"/>
    <p:sldId id="995" r:id="rId4"/>
    <p:sldId id="985" r:id="rId5"/>
    <p:sldId id="1006" r:id="rId6"/>
    <p:sldId id="992" r:id="rId7"/>
    <p:sldId id="1003" r:id="rId8"/>
    <p:sldId id="989" r:id="rId9"/>
    <p:sldId id="1001" r:id="rId10"/>
    <p:sldId id="1005" r:id="rId11"/>
    <p:sldId id="969" r:id="rId12"/>
    <p:sldId id="996" r:id="rId13"/>
    <p:sldId id="1004" r:id="rId14"/>
    <p:sldId id="902" r:id="rId15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055"/>
    <a:srgbClr val="769467"/>
    <a:srgbClr val="71A178"/>
    <a:srgbClr val="052F47"/>
    <a:srgbClr val="95BB81"/>
    <a:srgbClr val="023047"/>
    <a:srgbClr val="FFC000"/>
    <a:srgbClr val="C99906"/>
    <a:srgbClr val="567C63"/>
    <a:srgbClr val="E0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46510-2BDD-2F37-4A99-3BF8D3092141}" v="6" dt="2025-10-28T17:07:04.883"/>
    <p1510:client id="{6CB534D8-7222-C0FC-9EB0-6BC6346B8771}" v="1207" dt="2025-10-28T15:09:34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79259" autoAdjust="0"/>
  </p:normalViewPr>
  <p:slideViewPr>
    <p:cSldViewPr snapToGrid="0">
      <p:cViewPr varScale="1">
        <p:scale>
          <a:sx n="53" d="100"/>
          <a:sy n="53" d="100"/>
        </p:scale>
        <p:origin x="13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1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73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32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3FF2E-406D-D4F9-01E9-1357174F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25903-380E-7A53-1A00-3CFF61ED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D4CAA-7D17-D0D6-7255-4588801FB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1E104-95D9-FCAF-20DD-E9A4C3F5F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58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8" Type="http://schemas.openxmlformats.org/officeDocument/2006/relationships/image" Target="../media/image20.png"/><Relationship Id="rId3" Type="http://schemas.openxmlformats.org/officeDocument/2006/relationships/image" Target="../media/image1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2047240"/>
            <a:ext cx="6230620" cy="424815"/>
          </a:xfrm>
        </p:spPr>
        <p:txBody>
          <a:bodyPr anchor="b">
            <a:noAutofit/>
          </a:bodyPr>
          <a:lstStyle>
            <a:lvl1pPr algn="l">
              <a:defRPr sz="2000" b="0">
                <a:solidFill>
                  <a:schemeClr val="bg1"/>
                </a:solidFill>
                <a:latin typeface="BDO Grotesk DemiBold" charset="0"/>
              </a:defRPr>
            </a:lvl1pPr>
          </a:lstStyle>
          <a:p>
            <a:r>
              <a:rPr lang="en-US"/>
              <a:t>Document 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200" y="2472055"/>
            <a:ext cx="7774940" cy="911860"/>
          </a:xfrm>
        </p:spPr>
        <p:txBody>
          <a:bodyPr>
            <a:noAutofit/>
          </a:bodyPr>
          <a:lstStyle>
            <a:lvl1pPr marL="0" indent="0" algn="l">
              <a:buNone/>
              <a:defRPr sz="4800" b="1">
                <a:solidFill>
                  <a:schemeClr val="bg1"/>
                </a:solidFill>
                <a:latin typeface="BDO Grotesk DemiBold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04825" y="5181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1335" y="3746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hip bg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truction Cov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91160" y="41529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omtive Cover">
    <p:bg>
      <p:bgPr>
        <a:blipFill rotWithShape="1">
          <a:blip r:embed="rId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1160" y="41529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y Cover">
    <p:bg>
      <p:bgPr>
        <a:blipFill rotWithShape="1">
          <a:blip r:embed="rId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6725" y="24739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Cover">
    <p:bg>
      <p:bgPr>
        <a:blipFill rotWithShape="1">
          <a:blip r:embed="rId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6725" y="24739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blish Cover">
    <p:bg>
      <p:bgPr>
        <a:blipFill rotWithShape="1">
          <a:blip r:embed="rId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6725" y="24739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1160" y="41529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17745" y="8445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truction 1_Custom Layout">
    <p:bg>
      <p:bgPr>
        <a:blipFill rotWithShape="1">
          <a:blip r:embed="rId2"/>
          <a:stretch>
            <a:fillRect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03445" y="19748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rotWithShape="1">
          <a:blip r:embed="rId2"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9745" y="6794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ster slide 1">
    <p:bg>
      <p:bgPr>
        <a:blipFill rotWithShape="1">
          <a:blip r:embed="rId2"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DO Grotesk" charset="0"/>
              </a:defRPr>
            </a:lvl1pPr>
            <a:lvl2pPr>
              <a:defRPr>
                <a:latin typeface="BDO Grotesk" charset="0"/>
              </a:defRPr>
            </a:lvl2pPr>
            <a:lvl3pPr>
              <a:defRPr>
                <a:latin typeface="BDO Grotesk" charset="0"/>
              </a:defRPr>
            </a:lvl3pPr>
            <a:lvl4pPr>
              <a:defRPr>
                <a:latin typeface="BDO Grotesk" charset="0"/>
              </a:defRPr>
            </a:lvl4pPr>
            <a:lvl5pPr>
              <a:defRPr>
                <a:latin typeface="BDO Grotes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2166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bg>
      <p:bgPr>
        <a:blipFill rotWithShape="1">
          <a:blip r:embed="rId2"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7718612" y="1255712"/>
            <a:ext cx="4138426" cy="4346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Content</a:t>
            </a:r>
            <a:endParaRPr lang="en-GB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391160" y="41529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8907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BDO Grotesk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hip BG">
    <p:bg>
      <p:bgPr>
        <a:blipFill rotWithShape="1">
          <a:blip r:embed="rId2"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MAster Slide 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DO Grotesk" charset="0"/>
              </a:defRPr>
            </a:lvl1pPr>
            <a:lvl2pPr>
              <a:defRPr>
                <a:latin typeface="BDO Grotesk" charset="0"/>
              </a:defRPr>
            </a:lvl2pPr>
            <a:lvl3pPr>
              <a:defRPr>
                <a:latin typeface="BDO Grotesk" charset="0"/>
              </a:defRPr>
            </a:lvl3pPr>
            <a:lvl4pPr>
              <a:defRPr>
                <a:latin typeface="BDO Grotesk" charset="0"/>
              </a:defRPr>
            </a:lvl4pPr>
            <a:lvl5pPr>
              <a:defRPr>
                <a:latin typeface="BDO Grotes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BDO Grotesk" charset="0"/>
              </a:defRPr>
            </a:lvl1pPr>
            <a:lvl2pPr>
              <a:defRPr>
                <a:latin typeface="BDO Grotesk" charset="0"/>
              </a:defRPr>
            </a:lvl2pPr>
            <a:lvl3pPr>
              <a:defRPr>
                <a:latin typeface="BDO Grotesk" charset="0"/>
              </a:defRPr>
            </a:lvl3pPr>
            <a:lvl4pPr>
              <a:defRPr>
                <a:latin typeface="BDO Grotesk" charset="0"/>
              </a:defRPr>
            </a:lvl4pPr>
            <a:lvl5pPr>
              <a:defRPr>
                <a:latin typeface="BDO Grotes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Master slide  4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05" y="1861820"/>
            <a:ext cx="3931920" cy="980440"/>
          </a:xfrm>
        </p:spPr>
        <p:txBody>
          <a:bodyPr anchor="b"/>
          <a:lstStyle>
            <a:lvl1pPr>
              <a:defRPr sz="3200">
                <a:latin typeface="BDO Grotesk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505" y="1861820"/>
            <a:ext cx="6172200" cy="3999230"/>
          </a:xfrm>
        </p:spPr>
        <p:txBody>
          <a:bodyPr/>
          <a:lstStyle>
            <a:lvl1pPr marL="0" indent="0">
              <a:buNone/>
              <a:defRPr sz="3200">
                <a:latin typeface="BDO Grotesk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05" y="2842260"/>
            <a:ext cx="3931920" cy="3027045"/>
          </a:xfrm>
        </p:spPr>
        <p:txBody>
          <a:bodyPr/>
          <a:lstStyle>
            <a:lvl1pPr marL="0" indent="0">
              <a:buNone/>
              <a:defRPr sz="1600">
                <a:latin typeface="BDO Grotesk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it Line Art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 userDrawn="1"/>
        </p:nvSpPr>
        <p:spPr>
          <a:xfrm>
            <a:off x="5196205" y="640080"/>
            <a:ext cx="1799590" cy="503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bg1"/>
                </a:solidFill>
                <a:latin typeface="BDO Grotesk DemiBold" charset="0"/>
                <a:ea typeface="+mj-ea"/>
                <a:cs typeface="+mj-cs"/>
              </a:defRPr>
            </a:lvl1pPr>
          </a:lstStyle>
          <a:p>
            <a:pPr algn="ctr"/>
            <a:r>
              <a:rPr lang="en-IN" altLang="en-US" sz="2900"/>
              <a:t>Line Arts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4490" y="1809115"/>
            <a:ext cx="1360805" cy="9709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09090" y="1856740"/>
            <a:ext cx="1226820" cy="875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35910" y="1991995"/>
            <a:ext cx="1036320" cy="7397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975100" y="1856740"/>
            <a:ext cx="1077595" cy="7689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532120" y="1661795"/>
            <a:ext cx="1127760" cy="8045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453755" y="1991995"/>
            <a:ext cx="1209675" cy="7581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053320" y="2012950"/>
            <a:ext cx="977265" cy="6978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682105" y="2078990"/>
            <a:ext cx="1537970" cy="96710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28650" y="3046095"/>
            <a:ext cx="1096645" cy="7823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857375" y="2877185"/>
            <a:ext cx="1199515" cy="85598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109595" y="3128645"/>
            <a:ext cx="865505" cy="61722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879215" y="2877185"/>
            <a:ext cx="1270000" cy="90614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149215" y="3077210"/>
            <a:ext cx="1009650" cy="7200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356350" y="3169285"/>
            <a:ext cx="808355" cy="57658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444105" y="3025775"/>
            <a:ext cx="1009650" cy="7200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453755" y="3129280"/>
            <a:ext cx="935990" cy="66802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488170" y="3025775"/>
            <a:ext cx="1130300" cy="8064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787380" y="3165475"/>
            <a:ext cx="813435" cy="58039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80415" y="4105275"/>
            <a:ext cx="793750" cy="5664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948815" y="3945890"/>
            <a:ext cx="1016635" cy="72580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39160" y="3724275"/>
            <a:ext cx="1327785" cy="94742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5088890" y="3985260"/>
            <a:ext cx="1130300" cy="8064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6342380" y="4105275"/>
            <a:ext cx="822325" cy="58674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538085" y="4204970"/>
            <a:ext cx="822325" cy="58674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8639175" y="4256405"/>
            <a:ext cx="750570" cy="53530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9648825" y="4204970"/>
            <a:ext cx="808355" cy="57658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787380" y="4108450"/>
            <a:ext cx="813435" cy="58039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71830" y="4888865"/>
            <a:ext cx="1009650" cy="72009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948815" y="4986655"/>
            <a:ext cx="735965" cy="52514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2979420" y="4801235"/>
            <a:ext cx="995680" cy="71056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4258310" y="4986655"/>
            <a:ext cx="794385" cy="56705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5422900" y="5083810"/>
            <a:ext cx="735965" cy="52514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6589395" y="4855210"/>
            <a:ext cx="1056005" cy="75374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972425" y="4966335"/>
            <a:ext cx="851535" cy="60769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9011920" y="4855210"/>
            <a:ext cx="889000" cy="63436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296525" y="4847590"/>
            <a:ext cx="866140" cy="617855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270" y="1905"/>
            <a:ext cx="12190095" cy="6868795"/>
          </a:xfrm>
          <a:prstGeom prst="rect">
            <a:avLst/>
          </a:prstGeom>
          <a:solidFill>
            <a:srgbClr val="1640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ormal Slid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9725" y="3022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4369435" y="8572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1475740"/>
            <a:ext cx="10515600" cy="4701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37540" y="222250"/>
            <a:ext cx="9635490" cy="90741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DO Grotesk DemiBold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DO Grotesk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DO Grotesk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DO Grotesk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DO Grotesk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DO Grotesk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../xl/media/image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93595" y="1703240"/>
            <a:ext cx="10271762" cy="133794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3000" b="0" dirty="0">
                <a:solidFill>
                  <a:srgbClr val="1A3F4E"/>
                </a:solidFill>
                <a:latin typeface="BDO Grotesk Black"/>
                <a:ea typeface="Calibri"/>
                <a:cs typeface="Times New Roman"/>
                <a:sym typeface="+mn-ea"/>
              </a:rPr>
              <a:t>Automated Data </a:t>
            </a:r>
            <a:r>
              <a:rPr lang="en-IN" sz="3000" b="0" dirty="0" smtClean="0">
                <a:solidFill>
                  <a:srgbClr val="1A3F4E"/>
                </a:solidFill>
                <a:latin typeface="BDO Grotesk Black"/>
                <a:ea typeface="Calibri"/>
                <a:cs typeface="Times New Roman"/>
                <a:sym typeface="+mn-ea"/>
              </a:rPr>
              <a:t>Mapping POC Solution </a:t>
            </a:r>
            <a:r>
              <a:rPr lang="en-IN" sz="3000" b="0" dirty="0">
                <a:solidFill>
                  <a:srgbClr val="1A3F4E"/>
                </a:solidFill>
                <a:latin typeface="BDO Grotesk Black"/>
                <a:ea typeface="Calibri"/>
                <a:cs typeface="Times New Roman"/>
                <a:sym typeface="+mn-ea"/>
              </a:rPr>
              <a:t>Approach Note 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093595" y="2849315"/>
            <a:ext cx="6458014" cy="3778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latin typeface="BDO Grotesk DemiBold" charset="0"/>
              </a:defRPr>
            </a:lvl1pPr>
          </a:lstStyle>
          <a:p>
            <a:r>
              <a:rPr lang="en-IN" altLang="en-US" sz="3000" dirty="0">
                <a:solidFill>
                  <a:srgbClr val="1A3F4E"/>
                </a:solidFill>
                <a:latin typeface="BDO Grotesk Black"/>
                <a:ea typeface="Calibri"/>
                <a:cs typeface="Times New Roman"/>
              </a:rPr>
              <a:t>For </a:t>
            </a:r>
            <a:r>
              <a:rPr lang="en-IN" altLang="en-US" sz="3000" dirty="0" smtClean="0">
                <a:solidFill>
                  <a:srgbClr val="1A3F4E"/>
                </a:solidFill>
                <a:latin typeface="BDO Grotesk Black"/>
                <a:ea typeface="Calibri"/>
                <a:cs typeface="Times New Roman"/>
              </a:rPr>
              <a:t>Ulysses Systems</a:t>
            </a:r>
            <a:endParaRPr lang="en-IN" altLang="en-US" sz="3000" dirty="0">
              <a:solidFill>
                <a:srgbClr val="1A3F4E"/>
              </a:solidFill>
              <a:latin typeface="BDO Grotesk Black"/>
              <a:ea typeface="Calibri"/>
              <a:cs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74DF7-1B76-957E-43F6-B1F0ED75A7B8}"/>
              </a:ext>
            </a:extLst>
          </p:cNvPr>
          <p:cNvSpPr>
            <a:spLocks noGrp="1"/>
          </p:cNvSpPr>
          <p:nvPr/>
        </p:nvSpPr>
        <p:spPr>
          <a:xfrm>
            <a:off x="10446756" y="6480175"/>
            <a:ext cx="3700168" cy="3778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latin typeface="BDO Grotesk DemiBold" charset="0"/>
              </a:defRPr>
            </a:lvl1pPr>
          </a:lstStyle>
          <a:p>
            <a:r>
              <a:rPr lang="en-IN" altLang="en-US" sz="1200" dirty="0">
                <a:solidFill>
                  <a:srgbClr val="1A3F4E"/>
                </a:solidFill>
                <a:latin typeface="BDO Grotesk Black" charset="0"/>
                <a:cs typeface="Times New Roman" panose="02020603050405020304" pitchFamily="18" charset="0"/>
              </a:rPr>
              <a:t>Version 1.0 </a:t>
            </a:r>
            <a:r>
              <a:rPr lang="en-IN" altLang="en-US" sz="1200" dirty="0" smtClean="0">
                <a:solidFill>
                  <a:srgbClr val="1A3F4E"/>
                </a:solidFill>
                <a:latin typeface="BDO Grotesk Black" charset="0"/>
                <a:cs typeface="Times New Roman" panose="02020603050405020304" pitchFamily="18" charset="0"/>
              </a:rPr>
              <a:t>04Nov2025</a:t>
            </a:r>
            <a:endParaRPr lang="en-IN" altLang="en-US" sz="1200" dirty="0">
              <a:solidFill>
                <a:srgbClr val="1A3F4E"/>
              </a:solidFill>
              <a:latin typeface="BDO Grotesk Black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5588" y="2868221"/>
            <a:ext cx="3471816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Introduction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2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4424837" y="869430"/>
            <a:ext cx="7537313" cy="18938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670" indent="0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69467"/>
                </a:solidFill>
                <a:latin typeface="BDO Grotesk"/>
              </a:rPr>
              <a:t>Client Background</a:t>
            </a:r>
            <a:endParaRPr lang="en-US" dirty="0">
              <a:latin typeface="BDO Grotesk"/>
            </a:endParaRPr>
          </a:p>
          <a:p>
            <a:pPr marL="407670" indent="0">
              <a:lnSpc>
                <a:spcPts val="21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164055"/>
              </a:solidFill>
            </a:endParaRPr>
          </a:p>
          <a:p>
            <a:pPr marL="407670" indent="0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164055"/>
                </a:solidFill>
                <a:latin typeface="BDO Grotesk"/>
              </a:rPr>
              <a:t>Ulysses Systems is a maritime software provider </a:t>
            </a:r>
            <a:r>
              <a:rPr lang="en-US" sz="1500" dirty="0" err="1">
                <a:solidFill>
                  <a:srgbClr val="164055"/>
                </a:solidFill>
                <a:latin typeface="BDO Grotesk"/>
              </a:rPr>
              <a:t>specialising</a:t>
            </a:r>
            <a:r>
              <a:rPr lang="en-US" sz="1500" dirty="0">
                <a:solidFill>
                  <a:srgbClr val="164055"/>
                </a:solidFill>
                <a:latin typeface="BDO Grotesk"/>
              </a:rPr>
              <a:t> in vessel management and maintenance systems. Their platform integrates structured data for vessel components, spares, and maintenance activities from OEM manuals.</a:t>
            </a:r>
          </a:p>
          <a:p>
            <a:pPr marL="407670" indent="0">
              <a:lnSpc>
                <a:spcPts val="2100"/>
              </a:lnSpc>
              <a:spcBef>
                <a:spcPts val="0"/>
              </a:spcBef>
              <a:buNone/>
            </a:pPr>
            <a:endParaRPr lang="en-US" sz="1600" b="1" dirty="0" smtClean="0">
              <a:solidFill>
                <a:srgbClr val="769467"/>
              </a:solidFill>
              <a:latin typeface="BDO Grotesk"/>
            </a:endParaRPr>
          </a:p>
          <a:p>
            <a:pPr marL="407670" indent="0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769467"/>
                </a:solidFill>
                <a:latin typeface="BDO Grotesk"/>
              </a:rPr>
              <a:t>Challenges</a:t>
            </a:r>
            <a:endParaRPr lang="en-US" sz="1600" b="1" dirty="0">
              <a:solidFill>
                <a:srgbClr val="769467"/>
              </a:solidFill>
              <a:latin typeface="BDO Grotesk"/>
            </a:endParaRPr>
          </a:p>
          <a:p>
            <a:pPr marL="407670" indent="0">
              <a:lnSpc>
                <a:spcPts val="2100"/>
              </a:lnSpc>
              <a:spcBef>
                <a:spcPts val="0"/>
              </a:spcBef>
              <a:buNone/>
            </a:pPr>
            <a:endParaRPr lang="en-US" sz="1500" dirty="0" smtClean="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693420" indent="-285750">
              <a:lnSpc>
                <a:spcPts val="1400"/>
              </a:lnSpc>
              <a:spcBef>
                <a:spcPts val="0"/>
              </a:spcBef>
            </a:pPr>
            <a:r>
              <a:rPr lang="en-US" sz="1500" dirty="0" smtClean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Manual </a:t>
            </a:r>
            <a:r>
              <a:rPr lang="en-US" sz="1500" dirty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and inconsistent data extraction from OEM manuals and activity </a:t>
            </a:r>
            <a:r>
              <a:rPr lang="en-US" sz="1500" dirty="0" smtClean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sheets.</a:t>
            </a:r>
          </a:p>
          <a:p>
            <a:pPr marL="693420" indent="-285750">
              <a:lnSpc>
                <a:spcPts val="1400"/>
              </a:lnSpc>
              <a:spcBef>
                <a:spcPts val="0"/>
              </a:spcBef>
            </a:pPr>
            <a:endParaRPr lang="en-US" sz="1500" dirty="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693420" indent="-285750">
              <a:lnSpc>
                <a:spcPts val="1400"/>
              </a:lnSpc>
              <a:spcBef>
                <a:spcPts val="0"/>
              </a:spcBef>
            </a:pPr>
            <a:r>
              <a:rPr lang="en-US" sz="1500" dirty="0" smtClean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Varying </a:t>
            </a:r>
            <a:r>
              <a:rPr lang="en-US" sz="1500" dirty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document structures across equipment types.– Duplicate records requiring manual </a:t>
            </a:r>
            <a:r>
              <a:rPr lang="en-US" sz="1500" dirty="0" smtClean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verification.</a:t>
            </a:r>
          </a:p>
          <a:p>
            <a:pPr marL="693420" indent="-285750">
              <a:lnSpc>
                <a:spcPts val="1400"/>
              </a:lnSpc>
              <a:spcBef>
                <a:spcPts val="0"/>
              </a:spcBef>
            </a:pPr>
            <a:endParaRPr lang="en-US" sz="1500" dirty="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693420" indent="-285750">
              <a:lnSpc>
                <a:spcPts val="1400"/>
              </a:lnSpc>
              <a:spcBef>
                <a:spcPts val="0"/>
              </a:spcBef>
            </a:pPr>
            <a:r>
              <a:rPr lang="en-US" sz="1500" dirty="0" smtClean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Limited </a:t>
            </a:r>
            <a:r>
              <a:rPr lang="en-US" sz="1500" dirty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traceability and high SME dependency.</a:t>
            </a:r>
            <a:endParaRPr lang="en-US" sz="1500" dirty="0" smtClean="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693420" indent="-285750">
              <a:lnSpc>
                <a:spcPts val="1400"/>
              </a:lnSpc>
              <a:spcBef>
                <a:spcPts val="0"/>
              </a:spcBef>
            </a:pPr>
            <a:endParaRPr lang="en-US" sz="1500" dirty="0" smtClean="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693420" indent="-285750">
              <a:lnSpc>
                <a:spcPts val="1400"/>
              </a:lnSpc>
              <a:spcBef>
                <a:spcPts val="0"/>
              </a:spcBef>
            </a:pPr>
            <a:r>
              <a:rPr lang="en-US" sz="1500" dirty="0" smtClean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Ulysses </a:t>
            </a:r>
            <a:r>
              <a:rPr lang="en-US" sz="1500" dirty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Systems has engaged Merit to design and implement an automated data mapping </a:t>
            </a:r>
            <a:r>
              <a:rPr lang="en-US" sz="1500" dirty="0" smtClean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solution to address the above challenges.</a:t>
            </a:r>
            <a:endParaRPr lang="en-IN" sz="1500" dirty="0">
              <a:solidFill>
                <a:srgbClr val="164055"/>
              </a:solidFill>
              <a:latin typeface="BDO Grotes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31664" y="5015591"/>
            <a:ext cx="7030486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769467"/>
                </a:solidFill>
                <a:latin typeface="BDO Grotesk"/>
              </a:rPr>
              <a:t>Engagement </a:t>
            </a:r>
            <a:r>
              <a:rPr lang="en-US" sz="1600" b="1" dirty="0">
                <a:solidFill>
                  <a:srgbClr val="769467"/>
                </a:solidFill>
                <a:latin typeface="BDO Grotesk"/>
              </a:rPr>
              <a:t>Objective</a:t>
            </a:r>
          </a:p>
          <a:p>
            <a:endParaRPr lang="en-US" sz="1200" b="1" dirty="0">
              <a:solidFill>
                <a:srgbClr val="164055"/>
              </a:solidFill>
              <a:latin typeface="BDO Grotesk"/>
            </a:endParaRPr>
          </a:p>
          <a:p>
            <a:r>
              <a:rPr lang="en-US" sz="1500" dirty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Merit </a:t>
            </a:r>
            <a:r>
              <a:rPr lang="en-US" sz="1500" dirty="0">
                <a:solidFill>
                  <a:srgbClr val="164055"/>
                </a:solidFill>
                <a:latin typeface="BDO Grotesk"/>
                <a:ea typeface="Calibri" panose="020F0502020204030204" charset="0"/>
                <a:cs typeface="Times New Roman" panose="02020603050405020304" pitchFamily="18" charset="0"/>
              </a:rPr>
              <a:t>has been engaged to design and implement an automated data-mapping solution addressing these challenges and accelerating vessel onboarding.</a:t>
            </a:r>
            <a:endParaRPr lang="en-GB" sz="1500" dirty="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4387" y="300989"/>
            <a:ext cx="9532372" cy="665480"/>
          </a:xfrm>
        </p:spPr>
        <p:txBody>
          <a:bodyPr>
            <a:noAutofit/>
          </a:bodyPr>
          <a:lstStyle/>
          <a:p>
            <a:r>
              <a:rPr lang="en-US" sz="2900" b="1" dirty="0" smtClean="0">
                <a:solidFill>
                  <a:srgbClr val="1A3F4E"/>
                </a:solidFill>
                <a:latin typeface="BDO Grotesk DemiBold"/>
                <a:sym typeface="+mn-ea"/>
              </a:rPr>
              <a:t>Ulysses Systems </a:t>
            </a:r>
            <a:r>
              <a:rPr lang="en-US" sz="2900" b="1" dirty="0">
                <a:solidFill>
                  <a:srgbClr val="1A3F4E"/>
                </a:solidFill>
                <a:latin typeface="BDO Grotesk DemiBold"/>
                <a:sym typeface="+mn-ea"/>
              </a:rPr>
              <a:t>Automation Objectives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BF52624-F25C-AD7E-869F-86CB4100FB93}"/>
              </a:ext>
            </a:extLst>
          </p:cNvPr>
          <p:cNvSpPr txBox="1">
            <a:spLocks/>
          </p:cNvSpPr>
          <p:nvPr/>
        </p:nvSpPr>
        <p:spPr>
          <a:xfrm>
            <a:off x="89281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561BA9-CDCF-4958-B8AB-66F3BF063E13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920ED8-CF87-4444-FA2D-030870CD9A8B}"/>
              </a:ext>
            </a:extLst>
          </p:cNvPr>
          <p:cNvGrpSpPr/>
          <p:nvPr/>
        </p:nvGrpSpPr>
        <p:grpSpPr>
          <a:xfrm>
            <a:off x="1758321" y="1819434"/>
            <a:ext cx="8140065" cy="4878070"/>
            <a:chOff x="6393" y="2045"/>
            <a:chExt cx="12819" cy="76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61ED95A-B45D-D6D0-431C-307DC63BF165}"/>
                </a:ext>
              </a:extLst>
            </p:cNvPr>
            <p:cNvGrpSpPr/>
            <p:nvPr/>
          </p:nvGrpSpPr>
          <p:grpSpPr>
            <a:xfrm>
              <a:off x="10298" y="3824"/>
              <a:ext cx="4973" cy="4737"/>
              <a:chOff x="10298" y="3846"/>
              <a:chExt cx="4973" cy="4737"/>
            </a:xfrm>
          </p:grpSpPr>
          <p:pic>
            <p:nvPicPr>
              <p:cNvPr id="60" name="Picture 59" descr="Asset 85@300x-9">
                <a:extLst>
                  <a:ext uri="{FF2B5EF4-FFF2-40B4-BE49-F238E27FC236}">
                    <a16:creationId xmlns:a16="http://schemas.microsoft.com/office/drawing/2014/main" id="{A9DDD496-C6F1-A286-7CB7-14D701C93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878" y="3846"/>
                <a:ext cx="1709" cy="1680"/>
              </a:xfrm>
              <a:prstGeom prst="rect">
                <a:avLst/>
              </a:prstGeom>
            </p:spPr>
          </p:pic>
          <p:pic>
            <p:nvPicPr>
              <p:cNvPr id="61" name="Picture 60" descr="Asset 86@300x-9">
                <a:extLst>
                  <a:ext uri="{FF2B5EF4-FFF2-40B4-BE49-F238E27FC236}">
                    <a16:creationId xmlns:a16="http://schemas.microsoft.com/office/drawing/2014/main" id="{6F01D292-6645-8B42-48AD-BA5490BFB7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87" y="4922"/>
                <a:ext cx="1685" cy="1747"/>
              </a:xfrm>
              <a:prstGeom prst="rect">
                <a:avLst/>
              </a:prstGeom>
            </p:spPr>
          </p:pic>
          <p:pic>
            <p:nvPicPr>
              <p:cNvPr id="62" name="Picture 61" descr="Asset 87@300x-9">
                <a:extLst>
                  <a:ext uri="{FF2B5EF4-FFF2-40B4-BE49-F238E27FC236}">
                    <a16:creationId xmlns:a16="http://schemas.microsoft.com/office/drawing/2014/main" id="{7F7F7E9C-3609-AE3A-D037-294E4CE3D0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18" y="6889"/>
                <a:ext cx="1762" cy="1694"/>
              </a:xfrm>
              <a:prstGeom prst="rect">
                <a:avLst/>
              </a:prstGeom>
            </p:spPr>
          </p:pic>
          <p:pic>
            <p:nvPicPr>
              <p:cNvPr id="63" name="Picture 62" descr="Asset 88@300x-9">
                <a:extLst>
                  <a:ext uri="{FF2B5EF4-FFF2-40B4-BE49-F238E27FC236}">
                    <a16:creationId xmlns:a16="http://schemas.microsoft.com/office/drawing/2014/main" id="{AFB05D57-8EF9-B184-1C1F-8F84A79C7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90" y="6826"/>
                <a:ext cx="1680" cy="1733"/>
              </a:xfrm>
              <a:prstGeom prst="rect">
                <a:avLst/>
              </a:prstGeom>
            </p:spPr>
          </p:pic>
          <p:pic>
            <p:nvPicPr>
              <p:cNvPr id="64" name="Picture 63" descr="Asset 89@300x-9">
                <a:extLst>
                  <a:ext uri="{FF2B5EF4-FFF2-40B4-BE49-F238E27FC236}">
                    <a16:creationId xmlns:a16="http://schemas.microsoft.com/office/drawing/2014/main" id="{8C0D405E-1B2B-5389-168B-C7978C749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98" y="4944"/>
                <a:ext cx="1714" cy="1704"/>
              </a:xfrm>
              <a:prstGeom prst="rect">
                <a:avLst/>
              </a:prstGeom>
            </p:spPr>
          </p:pic>
        </p:grpSp>
        <p:sp>
          <p:nvSpPr>
            <p:cNvPr id="7" name="Text Box 20">
              <a:extLst>
                <a:ext uri="{FF2B5EF4-FFF2-40B4-BE49-F238E27FC236}">
                  <a16:creationId xmlns:a16="http://schemas.microsoft.com/office/drawing/2014/main" id="{4833FEE5-7759-9973-3D76-29D5BC1A6A0D}"/>
                </a:ext>
              </a:extLst>
            </p:cNvPr>
            <p:cNvSpPr txBox="1"/>
            <p:nvPr/>
          </p:nvSpPr>
          <p:spPr>
            <a:xfrm>
              <a:off x="10424" y="2045"/>
              <a:ext cx="4848" cy="182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1400" b="1" dirty="0">
                  <a:solidFill>
                    <a:srgbClr val="4B694F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Data Extraction Automation </a:t>
              </a:r>
            </a:p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endParaRPr lang="en-IN" sz="1400" b="1" dirty="0">
                <a:solidFill>
                  <a:srgbClr val="4B694F"/>
                </a:solidFill>
                <a:effectLst/>
                <a:latin typeface="BDO Grotesk" charset="0"/>
                <a:ea typeface="Calibri" panose="020F0502020204030204" charset="0"/>
                <a:cs typeface="Times New Roman" panose="02020603050405020304" pitchFamily="18" charset="0"/>
                <a:sym typeface="+mn-ea"/>
              </a:endParaRPr>
            </a:p>
            <a:p>
              <a:pPr lvl="0"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dirty="0">
                  <a:solidFill>
                    <a:srgbClr val="1A3F4E"/>
                  </a:solidFill>
                  <a:latin typeface="BDO Grotesk" charset="0"/>
                </a:rPr>
                <a:t>Automate the extraction, parsing, and structuring of data from OEM manuals to align with Ulysses’ target schema.</a:t>
              </a:r>
              <a:endParaRPr lang="en-GB" sz="1200" dirty="0">
                <a:solidFill>
                  <a:srgbClr val="1A3F4E"/>
                </a:solidFill>
                <a:latin typeface="BDO Grotesk" charset="0"/>
              </a:endParaRP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54F6A3C7-32FC-758E-9280-89A6EF377A1B}"/>
                </a:ext>
              </a:extLst>
            </p:cNvPr>
            <p:cNvSpPr txBox="1"/>
            <p:nvPr/>
          </p:nvSpPr>
          <p:spPr>
            <a:xfrm>
              <a:off x="15447" y="4149"/>
              <a:ext cx="3765" cy="2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1400" b="1" dirty="0">
                  <a:solidFill>
                    <a:srgbClr val="5D8362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Improved Data </a:t>
              </a:r>
              <a:r>
                <a:rPr lang="en-IN" sz="1400" b="1" dirty="0" smtClean="0">
                  <a:solidFill>
                    <a:srgbClr val="5D8362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Accuracy and Consistency </a:t>
              </a:r>
              <a:endParaRPr lang="en-IN" sz="1400" b="1" dirty="0">
                <a:solidFill>
                  <a:srgbClr val="5D8362"/>
                </a:solidFill>
                <a:effectLst/>
                <a:latin typeface="BDO Grotesk" charset="0"/>
                <a:ea typeface="Calibri" panose="020F0502020204030204" charset="0"/>
                <a:cs typeface="Times New Roman" panose="02020603050405020304" pitchFamily="18" charset="0"/>
                <a:sym typeface="+mn-ea"/>
              </a:endParaRPr>
            </a:p>
            <a:p>
              <a:pPr marR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endParaRPr lang="en-IN" sz="1400" b="1" dirty="0">
                <a:solidFill>
                  <a:srgbClr val="5D8362"/>
                </a:solidFill>
                <a:effectLst/>
                <a:latin typeface="BDO Grotesk" charset="0"/>
                <a:ea typeface="Calibri" panose="020F0502020204030204" charset="0"/>
                <a:cs typeface="Times New Roman" panose="02020603050405020304" pitchFamily="18" charset="0"/>
                <a:sym typeface="+mn-ea"/>
              </a:endParaRPr>
            </a:p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dirty="0">
                  <a:solidFill>
                    <a:srgbClr val="1A3F4E"/>
                  </a:solidFill>
                  <a:latin typeface="BDO Grotesk" charset="0"/>
                </a:rPr>
                <a:t>Enhance data reliability and reduce human errors through </a:t>
              </a:r>
              <a:r>
                <a:rPr lang="en-US" sz="1200" dirty="0" smtClean="0">
                  <a:solidFill>
                    <a:srgbClr val="1A3F4E"/>
                  </a:solidFill>
                  <a:latin typeface="BDO Grotesk" charset="0"/>
                </a:rPr>
                <a:t>semi automated </a:t>
              </a:r>
              <a:r>
                <a:rPr lang="en-US" sz="1200" dirty="0">
                  <a:solidFill>
                    <a:srgbClr val="1A3F4E"/>
                  </a:solidFill>
                  <a:latin typeface="BDO Grotesk" charset="0"/>
                </a:rPr>
                <a:t>validation and </a:t>
              </a:r>
              <a:r>
                <a:rPr lang="en-US" sz="1200" dirty="0" err="1">
                  <a:solidFill>
                    <a:srgbClr val="1A3F4E"/>
                  </a:solidFill>
                  <a:latin typeface="BDO Grotesk" charset="0"/>
                </a:rPr>
                <a:t>standardisation</a:t>
              </a:r>
              <a:r>
                <a:rPr lang="en-US" sz="1200" dirty="0">
                  <a:solidFill>
                    <a:srgbClr val="1A3F4E"/>
                  </a:solidFill>
                  <a:latin typeface="BDO Grotesk" charset="0"/>
                </a:rPr>
                <a:t> steps.</a:t>
              </a:r>
              <a:endParaRPr lang="en-GB" sz="1200" dirty="0">
                <a:solidFill>
                  <a:srgbClr val="1A3F4E"/>
                </a:solidFill>
                <a:latin typeface="BDO Grotesk" charset="0"/>
              </a:endParaRPr>
            </a:p>
          </p:txBody>
        </p:sp>
        <p:sp>
          <p:nvSpPr>
            <p:cNvPr id="10" name="Text Box 22">
              <a:extLst>
                <a:ext uri="{FF2B5EF4-FFF2-40B4-BE49-F238E27FC236}">
                  <a16:creationId xmlns:a16="http://schemas.microsoft.com/office/drawing/2014/main" id="{73261E48-DC7E-18D1-CCB2-9B60C09304FD}"/>
                </a:ext>
              </a:extLst>
            </p:cNvPr>
            <p:cNvSpPr txBox="1"/>
            <p:nvPr/>
          </p:nvSpPr>
          <p:spPr>
            <a:xfrm>
              <a:off x="15028" y="7231"/>
              <a:ext cx="4184" cy="216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1400" b="1" dirty="0">
                  <a:solidFill>
                    <a:srgbClr val="5D8262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Reduce Manual </a:t>
              </a:r>
              <a:r>
                <a:rPr lang="en-IN" sz="1400" b="1" dirty="0" smtClean="0">
                  <a:solidFill>
                    <a:srgbClr val="5D8262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Effort </a:t>
              </a:r>
              <a:endParaRPr lang="en-IN" sz="1400" b="1" dirty="0">
                <a:solidFill>
                  <a:srgbClr val="5D8262"/>
                </a:solidFill>
                <a:effectLst/>
                <a:latin typeface="BDO Grotesk" charset="0"/>
                <a:ea typeface="Calibri" panose="020F0502020204030204" charset="0"/>
                <a:cs typeface="Times New Roman" panose="02020603050405020304" pitchFamily="18" charset="0"/>
                <a:sym typeface="+mn-ea"/>
              </a:endParaRPr>
            </a:p>
            <a:p>
              <a:pPr marR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endParaRPr lang="en-IN" sz="1400" b="1" dirty="0">
                <a:solidFill>
                  <a:srgbClr val="164C78"/>
                </a:solidFill>
                <a:effectLst/>
                <a:latin typeface="BDO Grotesk" charset="0"/>
                <a:ea typeface="Calibri" panose="020F0502020204030204" charset="0"/>
                <a:cs typeface="Times New Roman" panose="02020603050405020304" pitchFamily="18" charset="0"/>
                <a:sym typeface="+mn-ea"/>
              </a:endParaRPr>
            </a:p>
            <a:p>
              <a:pPr marR="0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</a:pPr>
              <a:r>
                <a:rPr lang="en-US" sz="1200" dirty="0" err="1">
                  <a:solidFill>
                    <a:srgbClr val="1A3F4E"/>
                  </a:solidFill>
                  <a:latin typeface="BDO Grotesk" charset="0"/>
                </a:rPr>
                <a:t>Minimise</a:t>
              </a:r>
              <a:r>
                <a:rPr lang="en-US" sz="1200" dirty="0">
                  <a:solidFill>
                    <a:srgbClr val="1A3F4E"/>
                  </a:solidFill>
                  <a:latin typeface="BDO Grotesk" charset="0"/>
                </a:rPr>
                <a:t> or eliminate manual data entry and mapping wherever possible, improving overall turnaround time.</a:t>
              </a:r>
              <a:endParaRPr lang="en-IN" sz="1200" dirty="0">
                <a:solidFill>
                  <a:srgbClr val="1A3F4E"/>
                </a:solidFill>
                <a:latin typeface="BDO Grotesk" charset="0"/>
                <a:sym typeface="+mn-ea"/>
              </a:endParaRPr>
            </a:p>
          </p:txBody>
        </p:sp>
        <p:sp>
          <p:nvSpPr>
            <p:cNvPr id="11" name="Text Box 23">
              <a:extLst>
                <a:ext uri="{FF2B5EF4-FFF2-40B4-BE49-F238E27FC236}">
                  <a16:creationId xmlns:a16="http://schemas.microsoft.com/office/drawing/2014/main" id="{74D4E292-0735-7BC6-2942-3C8E78032586}"/>
                </a:ext>
              </a:extLst>
            </p:cNvPr>
            <p:cNvSpPr txBox="1"/>
            <p:nvPr/>
          </p:nvSpPr>
          <p:spPr>
            <a:xfrm>
              <a:off x="7014" y="7231"/>
              <a:ext cx="3760" cy="24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1400" b="1" dirty="0">
                  <a:solidFill>
                    <a:srgbClr val="7AA283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Maximise Efficiencies</a:t>
              </a:r>
            </a:p>
            <a:p>
              <a:pPr marR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endParaRPr lang="en-IN" sz="1400" b="1" dirty="0">
                <a:solidFill>
                  <a:srgbClr val="7AA283"/>
                </a:solidFill>
                <a:effectLst/>
                <a:latin typeface="BDO Grotesk" charset="0"/>
                <a:ea typeface="Calibri" panose="020F0502020204030204" charset="0"/>
                <a:cs typeface="Times New Roman" panose="02020603050405020304" pitchFamily="18" charset="0"/>
                <a:sym typeface="+mn-ea"/>
              </a:endParaRPr>
            </a:p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dirty="0">
                  <a:solidFill>
                    <a:srgbClr val="1A3F4E"/>
                  </a:solidFill>
                  <a:latin typeface="BDO Grotesk" charset="0"/>
                </a:rPr>
                <a:t>Achieve greater operational efficiency through automated workflows and reduced dependency on subject-matter experts.</a:t>
              </a:r>
            </a:p>
          </p:txBody>
        </p:sp>
        <p:sp>
          <p:nvSpPr>
            <p:cNvPr id="18" name="Text Box 24">
              <a:extLst>
                <a:ext uri="{FF2B5EF4-FFF2-40B4-BE49-F238E27FC236}">
                  <a16:creationId xmlns:a16="http://schemas.microsoft.com/office/drawing/2014/main" id="{FDEB0F7F-FE87-5D5B-2FC1-F5CBCABD861A}"/>
                </a:ext>
              </a:extLst>
            </p:cNvPr>
            <p:cNvSpPr txBox="1"/>
            <p:nvPr/>
          </p:nvSpPr>
          <p:spPr>
            <a:xfrm>
              <a:off x="6393" y="4060"/>
              <a:ext cx="3796" cy="216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1400" b="1" dirty="0" smtClean="0">
                  <a:solidFill>
                    <a:srgbClr val="85A98D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Accelerated </a:t>
              </a:r>
              <a:r>
                <a:rPr lang="en-IN" sz="1400" b="1" dirty="0">
                  <a:solidFill>
                    <a:srgbClr val="85A98D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Data Delivery  </a:t>
              </a:r>
            </a:p>
            <a:p>
              <a:pPr marR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endParaRPr lang="en-IN" sz="1400" b="1" dirty="0">
                <a:solidFill>
                  <a:srgbClr val="1E68A6"/>
                </a:solidFill>
                <a:effectLst/>
                <a:latin typeface="BDO Grotesk" charset="0"/>
                <a:ea typeface="Calibri" panose="020F0502020204030204" charset="0"/>
                <a:cs typeface="Times New Roman" panose="02020603050405020304" pitchFamily="18" charset="0"/>
                <a:sym typeface="+mn-ea"/>
              </a:endParaRPr>
            </a:p>
            <a:p>
              <a:pPr lvl="0"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dirty="0">
                  <a:solidFill>
                    <a:srgbClr val="1A3F4E"/>
                  </a:solidFill>
                  <a:latin typeface="BDO Grotesk" charset="0"/>
                </a:rPr>
                <a:t>Enable quicker turnaround of structured outputs for import into the Ulysses application, ensuring timely system updates.</a:t>
              </a:r>
              <a:endParaRPr lang="en-GB" sz="1200" dirty="0">
                <a:solidFill>
                  <a:srgbClr val="1A3F4E"/>
                </a:solidFill>
                <a:latin typeface="BDO Grotesk" charset="0"/>
              </a:endParaRP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0B6E0C49-13DB-C53D-D6BC-8923A2D194C9}"/>
                </a:ext>
              </a:extLst>
            </p:cNvPr>
            <p:cNvSpPr txBox="1"/>
            <p:nvPr/>
          </p:nvSpPr>
          <p:spPr>
            <a:xfrm>
              <a:off x="12144" y="4495"/>
              <a:ext cx="1169" cy="8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2400" b="1" dirty="0">
                  <a:solidFill>
                    <a:schemeClr val="bg1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01</a:t>
              </a: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534CB988-73BB-A3F8-901E-219D0379000B}"/>
                </a:ext>
              </a:extLst>
            </p:cNvPr>
            <p:cNvSpPr txBox="1"/>
            <p:nvPr/>
          </p:nvSpPr>
          <p:spPr>
            <a:xfrm>
              <a:off x="13505" y="5428"/>
              <a:ext cx="1169" cy="8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2400" b="1" dirty="0">
                  <a:solidFill>
                    <a:schemeClr val="bg1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02</a:t>
              </a: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D89FA7DC-5E3C-1722-1CD9-824BB7C3F6B4}"/>
                </a:ext>
              </a:extLst>
            </p:cNvPr>
            <p:cNvSpPr txBox="1"/>
            <p:nvPr/>
          </p:nvSpPr>
          <p:spPr>
            <a:xfrm>
              <a:off x="13005" y="7008"/>
              <a:ext cx="1169" cy="8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2400" b="1" dirty="0">
                  <a:solidFill>
                    <a:schemeClr val="bg1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03</a:t>
              </a:r>
            </a:p>
          </p:txBody>
        </p:sp>
        <p:sp>
          <p:nvSpPr>
            <p:cNvPr id="58" name="Text Box 13">
              <a:extLst>
                <a:ext uri="{FF2B5EF4-FFF2-40B4-BE49-F238E27FC236}">
                  <a16:creationId xmlns:a16="http://schemas.microsoft.com/office/drawing/2014/main" id="{02871C06-BB3A-E4D9-C2F8-53867D5A85CA}"/>
                </a:ext>
              </a:extLst>
            </p:cNvPr>
            <p:cNvSpPr txBox="1"/>
            <p:nvPr/>
          </p:nvSpPr>
          <p:spPr>
            <a:xfrm>
              <a:off x="11300" y="6948"/>
              <a:ext cx="1169" cy="8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2400" b="1" dirty="0">
                  <a:solidFill>
                    <a:schemeClr val="bg1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04</a:t>
              </a:r>
            </a:p>
          </p:txBody>
        </p:sp>
        <p:sp>
          <p:nvSpPr>
            <p:cNvPr id="59" name="Text Box 14">
              <a:extLst>
                <a:ext uri="{FF2B5EF4-FFF2-40B4-BE49-F238E27FC236}">
                  <a16:creationId xmlns:a16="http://schemas.microsoft.com/office/drawing/2014/main" id="{C1333CF5-F414-097B-067A-BED813D845A9}"/>
                </a:ext>
              </a:extLst>
            </p:cNvPr>
            <p:cNvSpPr txBox="1"/>
            <p:nvPr/>
          </p:nvSpPr>
          <p:spPr>
            <a:xfrm>
              <a:off x="10873" y="5428"/>
              <a:ext cx="1169" cy="8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</a:pPr>
              <a:r>
                <a:rPr lang="en-IN" sz="2400" b="1" dirty="0">
                  <a:solidFill>
                    <a:schemeClr val="bg1"/>
                  </a:solidFill>
                  <a:effectLst/>
                  <a:latin typeface="BDO Grotesk" charset="0"/>
                  <a:ea typeface="Calibri" panose="020F0502020204030204" charset="0"/>
                  <a:cs typeface="Times New Roman" panose="02020603050405020304" pitchFamily="18" charset="0"/>
                  <a:sym typeface="+mn-ea"/>
                </a:rPr>
                <a:t>05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4C4328D-6E78-7528-E04C-C41D3B36378E}"/>
              </a:ext>
            </a:extLst>
          </p:cNvPr>
          <p:cNvSpPr txBox="1"/>
          <p:nvPr/>
        </p:nvSpPr>
        <p:spPr>
          <a:xfrm>
            <a:off x="305793" y="1047235"/>
            <a:ext cx="10931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69467"/>
                </a:solidFill>
                <a:latin typeface="BDO Grotesk"/>
              </a:rPr>
              <a:t>Automate and streamline data extraction and mapping from vessel manuals for faster, more accurate onboarding with minimal manual effort.</a:t>
            </a:r>
            <a:endParaRPr lang="en-US" sz="1600" dirty="0">
              <a:solidFill>
                <a:srgbClr val="7694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1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9" descr="Asset 13@300x-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965" y="4292292"/>
            <a:ext cx="786130" cy="777240"/>
          </a:xfrm>
          <a:prstGeom prst="rect">
            <a:avLst/>
          </a:prstGeom>
        </p:spPr>
      </p:pic>
      <p:pic>
        <p:nvPicPr>
          <p:cNvPr id="12" name="Content Placeholder 9" descr="Asset 13@300x-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975" y="1454586"/>
            <a:ext cx="786130" cy="777240"/>
          </a:xfrm>
          <a:prstGeom prst="rect">
            <a:avLst/>
          </a:prstGeom>
        </p:spPr>
      </p:pic>
      <p:pic>
        <p:nvPicPr>
          <p:cNvPr id="11" name="Content Placeholder 9" descr="Asset 13@300x-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00" y="5056786"/>
            <a:ext cx="786130" cy="777240"/>
          </a:xfrm>
          <a:prstGeom prst="rect">
            <a:avLst/>
          </a:prstGeom>
        </p:spPr>
      </p:pic>
      <p:pic>
        <p:nvPicPr>
          <p:cNvPr id="10" name="Content Placeholder 9" descr="Asset 13@300x-8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662110" y="2956366"/>
            <a:ext cx="786130" cy="777240"/>
          </a:xfrm>
          <a:prstGeom prst="rect">
            <a:avLst/>
          </a:prstGeom>
        </p:spPr>
      </p:pic>
      <p:pic>
        <p:nvPicPr>
          <p:cNvPr id="2" name="Picture 1" descr="Asset 13@300x-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35" y="1274706"/>
            <a:ext cx="786130" cy="77724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667065" y="1454925"/>
            <a:ext cx="4464684" cy="1200329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Analyse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 sample PDFs and classify them into Easy, Medium, and Hard categories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Evaluate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suitable OCR models and apply image enhancement to improve accuracy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Use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LLMs and rules for post-processing and duplicate detection to ensure high-quality, non-redundant data.</a:t>
            </a:r>
            <a:endParaRPr lang="en-IN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623831" y="3029876"/>
            <a:ext cx="4464683" cy="156966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Deduplication Module: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Develop a Python module using hash functions and key identifiers (e.g., Make, Model No.) to identify duplicate or similar manufacturer data in the master database.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Develop a Python-based Human-in-the-Loop module for post–table extraction validation, enabling human reviewers to verify data accuracy directly from Excel outputs without a UI during the </a:t>
            </a:r>
            <a:r>
              <a:rPr lang="en-US" sz="1200" dirty="0" err="1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PoC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.</a:t>
            </a:r>
            <a:endParaRPr lang="en-US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614658" y="4978851"/>
            <a:ext cx="4464683" cy="156966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Easy Complexity: 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Perform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OCR using open-source libraries, validate and restructure extracted tables with LLMs, and apply rule-based and LLM-driven transformations as per client-defined mapping instructions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Medium Complexity: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Detect and extract tables using LLM-based models, validate and refine their structure for accuracy, and apply rule-based and LLM transformations to match client-specified data formats.</a:t>
            </a:r>
            <a:endParaRPr lang="en-IN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357520" y="4292292"/>
            <a:ext cx="4253820" cy="1754326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Integrate all developed modules into a unified, end-to-end workflow covering OCR, transformation, and mapping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Implement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Human-in-the-Loop quality checks post-integration to validate and ensure data accuracy, completeness, and consistency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Deliver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final validated outputs in structured Excel format and publish to the designated SFTP location.</a:t>
            </a:r>
            <a:endParaRPr lang="en-US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7321105" y="773754"/>
            <a:ext cx="4253820" cy="3231654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 smtClean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 smtClean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Table Detection and </a:t>
            </a:r>
            <a:r>
              <a:rPr lang="en-US" sz="1200" b="1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Extraction : 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Detect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tables in complex PDF layouts using open-source tools and perform OCR using LLM-enhanced models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Content Extraction 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: Extract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text and tabular data, including spare parts images, and store them in designated folders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Validation </a:t>
            </a:r>
            <a:r>
              <a:rPr lang="en-US" sz="1200" b="1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and </a:t>
            </a:r>
            <a:r>
              <a:rPr lang="en-US" sz="1200" b="1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Transformation: </a:t>
            </a:r>
            <a:r>
              <a:rPr lang="en-US" sz="1200" dirty="0" smtClean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Use </a:t>
            </a:r>
            <a:r>
              <a:rPr lang="en-US" sz="1200" dirty="0">
                <a:solidFill>
                  <a:srgbClr val="1A3F4E"/>
                </a:solidFill>
                <a:latin typeface="BDO Grotesk"/>
                <a:ea typeface="Calibri"/>
                <a:cs typeface="Times New Roman"/>
              </a:rPr>
              <a:t>LLMs to restructure extracted tables and perform rule-based transformations as per client mapping standards.</a:t>
            </a:r>
            <a:endParaRPr lang="en-US" sz="1200" dirty="0" smtClean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rgbClr val="1A3F4E"/>
              </a:solidFill>
              <a:latin typeface="BDO Grotesk"/>
              <a:ea typeface="Calibri"/>
              <a:cs typeface="Times New Roman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0935" y="1364241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en-IN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0875" y="1544121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8010" y="3045901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0875" y="3300731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000" y="5146321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5865" y="4419302"/>
            <a:ext cx="354330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 dirty="0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5</a:t>
            </a:r>
            <a:endParaRPr lang="en-IN" altLang="en-US" sz="2800" b="1" dirty="0">
              <a:solidFill>
                <a:schemeClr val="bg1"/>
              </a:solidFill>
              <a:latin typeface="BDO Grotesk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4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7148" y="184108"/>
            <a:ext cx="10229201" cy="66548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164055"/>
                </a:solidFill>
                <a:sym typeface="+mn-ea"/>
              </a:rPr>
              <a:t>Solution Design and Implementation Approach</a:t>
            </a:r>
            <a:endParaRPr lang="en-US" sz="2800" b="1" dirty="0">
              <a:solidFill>
                <a:srgbClr val="164055"/>
              </a:solidFill>
              <a:sym typeface="+mn-ea"/>
            </a:endParaRPr>
          </a:p>
        </p:txBody>
      </p:sp>
      <p:sp>
        <p:nvSpPr>
          <p:cNvPr id="24" name="TextBox 33"/>
          <p:cNvSpPr txBox="1"/>
          <p:nvPr/>
        </p:nvSpPr>
        <p:spPr>
          <a:xfrm>
            <a:off x="1186670" y="1154415"/>
            <a:ext cx="2974795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 dirty="0" smtClean="0">
                <a:solidFill>
                  <a:srgbClr val="769467"/>
                </a:solidFill>
                <a:latin typeface="BDO Grotesk"/>
                <a:sym typeface="+mn-ea"/>
              </a:rPr>
              <a:t>Analysis &amp; Planning</a:t>
            </a:r>
            <a:endParaRPr lang="en-US" sz="1400" b="1" dirty="0">
              <a:solidFill>
                <a:srgbClr val="769467"/>
              </a:solidFill>
              <a:latin typeface="BDO Grotesk"/>
            </a:endParaRPr>
          </a:p>
        </p:txBody>
      </p:sp>
      <p:sp>
        <p:nvSpPr>
          <p:cNvPr id="28" name="TextBox 33"/>
          <p:cNvSpPr txBox="1"/>
          <p:nvPr/>
        </p:nvSpPr>
        <p:spPr>
          <a:xfrm>
            <a:off x="7537005" y="1174388"/>
            <a:ext cx="3017264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r>
              <a:rPr lang="en-IN" sz="1400" b="1" dirty="0" smtClean="0">
                <a:solidFill>
                  <a:srgbClr val="769467"/>
                </a:solidFill>
                <a:latin typeface="BDO Grotesk"/>
                <a:sym typeface="+mn-ea"/>
              </a:rPr>
              <a:t>Activity Mapping (Hard Complexity)</a:t>
            </a:r>
            <a:endParaRPr lang="en-US" sz="1400" b="1" dirty="0">
              <a:solidFill>
                <a:srgbClr val="769467"/>
              </a:solidFill>
              <a:latin typeface="BDO Grotesk"/>
            </a:endParaRPr>
          </a:p>
        </p:txBody>
      </p:sp>
      <p:sp>
        <p:nvSpPr>
          <p:cNvPr id="29" name="TextBox 33"/>
          <p:cNvSpPr txBox="1"/>
          <p:nvPr/>
        </p:nvSpPr>
        <p:spPr>
          <a:xfrm>
            <a:off x="1801975" y="2723087"/>
            <a:ext cx="3197148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r>
              <a:rPr lang="en-IN" sz="1400" b="1" dirty="0" smtClean="0">
                <a:solidFill>
                  <a:srgbClr val="769467"/>
                </a:solidFill>
                <a:latin typeface="BDO Grotesk"/>
                <a:sym typeface="+mn-ea"/>
              </a:rPr>
              <a:t>Development</a:t>
            </a:r>
            <a:endParaRPr lang="en-US" sz="1400" b="1" dirty="0">
              <a:solidFill>
                <a:srgbClr val="769467"/>
              </a:solidFill>
              <a:latin typeface="BDO Grotesk"/>
            </a:endParaRPr>
          </a:p>
        </p:txBody>
      </p:sp>
      <p:sp>
        <p:nvSpPr>
          <p:cNvPr id="31" name="TextBox 33"/>
          <p:cNvSpPr txBox="1"/>
          <p:nvPr/>
        </p:nvSpPr>
        <p:spPr>
          <a:xfrm>
            <a:off x="1300345" y="4666381"/>
            <a:ext cx="2747443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 dirty="0" smtClean="0">
                <a:solidFill>
                  <a:srgbClr val="769467"/>
                </a:solidFill>
                <a:latin typeface="BDO Grotesk"/>
                <a:sym typeface="+mn-ea"/>
              </a:rPr>
              <a:t>Spare Parts Mission</a:t>
            </a:r>
            <a:endParaRPr lang="en-US" sz="1400" b="1" dirty="0">
              <a:solidFill>
                <a:srgbClr val="769467"/>
              </a:solidFill>
              <a:latin typeface="BDO Grotesk"/>
            </a:endParaRPr>
          </a:p>
        </p:txBody>
      </p:sp>
      <p:sp>
        <p:nvSpPr>
          <p:cNvPr id="32" name="TextBox 33"/>
          <p:cNvSpPr txBox="1"/>
          <p:nvPr/>
        </p:nvSpPr>
        <p:spPr>
          <a:xfrm>
            <a:off x="7589315" y="3958828"/>
            <a:ext cx="2049759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 dirty="0">
                <a:solidFill>
                  <a:srgbClr val="769467"/>
                </a:solidFill>
                <a:latin typeface="BDO Grotesk"/>
                <a:sym typeface="+mn-ea"/>
              </a:rPr>
              <a:t>Integration &amp; Publishing</a:t>
            </a:r>
            <a:endParaRPr lang="en-US" sz="1400" b="1" dirty="0">
              <a:solidFill>
                <a:srgbClr val="769467"/>
              </a:solidFill>
              <a:latin typeface="BDO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6183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5</a:t>
            </a:fld>
            <a:endParaRPr lang="en-US"/>
          </a:p>
        </p:txBody>
      </p:sp>
      <p:sp>
        <p:nvSpPr>
          <p:cNvPr id="29" name="Title 3"/>
          <p:cNvSpPr>
            <a:spLocks noGrp="1"/>
          </p:cNvSpPr>
          <p:nvPr/>
        </p:nvSpPr>
        <p:spPr>
          <a:xfrm>
            <a:off x="310969" y="75352"/>
            <a:ext cx="9543523" cy="665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DO Grotesk DemiBold" charset="0"/>
                <a:ea typeface="+mj-ea"/>
                <a:cs typeface="+mj-cs"/>
              </a:defRPr>
            </a:lvl1pPr>
          </a:lstStyle>
          <a:p>
            <a:r>
              <a:rPr lang="en-US" sz="2900" b="1" dirty="0">
                <a:solidFill>
                  <a:srgbClr val="FF0000"/>
                </a:solidFill>
                <a:sym typeface="+mn-ea"/>
              </a:rPr>
              <a:t>Technical Architecture </a:t>
            </a:r>
            <a:r>
              <a:rPr lang="en-US" sz="2900" b="1" dirty="0" smtClean="0">
                <a:solidFill>
                  <a:srgbClr val="FF0000"/>
                </a:solidFill>
                <a:sym typeface="+mn-ea"/>
              </a:rPr>
              <a:t>Diagram (requested for a clearer diagram)</a:t>
            </a:r>
            <a:endParaRPr lang="en-US" sz="2900" b="1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368FED1D-00CE-4C25-DBCA-A3993E29D8DD}"/>
              </a:ext>
              <a:ext uri="{147F2762-F138-4A5C-976F-8EAC2B608ADB}">
                <a16:predDERef xmlns:a16="http://schemas.microsoft.com/office/drawing/2014/main" pred="{8D0C0585-29CC-94C6-553F-EF79126D1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xdr="http://schemas.openxmlformats.org/drawingml/2006/spreadsheetDrawing" xmlns:asvg="http://schemas.microsoft.com/office/drawing/2016/SVG/main" xmlns:lc="http://schemas.openxmlformats.org/drawingml/2006/lockedCanvas" r:embed="rId3"/>
              </a:ext>
            </a:extLst>
          </a:blip>
          <a:stretch>
            <a:fillRect/>
          </a:stretch>
        </p:blipFill>
        <p:spPr>
          <a:xfrm>
            <a:off x="310969" y="896112"/>
            <a:ext cx="11356848" cy="561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384700" y="983801"/>
            <a:ext cx="11286600" cy="2983661"/>
          </a:xfrm>
        </p:spPr>
        <p:txBody>
          <a:bodyPr>
            <a:no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52F47"/>
              </a:solidFill>
            </a:endParaRP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52F47"/>
                </a:solidFill>
              </a:rPr>
              <a:t>The </a:t>
            </a:r>
            <a:r>
              <a:rPr lang="en-US" sz="1600" dirty="0" smtClean="0">
                <a:solidFill>
                  <a:srgbClr val="052F47"/>
                </a:solidFill>
              </a:rPr>
              <a:t>primary objective of the POC is to demonstrate Merit’s capabilities deduplication of existing documents and automating </a:t>
            </a:r>
            <a:r>
              <a:rPr lang="en-US" sz="1600" dirty="0">
                <a:solidFill>
                  <a:srgbClr val="052F47"/>
                </a:solidFill>
              </a:rPr>
              <a:t>data </a:t>
            </a:r>
            <a:r>
              <a:rPr lang="en-US" sz="1600" dirty="0" smtClean="0">
                <a:solidFill>
                  <a:srgbClr val="052F47"/>
                </a:solidFill>
              </a:rPr>
              <a:t>extraction from PDFs, </a:t>
            </a:r>
            <a:r>
              <a:rPr lang="en-US" sz="1600" dirty="0">
                <a:solidFill>
                  <a:srgbClr val="052F47"/>
                </a:solidFill>
              </a:rPr>
              <a:t>mapping, and deduplication from vessel </a:t>
            </a:r>
            <a:r>
              <a:rPr lang="en-US" sz="1600" dirty="0" smtClean="0">
                <a:solidFill>
                  <a:srgbClr val="052F47"/>
                </a:solidFill>
              </a:rPr>
              <a:t>manuals. </a:t>
            </a:r>
            <a:r>
              <a:rPr lang="en-US" sz="1600" dirty="0">
                <a:solidFill>
                  <a:srgbClr val="052F47"/>
                </a:solidFill>
              </a:rPr>
              <a:t>The solution’s capability to: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52F47"/>
              </a:solidFill>
            </a:endParaRPr>
          </a:p>
          <a:p>
            <a:pPr marL="693737" indent="-285750">
              <a:lnSpc>
                <a:spcPct val="150000"/>
              </a:lnSpc>
              <a:spcBef>
                <a:spcPts val="0"/>
              </a:spcBef>
              <a:buClr>
                <a:srgbClr val="769467"/>
              </a:buClr>
              <a:buSzPct val="120000"/>
            </a:pPr>
            <a:r>
              <a:rPr lang="en-US" sz="1600" dirty="0" smtClean="0">
                <a:solidFill>
                  <a:srgbClr val="052F47"/>
                </a:solidFill>
              </a:rPr>
              <a:t>Perform Deduplication </a:t>
            </a:r>
            <a:r>
              <a:rPr lang="en-US" sz="1600" dirty="0">
                <a:solidFill>
                  <a:srgbClr val="052F47"/>
                </a:solidFill>
              </a:rPr>
              <a:t>using hash-based and Make/Model logic.</a:t>
            </a:r>
          </a:p>
          <a:p>
            <a:pPr marL="693737" indent="-285750">
              <a:lnSpc>
                <a:spcPct val="150000"/>
              </a:lnSpc>
              <a:spcBef>
                <a:spcPts val="0"/>
              </a:spcBef>
              <a:buClr>
                <a:srgbClr val="769467"/>
              </a:buClr>
              <a:buSzPct val="120000"/>
            </a:pPr>
            <a:r>
              <a:rPr lang="en-US" sz="1600" dirty="0">
                <a:solidFill>
                  <a:srgbClr val="052F47"/>
                </a:solidFill>
              </a:rPr>
              <a:t>Automate extraction of key data fields from </a:t>
            </a:r>
            <a:r>
              <a:rPr lang="en-US" sz="1600" dirty="0" smtClean="0">
                <a:solidFill>
                  <a:srgbClr val="052F47"/>
                </a:solidFill>
              </a:rPr>
              <a:t>table</a:t>
            </a:r>
          </a:p>
          <a:p>
            <a:pPr marL="693737" indent="-285750">
              <a:lnSpc>
                <a:spcPct val="150000"/>
              </a:lnSpc>
              <a:spcBef>
                <a:spcPts val="0"/>
              </a:spcBef>
              <a:buClr>
                <a:srgbClr val="769467"/>
              </a:buClr>
              <a:buSzPct val="120000"/>
            </a:pPr>
            <a:r>
              <a:rPr lang="en-US" sz="1600" dirty="0" smtClean="0">
                <a:solidFill>
                  <a:srgbClr val="052F47"/>
                </a:solidFill>
              </a:rPr>
              <a:t>Map </a:t>
            </a:r>
            <a:r>
              <a:rPr lang="en-US" sz="1600" dirty="0">
                <a:solidFill>
                  <a:srgbClr val="052F47"/>
                </a:solidFill>
              </a:rPr>
              <a:t>extracted </a:t>
            </a:r>
            <a:r>
              <a:rPr lang="en-US" sz="1600" dirty="0" smtClean="0">
                <a:solidFill>
                  <a:srgbClr val="052F47"/>
                </a:solidFill>
              </a:rPr>
              <a:t>data from tables in PDFs </a:t>
            </a:r>
            <a:r>
              <a:rPr lang="en-US" sz="1600" dirty="0">
                <a:solidFill>
                  <a:srgbClr val="052F47"/>
                </a:solidFill>
              </a:rPr>
              <a:t>to Ulysses’ schema.</a:t>
            </a:r>
          </a:p>
          <a:p>
            <a:pPr marL="693737" indent="-285750">
              <a:lnSpc>
                <a:spcPct val="150000"/>
              </a:lnSpc>
              <a:spcBef>
                <a:spcPts val="0"/>
              </a:spcBef>
              <a:buClr>
                <a:srgbClr val="769467"/>
              </a:buClr>
              <a:buSzPct val="120000"/>
            </a:pPr>
            <a:r>
              <a:rPr lang="en-US" sz="1600" dirty="0" smtClean="0">
                <a:solidFill>
                  <a:srgbClr val="052F47"/>
                </a:solidFill>
              </a:rPr>
              <a:t>Reduce </a:t>
            </a:r>
            <a:r>
              <a:rPr lang="en-US" sz="1600" dirty="0">
                <a:solidFill>
                  <a:srgbClr val="052F47"/>
                </a:solidFill>
              </a:rPr>
              <a:t>manual effort by leveraging AI-driven parsing and enrichment with human-in-the-loop </a:t>
            </a:r>
            <a:r>
              <a:rPr lang="en-US" sz="1600" dirty="0" smtClean="0">
                <a:solidFill>
                  <a:srgbClr val="052F47"/>
                </a:solidFill>
              </a:rPr>
              <a:t>verification to ensure high quality</a:t>
            </a:r>
            <a:endParaRPr lang="en-US" sz="1600" dirty="0">
              <a:solidFill>
                <a:srgbClr val="052F47"/>
              </a:solidFill>
            </a:endParaRPr>
          </a:p>
          <a:p>
            <a:pPr marL="693737" indent="-285750">
              <a:lnSpc>
                <a:spcPct val="150000"/>
              </a:lnSpc>
              <a:spcBef>
                <a:spcPts val="0"/>
              </a:spcBef>
              <a:buClr>
                <a:srgbClr val="769467"/>
              </a:buClr>
              <a:buSzPct val="120000"/>
            </a:pPr>
            <a:r>
              <a:rPr lang="en-US" sz="1600" dirty="0">
                <a:solidFill>
                  <a:srgbClr val="052F47"/>
                </a:solidFill>
              </a:rPr>
              <a:t>Deliver faster turnaround for </a:t>
            </a:r>
            <a:r>
              <a:rPr lang="en-US" sz="1600" dirty="0" smtClean="0">
                <a:solidFill>
                  <a:srgbClr val="052F47"/>
                </a:solidFill>
              </a:rPr>
              <a:t>documents to Ulysses System</a:t>
            </a:r>
            <a:endParaRPr lang="en-US" sz="1600" dirty="0">
              <a:solidFill>
                <a:srgbClr val="052F47"/>
              </a:solidFill>
            </a:endParaRPr>
          </a:p>
          <a:p>
            <a:pPr marL="693737" indent="-285750">
              <a:lnSpc>
                <a:spcPct val="150000"/>
              </a:lnSpc>
              <a:spcBef>
                <a:spcPts val="0"/>
              </a:spcBef>
              <a:buClr>
                <a:srgbClr val="769467"/>
              </a:buClr>
              <a:buSzPct val="120000"/>
            </a:pPr>
            <a:r>
              <a:rPr lang="en-US" sz="1600" dirty="0">
                <a:solidFill>
                  <a:srgbClr val="052F47"/>
                </a:solidFill>
              </a:rPr>
              <a:t>Demonstrates scalability of the solution across multiple regions, sectors, and deal types</a:t>
            </a:r>
            <a:endParaRPr lang="en-IN" sz="1600" dirty="0">
              <a:solidFill>
                <a:srgbClr val="052F47"/>
              </a:solidFill>
              <a:sym typeface="+mn-ea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4700" y="188074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64055"/>
                </a:solidFill>
                <a:sym typeface="+mn-ea"/>
              </a:rPr>
              <a:t>POC Objectives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2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3488-2204-904C-F9DF-C5E9ACE6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6D6BC5-A950-9687-60C3-C7B20516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00" y="188074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64055"/>
                </a:solidFill>
                <a:sym typeface="+mn-ea"/>
              </a:rPr>
              <a:t>Proposed POC – What’s In Scope and Out of Scope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1A8CEB-582F-B657-FC71-2E19AAD5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0DDE3-F256-CE9F-712B-C6C1F68A89F7}"/>
              </a:ext>
            </a:extLst>
          </p:cNvPr>
          <p:cNvSpPr txBox="1"/>
          <p:nvPr/>
        </p:nvSpPr>
        <p:spPr>
          <a:xfrm>
            <a:off x="483865" y="924826"/>
            <a:ext cx="10902450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69467"/>
                </a:solidFill>
                <a:latin typeface="BDO Grotesk" charset="0"/>
                <a:cs typeface="Times New Roman" panose="02020603050405020304" pitchFamily="18" charset="0"/>
              </a:rPr>
              <a:t>Scope </a:t>
            </a:r>
          </a:p>
          <a:p>
            <a:pPr>
              <a:lnSpc>
                <a:spcPts val="2120"/>
              </a:lnSpc>
            </a:pPr>
            <a:endParaRPr lang="en-US" sz="1600" dirty="0" smtClean="0">
              <a:solidFill>
                <a:srgbClr val="052F47"/>
              </a:solidFill>
              <a:latin typeface="BDO Grotesk" charset="0"/>
            </a:endParaRPr>
          </a:p>
          <a:p>
            <a:pPr>
              <a:lnSpc>
                <a:spcPts val="2120"/>
              </a:lnSpc>
            </a:pPr>
            <a:r>
              <a:rPr lang="en-US" sz="1600" dirty="0" smtClean="0">
                <a:solidFill>
                  <a:srgbClr val="052F47"/>
                </a:solidFill>
                <a:latin typeface="BDO Grotesk" charset="0"/>
              </a:rPr>
              <a:t>Process </a:t>
            </a:r>
            <a:r>
              <a:rPr lang="en-US" sz="1600" dirty="0">
                <a:solidFill>
                  <a:srgbClr val="052F47"/>
                </a:solidFill>
                <a:latin typeface="BDO Grotesk" charset="0"/>
              </a:rPr>
              <a:t>a representative sample of manuals and activity sheets covering three levels of document complexity, drawn from different vessel types, and automatically extract and map key data fields to Ulysses’ defined </a:t>
            </a:r>
            <a:r>
              <a:rPr lang="en-US" sz="1600" dirty="0" smtClean="0">
                <a:solidFill>
                  <a:srgbClr val="052F47"/>
                </a:solidFill>
                <a:latin typeface="BDO Grotesk" charset="0"/>
              </a:rPr>
              <a:t>schema, </a:t>
            </a:r>
            <a:r>
              <a:rPr lang="en-US" sz="1600" dirty="0">
                <a:solidFill>
                  <a:srgbClr val="052F47"/>
                </a:solidFill>
                <a:latin typeface="BDO Grotesk" charset="0"/>
              </a:rPr>
              <a:t>supported by validation logic and human-in-the-loop review to ensure accuracy, consistency, and completeness of the mapped data.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F736930-8270-3831-9E21-E2BBAAEE6EA1}"/>
              </a:ext>
            </a:extLst>
          </p:cNvPr>
          <p:cNvSpPr>
            <a:spLocks noGrp="1"/>
          </p:cNvSpPr>
          <p:nvPr/>
        </p:nvSpPr>
        <p:spPr>
          <a:xfrm>
            <a:off x="563829" y="4451531"/>
            <a:ext cx="3895629" cy="2636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69467"/>
                </a:solidFill>
                <a:cs typeface="Times New Roman" panose="02020603050405020304" pitchFamily="18" charset="0"/>
              </a:rPr>
              <a:t>Out of Scope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100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71A178"/>
              </a:buClr>
              <a:buSzPct val="150000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Non-English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manuals.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71A178"/>
              </a:buClr>
              <a:buSzPct val="150000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Integration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with production systems</a:t>
            </a:r>
            <a:r>
              <a:rPr lang="en-US" sz="1600" dirty="0">
                <a:solidFill>
                  <a:srgbClr val="052F47"/>
                </a:solidFill>
              </a:rPr>
              <a:t>.</a:t>
            </a:r>
          </a:p>
        </p:txBody>
      </p:sp>
      <p:sp>
        <p:nvSpPr>
          <p:cNvPr id="7" name="Text Placeholder 2"/>
          <p:cNvSpPr>
            <a:spLocks noGrp="1"/>
          </p:cNvSpPr>
          <p:nvPr/>
        </p:nvSpPr>
        <p:spPr>
          <a:xfrm>
            <a:off x="563829" y="2459604"/>
            <a:ext cx="5371261" cy="1746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rgbClr val="769467"/>
                </a:solidFill>
                <a:latin typeface="BDO Grotesk"/>
              </a:rPr>
              <a:t>POC Input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400" b="1" dirty="0">
              <a:solidFill>
                <a:srgbClr val="71A178"/>
              </a:solidFill>
              <a:latin typeface="BDO Grotesk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1400" b="1" dirty="0" smtClean="0">
                <a:solidFill>
                  <a:srgbClr val="769467"/>
                </a:solidFill>
                <a:latin typeface="BDO Grotesk"/>
              </a:rPr>
              <a:t>Spare Part Manual :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90 Sources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1400" b="1" dirty="0" smtClean="0">
                <a:solidFill>
                  <a:srgbClr val="769467"/>
                </a:solidFill>
                <a:latin typeface="BDO Grotesk"/>
              </a:rPr>
              <a:t>Activity Sheet         :</a:t>
            </a:r>
            <a:r>
              <a:rPr lang="en-GB" sz="14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DO Grotesk"/>
              </a:rPr>
              <a:t>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10 Sources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 smtClean="0">
                <a:solidFill>
                  <a:srgbClr val="164055"/>
                </a:solidFill>
                <a:latin typeface="BDO Grotesk"/>
              </a:rPr>
              <a:t>To be supplied by the customer</a:t>
            </a:r>
          </a:p>
        </p:txBody>
      </p:sp>
      <p:sp>
        <p:nvSpPr>
          <p:cNvPr id="8" name="Text Placeholder 2"/>
          <p:cNvSpPr>
            <a:spLocks noGrp="1"/>
          </p:cNvSpPr>
          <p:nvPr/>
        </p:nvSpPr>
        <p:spPr>
          <a:xfrm>
            <a:off x="6724358" y="2459604"/>
            <a:ext cx="5289452" cy="14512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69467"/>
                </a:solidFill>
                <a:latin typeface="BDO Grotesk"/>
              </a:rPr>
              <a:t>POC Output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9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b="1" dirty="0" smtClean="0">
                <a:solidFill>
                  <a:srgbClr val="769467"/>
                </a:solidFill>
                <a:latin typeface="BDO Grotesk"/>
              </a:rPr>
              <a:t>Spare Part Manual :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 Mapped Output Data</a:t>
            </a: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769467"/>
                </a:solidFill>
                <a:latin typeface="BDO Grotesk"/>
              </a:rPr>
              <a:t>Activity Sheets </a:t>
            </a:r>
            <a:r>
              <a:rPr lang="en-US" sz="1400" b="1" dirty="0" smtClean="0">
                <a:solidFill>
                  <a:srgbClr val="769467"/>
                </a:solidFill>
                <a:latin typeface="BDO Grotesk"/>
              </a:rPr>
              <a:t>      :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 Mapped Output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data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List of data points provided in Appendix I</a:t>
            </a:r>
            <a:endParaRPr lang="en-US" sz="1400" dirty="0">
              <a:solidFill>
                <a:srgbClr val="164055"/>
              </a:solidFill>
              <a:latin typeface="BDO Grotesk"/>
            </a:endParaRPr>
          </a:p>
        </p:txBody>
      </p:sp>
      <p:sp>
        <p:nvSpPr>
          <p:cNvPr id="9" name="Text Placeholder 2"/>
          <p:cNvSpPr>
            <a:spLocks noGrp="1"/>
          </p:cNvSpPr>
          <p:nvPr/>
        </p:nvSpPr>
        <p:spPr>
          <a:xfrm>
            <a:off x="6724358" y="4484177"/>
            <a:ext cx="5289452" cy="14512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69467"/>
                </a:solidFill>
                <a:latin typeface="BDO Grotesk"/>
              </a:rPr>
              <a:t>POC Output </a:t>
            </a:r>
            <a:r>
              <a:rPr lang="en-US" sz="1600" b="1" dirty="0" smtClean="0">
                <a:solidFill>
                  <a:srgbClr val="769467"/>
                </a:solidFill>
                <a:latin typeface="BDO Grotesk"/>
              </a:rPr>
              <a:t>Data Delivery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400" dirty="0" smtClean="0">
              <a:solidFill>
                <a:srgbClr val="164055"/>
              </a:solidFill>
              <a:latin typeface="BDO Grotesk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Delivered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as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a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.</a:t>
            </a:r>
            <a:r>
              <a:rPr lang="en-US" sz="1400" dirty="0" err="1">
                <a:solidFill>
                  <a:srgbClr val="164055"/>
                </a:solidFill>
                <a:latin typeface="BDO Grotesk"/>
              </a:rPr>
              <a:t>xlsx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 file (using approved data delivery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template for both Spare Part Manual and Activity Sheet)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into a secure SFTP location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rgbClr val="769467"/>
              </a:solidFill>
              <a:latin typeface="BDO Grotesk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3200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70778C-85F1-3158-6026-BA4CCFDC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66F6B8-006B-9FA1-15B9-A1EEE1F1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73" y="276093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64055"/>
                </a:solidFill>
                <a:sym typeface="+mn-ea"/>
              </a:rPr>
              <a:t>POC Effort and Cost Estimates </a:t>
            </a:r>
          </a:p>
        </p:txBody>
      </p:sp>
      <p:sp>
        <p:nvSpPr>
          <p:cNvPr id="2" name="Rectangle 1"/>
          <p:cNvSpPr/>
          <p:nvPr/>
        </p:nvSpPr>
        <p:spPr>
          <a:xfrm>
            <a:off x="287377" y="4462272"/>
            <a:ext cx="11383923" cy="1959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769467"/>
                </a:solidFill>
                <a:latin typeface="BDO Grotesk"/>
              </a:rPr>
              <a:t>Note</a:t>
            </a:r>
            <a:r>
              <a:rPr lang="en-IN" sz="1400" b="1" dirty="0" smtClean="0">
                <a:solidFill>
                  <a:srgbClr val="769467"/>
                </a:solidFill>
                <a:latin typeface="BDO Grotesk"/>
              </a:rPr>
              <a:t>:</a:t>
            </a:r>
          </a:p>
          <a:p>
            <a:endParaRPr lang="en-IN" sz="1400" b="1" dirty="0">
              <a:solidFill>
                <a:srgbClr val="769467"/>
              </a:solidFill>
              <a:latin typeface="BDO Grotesk"/>
            </a:endParaRPr>
          </a:p>
          <a:p>
            <a:pPr marL="285750" indent="-2857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The costs are only indicative and based on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analysis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and better understanding the estimates might vary​</a:t>
            </a:r>
          </a:p>
          <a:p>
            <a:pPr marL="285750" indent="-2857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Any alteration or expansion of the project's scope will also have an effect on the estimates provided above​</a:t>
            </a:r>
          </a:p>
          <a:p>
            <a:pPr marL="285750" indent="-2857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Infrastructure costs are estimates and will be billed on actuals​</a:t>
            </a:r>
          </a:p>
          <a:p>
            <a:pPr marL="285750" indent="-2857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The pricing mentioned above shall expire 30 business days following the date of this proposal unless accepted in its entirety prior to the expiration date.​</a:t>
            </a:r>
            <a:endParaRPr lang="en-US" sz="1400" dirty="0">
              <a:solidFill>
                <a:srgbClr val="164055"/>
              </a:solidFill>
              <a:latin typeface="BDO Grotesk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372056"/>
              </p:ext>
            </p:extLst>
          </p:nvPr>
        </p:nvGraphicFramePr>
        <p:xfrm>
          <a:off x="344773" y="1084403"/>
          <a:ext cx="6565785" cy="3377869"/>
        </p:xfrm>
        <a:graphic>
          <a:graphicData uri="http://schemas.openxmlformats.org/drawingml/2006/table">
            <a:tbl>
              <a:tblPr/>
              <a:tblGrid>
                <a:gridCol w="4830731">
                  <a:extLst>
                    <a:ext uri="{9D8B030D-6E8A-4147-A177-3AD203B41FA5}">
                      <a16:colId xmlns:a16="http://schemas.microsoft.com/office/drawing/2014/main" val="2309179978"/>
                    </a:ext>
                  </a:extLst>
                </a:gridCol>
                <a:gridCol w="1735054">
                  <a:extLst>
                    <a:ext uri="{9D8B030D-6E8A-4147-A177-3AD203B41FA5}">
                      <a16:colId xmlns:a16="http://schemas.microsoft.com/office/drawing/2014/main" val="2199953824"/>
                    </a:ext>
                  </a:extLst>
                </a:gridCol>
              </a:tblGrid>
              <a:tr h="360349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Description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Estimated Cost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517182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Discovery, Analysis and Planning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 dirty="0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£2,800.00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027216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De-duplication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£1,200.00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308327"/>
                  </a:ext>
                </a:extLst>
              </a:tr>
              <a:tr h="140893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Human-in-the-loop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 dirty="0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£1,200.00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380423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Easy &amp; Medium Complexity - Spare Parts Mapping Development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£3,720.00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288635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Hard Complexity - Activity Mapping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£5,810.00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487950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Integration and QA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£1,920.00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256866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Testing - Pipeline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£400.00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821036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Documentation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FOC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00845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Project Management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FOC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575488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Infrastructure Cost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0" i="0" u="none" strike="noStrike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£1,400.00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85618"/>
                  </a:ext>
                </a:extLst>
              </a:tr>
              <a:tr h="24955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Total Solution Set Up / Configuration Costs For POC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200" b="1" i="0" u="none" strike="noStrike" dirty="0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£18,450.00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58935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70C33A-8D8B-21F7-B3BB-944745B73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608826"/>
              </p:ext>
            </p:extLst>
          </p:nvPr>
        </p:nvGraphicFramePr>
        <p:xfrm>
          <a:off x="7361586" y="1084403"/>
          <a:ext cx="4570584" cy="1256461"/>
        </p:xfrm>
        <a:graphic>
          <a:graphicData uri="http://schemas.openxmlformats.org/drawingml/2006/table">
            <a:tbl>
              <a:tblPr/>
              <a:tblGrid>
                <a:gridCol w="648558">
                  <a:extLst>
                    <a:ext uri="{9D8B030D-6E8A-4147-A177-3AD203B41FA5}">
                      <a16:colId xmlns:a16="http://schemas.microsoft.com/office/drawing/2014/main" val="34876134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3502354054"/>
                    </a:ext>
                  </a:extLst>
                </a:gridCol>
                <a:gridCol w="1544586">
                  <a:extLst>
                    <a:ext uri="{9D8B030D-6E8A-4147-A177-3AD203B41FA5}">
                      <a16:colId xmlns:a16="http://schemas.microsoft.com/office/drawing/2014/main" val="3283815455"/>
                    </a:ext>
                  </a:extLst>
                </a:gridCol>
              </a:tblGrid>
              <a:tr h="34206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1400" b="1" kern="1200" dirty="0" err="1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S.No</a:t>
                      </a:r>
                      <a:endParaRPr lang="en-GB" sz="1400" b="1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1400" b="1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Estimated Infrastructure</a:t>
                      </a:r>
                      <a:endParaRPr lang="en-GB" sz="1400" b="1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1400" b="1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Estimated Cost</a:t>
                      </a:r>
                      <a:endParaRPr lang="en-GB" sz="1400" b="1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99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Virtual Machines(Ubuntu)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dirty="0" smtClean="0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£1,000</a:t>
                      </a:r>
                      <a:endParaRPr lang="en-GB" sz="1400" kern="1200" dirty="0" smtClean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17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Open AI Cost</a:t>
                      </a:r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 smtClean="0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£400</a:t>
                      </a:r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33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b="1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Total</a:t>
                      </a:r>
                      <a:endParaRPr lang="en-GB" sz="1400" b="1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i="0" u="none" strike="noStrike" dirty="0" smtClean="0">
                          <a:solidFill>
                            <a:srgbClr val="164055"/>
                          </a:solidFill>
                          <a:effectLst/>
                          <a:latin typeface="BDO Grotesk"/>
                        </a:rPr>
                        <a:t>£1,400</a:t>
                      </a:r>
                      <a:endParaRPr lang="en-GB" sz="1400" b="1" kern="1200" dirty="0" smtClean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2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03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29F9-DF57-AF35-DC93-B6747435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79D2E-2230-7C6F-6A0F-F50654A3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8072B7-08DF-A371-55B5-0FFC02A3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25" y="32968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POC Key Milestones and Projected Timelines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983057-F2D8-6CB7-3C5B-5D2D0C773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531217"/>
              </p:ext>
            </p:extLst>
          </p:nvPr>
        </p:nvGraphicFramePr>
        <p:xfrm>
          <a:off x="337457" y="1186995"/>
          <a:ext cx="11055067" cy="22007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14169">
                  <a:extLst>
                    <a:ext uri="{9D8B030D-6E8A-4147-A177-3AD203B41FA5}">
                      <a16:colId xmlns:a16="http://schemas.microsoft.com/office/drawing/2014/main" val="3505383067"/>
                    </a:ext>
                  </a:extLst>
                </a:gridCol>
                <a:gridCol w="1979887">
                  <a:extLst>
                    <a:ext uri="{9D8B030D-6E8A-4147-A177-3AD203B41FA5}">
                      <a16:colId xmlns:a16="http://schemas.microsoft.com/office/drawing/2014/main" val="4199511902"/>
                    </a:ext>
                  </a:extLst>
                </a:gridCol>
                <a:gridCol w="1937041">
                  <a:extLst>
                    <a:ext uri="{9D8B030D-6E8A-4147-A177-3AD203B41FA5}">
                      <a16:colId xmlns:a16="http://schemas.microsoft.com/office/drawing/2014/main" val="2415753506"/>
                    </a:ext>
                  </a:extLst>
                </a:gridCol>
                <a:gridCol w="1923970">
                  <a:extLst>
                    <a:ext uri="{9D8B030D-6E8A-4147-A177-3AD203B41FA5}">
                      <a16:colId xmlns:a16="http://schemas.microsoft.com/office/drawing/2014/main" val="2860393258"/>
                    </a:ext>
                  </a:extLst>
                </a:gridCol>
              </a:tblGrid>
              <a:tr h="4225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Milestones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Estimated Duration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Planned Start Date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Planned End Date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156481"/>
                  </a:ext>
                </a:extLst>
              </a:tr>
              <a:tr h="44456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POC Milestones and Timelines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kern="1200">
                        <a:solidFill>
                          <a:srgbClr val="164055"/>
                        </a:solidFill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kern="1200">
                        <a:solidFill>
                          <a:srgbClr val="164055"/>
                        </a:solidFill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kern="1200">
                        <a:solidFill>
                          <a:srgbClr val="164055"/>
                        </a:solidFill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96344"/>
                  </a:ext>
                </a:extLst>
              </a:tr>
              <a:tr h="444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BDO Grotesk"/>
                          <a:ea typeface="+mn-ea"/>
                          <a:cs typeface="+mn-cs"/>
                        </a:rPr>
                        <a:t>POC Solution Configuration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8</a:t>
                      </a:r>
                      <a:r>
                        <a:rPr lang="en-US" sz="1400" kern="1200" dirty="0" smtClean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Weeks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17-Nov-25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smtClean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16-Jan-26</a:t>
                      </a:r>
                      <a:r>
                        <a:rPr lang="en-US" sz="1400" kern="1200" dirty="0" smtClean="0">
                          <a:solidFill>
                            <a:srgbClr val="FF0000"/>
                          </a:solidFill>
                          <a:latin typeface="BDO Grotesk"/>
                          <a:ea typeface="+mn-ea"/>
                          <a:cs typeface="+mn-cs"/>
                        </a:rPr>
                        <a:t>*</a:t>
                      </a:r>
                      <a:endParaRPr lang="en-US" sz="1400" kern="1200" dirty="0">
                        <a:solidFill>
                          <a:srgbClr val="164055"/>
                        </a:solidFill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15157"/>
                  </a:ext>
                </a:extLst>
              </a:tr>
              <a:tr h="444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BDO Grotesk"/>
                          <a:ea typeface="+mn-ea"/>
                          <a:cs typeface="+mn-cs"/>
                        </a:rPr>
                        <a:t>POC UAT (output checks by </a:t>
                      </a:r>
                      <a:r>
                        <a:rPr lang="en-US" sz="1400" b="0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BDO Grotesk"/>
                          <a:ea typeface="+mn-ea"/>
                          <a:cs typeface="+mn-cs"/>
                        </a:rPr>
                        <a:t>Ulysses System)</a:t>
                      </a:r>
                      <a:endParaRPr lang="en-US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2 Weeks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smtClean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19-Jan-26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smtClean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30-Jan-26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80016"/>
                  </a:ext>
                </a:extLst>
              </a:tr>
              <a:tr h="444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bg1"/>
                          </a:solidFill>
                          <a:effectLst/>
                          <a:latin typeface="BDO Grotesk"/>
                          <a:ea typeface="+mn-ea"/>
                          <a:cs typeface="+mn-cs"/>
                        </a:rPr>
                        <a:t>POC UAT Issue Fixes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1 Week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smtClean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02-Feb-26</a:t>
                      </a:r>
                      <a:endParaRPr lang="en-US" sz="1400" kern="1200" dirty="0">
                        <a:solidFill>
                          <a:srgbClr val="164055"/>
                        </a:solidFill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smtClean="0">
                          <a:solidFill>
                            <a:srgbClr val="164055"/>
                          </a:solidFill>
                          <a:latin typeface="BDO Grotesk"/>
                          <a:ea typeface="+mn-ea"/>
                          <a:cs typeface="+mn-cs"/>
                        </a:rPr>
                        <a:t>09-Feb-26</a:t>
                      </a:r>
                      <a:endParaRPr lang="en-US" sz="1400" kern="1200" dirty="0">
                        <a:solidFill>
                          <a:srgbClr val="164055"/>
                        </a:solidFill>
                        <a:latin typeface="BDO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38222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33C4CD-CC1F-F446-E455-D7FD9B0939EA}"/>
              </a:ext>
            </a:extLst>
          </p:cNvPr>
          <p:cNvSpPr txBox="1"/>
          <p:nvPr/>
        </p:nvSpPr>
        <p:spPr>
          <a:xfrm>
            <a:off x="925286" y="3429000"/>
            <a:ext cx="661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sz="1200" dirty="0">
                <a:solidFill>
                  <a:srgbClr val="164055"/>
                </a:solidFill>
              </a:rPr>
              <a:t>Excluding Christmas holidays – 1 week</a:t>
            </a:r>
          </a:p>
        </p:txBody>
      </p:sp>
    </p:spTree>
    <p:extLst>
      <p:ext uri="{BB962C8B-B14F-4D97-AF65-F5344CB8AC3E}">
        <p14:creationId xmlns:p14="http://schemas.microsoft.com/office/powerpoint/2010/main" val="362327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1455" y="31469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 smtClean="0">
                <a:solidFill>
                  <a:srgbClr val="1A3F4E"/>
                </a:solidFill>
                <a:sym typeface="+mn-ea"/>
              </a:rPr>
              <a:t>Queries</a:t>
            </a:r>
            <a:endParaRPr lang="en-US" sz="2900" b="1" dirty="0">
              <a:solidFill>
                <a:srgbClr val="1A3F4E"/>
              </a:solidFill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10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21335" y="1110469"/>
            <a:ext cx="33611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b="1">
              <a:solidFill>
                <a:srgbClr val="164055"/>
              </a:solidFill>
              <a:latin typeface="BDO Grotesk" charset="0"/>
            </a:endParaRPr>
          </a:p>
          <a:p>
            <a:endParaRPr lang="en-GB" sz="160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21335" y="1301378"/>
            <a:ext cx="1101293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769467"/>
                </a:solidFill>
                <a:latin typeface="BDO Grotesk"/>
              </a:rPr>
              <a:t>Overall Volume of Vessels: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Please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confirm the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overall count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of the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vessels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for which the manuals will be covered under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the full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activity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.</a:t>
            </a: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769467"/>
                </a:solidFill>
                <a:latin typeface="BDO Grotesk"/>
              </a:rPr>
              <a:t>Split of Volume: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Kindly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provide the approximate distribution between Spare Parts manuals and Activity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Sheets in overall volume.</a:t>
            </a:r>
            <a:endParaRPr lang="en-US" sz="1400" dirty="0" smtClean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769467"/>
                </a:solidFill>
                <a:latin typeface="BDO Grotesk"/>
              </a:rPr>
              <a:t>Average Document Size: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What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is the average number of pages per document for both Spare Parts manuals and Activity Sheets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?</a:t>
            </a: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769467"/>
                </a:solidFill>
                <a:latin typeface="BDO Grotesk"/>
              </a:rPr>
              <a:t>Frequency of Activity</a:t>
            </a:r>
            <a:r>
              <a:rPr lang="en-US" sz="1400" b="1" dirty="0" smtClean="0">
                <a:solidFill>
                  <a:srgbClr val="164055"/>
                </a:solidFill>
                <a:latin typeface="BDO Grotesk"/>
              </a:rPr>
              <a:t>: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Is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this intended to be a one-time activity, or will data extraction need to be refreshed on a monthly basis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?</a:t>
            </a: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769467"/>
                </a:solidFill>
                <a:latin typeface="BDO Grotesk"/>
              </a:rPr>
              <a:t>Consistency of Format:</a:t>
            </a:r>
            <a:r>
              <a:rPr lang="en-US" sz="1400" b="1" dirty="0" smtClean="0">
                <a:solidFill>
                  <a:srgbClr val="164055"/>
                </a:solidFill>
                <a:latin typeface="BDO Grotesk"/>
              </a:rPr>
              <a:t>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Based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on your experience over the past six months, will the PDF format remain consistent across the manuals provided by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the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companies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?</a:t>
            </a: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769467"/>
                </a:solidFill>
                <a:latin typeface="BDO Grotesk"/>
              </a:rPr>
              <a:t>Instruction Variability in Activity Sheets: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Will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the maintenance instructions in the Activity Sheets follow a generic pattern, or will they vary depending on the company or equipment type?</a:t>
            </a:r>
            <a:endParaRPr lang="en-GB" sz="1400" dirty="0">
              <a:solidFill>
                <a:srgbClr val="1640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2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1455" y="31469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Our Assumptions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11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21335" y="1110469"/>
            <a:ext cx="33611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b="1">
              <a:solidFill>
                <a:srgbClr val="164055"/>
              </a:solidFill>
              <a:latin typeface="BDO Grotesk" charset="0"/>
            </a:endParaRPr>
          </a:p>
          <a:p>
            <a:endParaRPr lang="en-GB" sz="160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21335" y="1301378"/>
            <a:ext cx="1101293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Access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will be provided to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Ulysses database for deduplication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.</a:t>
            </a: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PDF templates will be consistent across the company for future releases also.</a:t>
            </a: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English-only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manuals for the POC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.</a:t>
            </a: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Clr>
                <a:srgbClr val="769467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SMEs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available for timely feedback and validation.</a:t>
            </a:r>
            <a:endParaRPr lang="en-GB" sz="1400" dirty="0">
              <a:solidFill>
                <a:srgbClr val="1640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1435" y="31469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64055"/>
                </a:solidFill>
                <a:sym typeface="+mn-ea"/>
              </a:rPr>
              <a:t>Key Value Adds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12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21335" y="1110469"/>
            <a:ext cx="33611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b="1">
              <a:solidFill>
                <a:srgbClr val="164055"/>
              </a:solidFill>
              <a:latin typeface="BDO Grotesk" charset="0"/>
            </a:endParaRPr>
          </a:p>
          <a:p>
            <a:endParaRPr lang="en-GB" sz="160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837019" y="1110469"/>
            <a:ext cx="11146433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A truly end-to-end easily scalable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semi automated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solution that will help reduce the manual efforts by 50-60%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The proposed solution guarantees significant increase in output volume, enhanced coverage, completeness and accuracy </a:t>
            </a:r>
          </a:p>
          <a:p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A dedicated Project Manager and Business Analyst will be assigned to oversee the engagement at no additional cost, ensuring smooth delivery and stakeholder alignment throughout the project duration.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4055"/>
                </a:solidFill>
                <a:latin typeface="BDO Grotesk"/>
              </a:rPr>
              <a:t>Documentation is FoC (Free of Charge), that will de-risks any knowledge transfer gaps due to change in personnel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0000"/>
              </a:solidFill>
              <a:latin typeface="BDO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Our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accelerator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platforms components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have also helped in and estimated timeline reduction from 2.5 months to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2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months</a:t>
            </a:r>
            <a:r>
              <a:rPr lang="en-US" sz="1400" dirty="0">
                <a:solidFill>
                  <a:srgbClr val="FF0000"/>
                </a:solidFill>
                <a:latin typeface="BDO Grotesk"/>
              </a:rPr>
              <a:t>,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as a result of in-built modules, automation utilities, and </a:t>
            </a:r>
            <a:r>
              <a:rPr lang="en-US" sz="1400" dirty="0" err="1">
                <a:solidFill>
                  <a:srgbClr val="164055"/>
                </a:solidFill>
                <a:latin typeface="BDO Grotesk"/>
              </a:rPr>
              <a:t>optimised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 data processing workflows in these platforms</a:t>
            </a:r>
          </a:p>
          <a:p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r>
              <a:rPr lang="en-US" sz="1400" dirty="0">
                <a:solidFill>
                  <a:srgbClr val="164055"/>
                </a:solidFill>
                <a:latin typeface="BDO Grotesk"/>
              </a:rPr>
              <a:t>Note: Infrastructure costs indicated are provisional estimates and will be billed based on actual usage during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64055"/>
              </a:solidFill>
              <a:latin typeface="BDO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A3F4E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  <a:p>
            <a:endParaRPr lang="en-GB" sz="1400" dirty="0">
              <a:latin typeface="BDO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67826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EFDB-0CCE-E558-3311-6603E834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FE099-8B75-2BA6-F034-2ED0689D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25" y="279817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64055"/>
                </a:solidFill>
                <a:latin typeface="BDO Grotesk DemiBold"/>
                <a:sym typeface="+mn-ea"/>
              </a:rPr>
              <a:t>Appendix </a:t>
            </a:r>
            <a:r>
              <a:rPr lang="en-US" sz="2900" b="1" dirty="0" smtClean="0">
                <a:solidFill>
                  <a:srgbClr val="164055"/>
                </a:solidFill>
                <a:sym typeface="+mn-ea"/>
              </a:rPr>
              <a:t>I</a:t>
            </a:r>
            <a:r>
              <a:rPr lang="en-US" sz="2900" b="1" dirty="0" smtClean="0">
                <a:solidFill>
                  <a:srgbClr val="164055"/>
                </a:solidFill>
                <a:latin typeface="BDO Grotesk DemiBold"/>
                <a:sym typeface="+mn-ea"/>
              </a:rPr>
              <a:t> </a:t>
            </a:r>
            <a:r>
              <a:rPr lang="en-US" sz="2900" b="1" dirty="0">
                <a:solidFill>
                  <a:srgbClr val="164055"/>
                </a:solidFill>
                <a:latin typeface="BDO Grotesk DemiBold"/>
                <a:sym typeface="+mn-ea"/>
              </a:rPr>
              <a:t>– Data Points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B673E-A3BC-50E1-3D5B-7930E055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B60B3-CA6E-D06B-2D57-574550A633F4}"/>
              </a:ext>
            </a:extLst>
          </p:cNvPr>
          <p:cNvSpPr/>
          <p:nvPr/>
        </p:nvSpPr>
        <p:spPr>
          <a:xfrm>
            <a:off x="516678" y="1410805"/>
            <a:ext cx="3020151" cy="32316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/>
            </a:pPr>
            <a:r>
              <a:rPr lang="en-GB" sz="1200" dirty="0">
                <a:solidFill>
                  <a:srgbClr val="164055"/>
                </a:solidFill>
                <a:latin typeface="BDO Grotesk"/>
              </a:rPr>
              <a:t>ID</a:t>
            </a:r>
          </a:p>
          <a:p>
            <a:pPr marL="342900" indent="-342900">
              <a:buAutoNum type="arabicPeriod"/>
            </a:pPr>
            <a:r>
              <a:rPr lang="en-GB" sz="1200" dirty="0">
                <a:solidFill>
                  <a:srgbClr val="164055"/>
                </a:solidFill>
                <a:latin typeface="BDO Grotesk"/>
              </a:rPr>
              <a:t>Description</a:t>
            </a: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PartNo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AltDesc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AltPartNo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ModelNo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OfficeNo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LeadTime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>
                <a:solidFill>
                  <a:srgbClr val="164055"/>
                </a:solidFill>
                <a:latin typeface="BDO Grotesk"/>
              </a:rPr>
              <a:t>Weight</a:t>
            </a:r>
          </a:p>
          <a:p>
            <a:pPr marL="342900" indent="-342900">
              <a:buAutoNum type="arabicPeriod"/>
            </a:pPr>
            <a:r>
              <a:rPr lang="en-GB" sz="1200" dirty="0">
                <a:solidFill>
                  <a:srgbClr val="164055"/>
                </a:solidFill>
                <a:latin typeface="BDO Grotesk"/>
              </a:rPr>
              <a:t>MSL</a:t>
            </a: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DrawingNumber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PositionNumber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>
                <a:solidFill>
                  <a:srgbClr val="164055"/>
                </a:solidFill>
                <a:latin typeface="BDO Grotesk"/>
              </a:rPr>
              <a:t>Critical</a:t>
            </a: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LastPrice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>
                <a:solidFill>
                  <a:srgbClr val="164055"/>
                </a:solidFill>
                <a:latin typeface="BDO Grotesk"/>
              </a:rPr>
              <a:t>Quantity</a:t>
            </a: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AccountCodeID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r>
              <a:rPr lang="en-GB" sz="1200" dirty="0" err="1">
                <a:solidFill>
                  <a:srgbClr val="164055"/>
                </a:solidFill>
                <a:latin typeface="BDO Grotesk"/>
              </a:rPr>
              <a:t>ManufacturerID</a:t>
            </a:r>
            <a:endParaRPr lang="en-GB" sz="1200" dirty="0">
              <a:solidFill>
                <a:srgbClr val="164055"/>
              </a:solidFill>
              <a:latin typeface="BDO Grotesk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07416" y="1349248"/>
            <a:ext cx="3251200" cy="37856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164055"/>
                </a:solidFill>
                <a:latin typeface="BDO Grotesk"/>
              </a:rPr>
              <a:t>ID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solidFill>
                  <a:srgbClr val="164055"/>
                </a:solidFill>
                <a:latin typeface="BDO Grotesk"/>
              </a:rPr>
              <a:t>ActivityTypeID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164055"/>
                </a:solidFill>
                <a:latin typeface="BDO Grotesk"/>
              </a:rPr>
              <a:t>Name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164055"/>
                </a:solidFill>
                <a:latin typeface="BDO Grotesk"/>
              </a:rPr>
              <a:t>Description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164055"/>
                </a:solidFill>
                <a:latin typeface="BDO Grotesk"/>
              </a:rPr>
              <a:t>Interval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solidFill>
                  <a:srgbClr val="164055"/>
                </a:solidFill>
                <a:latin typeface="BDO Grotesk"/>
              </a:rPr>
              <a:t>IntervalType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solidFill>
                  <a:srgbClr val="164055"/>
                </a:solidFill>
                <a:latin typeface="BDO Grotesk"/>
              </a:rPr>
              <a:t>PercentTrigger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solidFill>
                  <a:srgbClr val="164055"/>
                </a:solidFill>
                <a:latin typeface="BDO Grotesk"/>
              </a:rPr>
              <a:t>DryDock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solidFill>
                  <a:srgbClr val="164055"/>
                </a:solidFill>
                <a:latin typeface="BDO Grotesk"/>
              </a:rPr>
              <a:t>FullReport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solidFill>
                  <a:srgbClr val="164055"/>
                </a:solidFill>
                <a:latin typeface="BDO Grotesk"/>
              </a:rPr>
              <a:t>LetSlip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164055"/>
                </a:solidFill>
                <a:latin typeface="BDO Grotesk"/>
              </a:rPr>
              <a:t>LetSlip2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solidFill>
                  <a:srgbClr val="164055"/>
                </a:solidFill>
                <a:latin typeface="BDO Grotesk"/>
              </a:rPr>
              <a:t>MakerInterval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164055"/>
                </a:solidFill>
                <a:latin typeface="BDO Grotesk"/>
              </a:rPr>
              <a:t>Critical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solidFill>
                  <a:srgbClr val="164055"/>
                </a:solidFill>
                <a:latin typeface="BDO Grotesk"/>
              </a:rPr>
              <a:t>SurveyJob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 smtClean="0">
                <a:solidFill>
                  <a:srgbClr val="164055"/>
                </a:solidFill>
                <a:latin typeface="BDO Grotesk"/>
              </a:rPr>
              <a:t>Surveyable</a:t>
            </a: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pPr marL="342900" indent="-342900">
              <a:buAutoNum type="arabicPeriod"/>
            </a:pPr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endParaRPr lang="en-US" sz="1200" dirty="0">
              <a:solidFill>
                <a:srgbClr val="164055"/>
              </a:solidFill>
              <a:latin typeface="BDO Grotesk"/>
            </a:endParaRPr>
          </a:p>
          <a:p>
            <a:endParaRPr lang="en-GB" sz="1200" dirty="0">
              <a:solidFill>
                <a:srgbClr val="164055"/>
              </a:solidFill>
              <a:latin typeface="BDO Grotes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07B64-F769-5DFA-3CA0-F406D9C00106}"/>
              </a:ext>
            </a:extLst>
          </p:cNvPr>
          <p:cNvSpPr txBox="1"/>
          <p:nvPr/>
        </p:nvSpPr>
        <p:spPr>
          <a:xfrm>
            <a:off x="516678" y="1056860"/>
            <a:ext cx="235213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solidFill>
                  <a:srgbClr val="769467"/>
                </a:solidFill>
                <a:latin typeface="BDO Grotesk"/>
              </a:rPr>
              <a:t>Spare Part Manual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F4AC1-8B42-B487-075B-9DB1B9B4C37A}"/>
              </a:ext>
            </a:extLst>
          </p:cNvPr>
          <p:cNvSpPr txBox="1"/>
          <p:nvPr/>
        </p:nvSpPr>
        <p:spPr>
          <a:xfrm>
            <a:off x="3536829" y="1050800"/>
            <a:ext cx="254917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400" b="1" dirty="0" smtClean="0">
                <a:solidFill>
                  <a:srgbClr val="769467"/>
                </a:solidFill>
                <a:latin typeface="BDO Grotesk"/>
              </a:rPr>
              <a:t>Activity Sheets</a:t>
            </a:r>
            <a:endParaRPr lang="en-US" sz="1400" b="1" dirty="0">
              <a:solidFill>
                <a:srgbClr val="769467"/>
              </a:solidFill>
              <a:latin typeface="BDO Grotesk"/>
            </a:endParaRPr>
          </a:p>
          <a:p>
            <a:endParaRPr lang="en-US" sz="1400" b="1" dirty="0">
              <a:solidFill>
                <a:srgbClr val="769467"/>
              </a:solidFill>
              <a:latin typeface="BDO Grotes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7A3ABF-64C6-4DAE-C903-5D77614A343F}"/>
              </a:ext>
            </a:extLst>
          </p:cNvPr>
          <p:cNvSpPr/>
          <p:nvPr/>
        </p:nvSpPr>
        <p:spPr>
          <a:xfrm>
            <a:off x="7155131" y="3168497"/>
            <a:ext cx="4165600" cy="2769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 startAt="57"/>
            </a:pPr>
            <a:endParaRPr lang="en-GB" sz="1200">
              <a:solidFill>
                <a:srgbClr val="ED7D31"/>
              </a:solidFill>
              <a:latin typeface="BDO Grotesk"/>
            </a:endParaRPr>
          </a:p>
        </p:txBody>
      </p:sp>
    </p:spTree>
    <p:extLst>
      <p:ext uri="{BB962C8B-B14F-4D97-AF65-F5344CB8AC3E}">
        <p14:creationId xmlns:p14="http://schemas.microsoft.com/office/powerpoint/2010/main" val="99635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1434</Words>
  <Application>Microsoft Office PowerPoint</Application>
  <PresentationFormat>Widescreen</PresentationFormat>
  <Paragraphs>264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 Narrow</vt:lpstr>
      <vt:lpstr>Arial</vt:lpstr>
      <vt:lpstr>BDO Grotesk</vt:lpstr>
      <vt:lpstr>BDO Grotesk Black</vt:lpstr>
      <vt:lpstr>BDO Grotesk DemiBold</vt:lpstr>
      <vt:lpstr>Calibri</vt:lpstr>
      <vt:lpstr>Times New Roman</vt:lpstr>
      <vt:lpstr>1_Office Theme</vt:lpstr>
      <vt:lpstr>PowerPoint Presentation</vt:lpstr>
      <vt:lpstr>Introduction</vt:lpstr>
      <vt:lpstr>Ulysses Systems Automation Objectives </vt:lpstr>
      <vt:lpstr>Solution Design and Implementation Approach</vt:lpstr>
      <vt:lpstr>PowerPoint Presentation</vt:lpstr>
      <vt:lpstr>POC Objectives </vt:lpstr>
      <vt:lpstr>Proposed POC – What’s In Scope and Out of Scope</vt:lpstr>
      <vt:lpstr>POC Effort and Cost Estimates </vt:lpstr>
      <vt:lpstr>POC Key Milestones and Projected Timelines</vt:lpstr>
      <vt:lpstr>Queries</vt:lpstr>
      <vt:lpstr>Our Assumptions</vt:lpstr>
      <vt:lpstr>Key Value Adds</vt:lpstr>
      <vt:lpstr>Appendix I – Data Points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shubhampawar</dc:creator>
  <cp:lastModifiedBy>Rathin Jayanarayanan</cp:lastModifiedBy>
  <cp:revision>76</cp:revision>
  <dcterms:created xsi:type="dcterms:W3CDTF">2025-08-26T09:59:00Z</dcterms:created>
  <dcterms:modified xsi:type="dcterms:W3CDTF">2025-11-05T06:19:00Z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1033-10.2.0.5820</vt:lpwstr>
  </property>
</Properties>
</file>