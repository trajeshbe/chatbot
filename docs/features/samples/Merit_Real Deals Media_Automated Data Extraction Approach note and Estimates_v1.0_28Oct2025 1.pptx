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456" r:id="rId3"/>
    <p:sldId id="995" r:id="rId4"/>
    <p:sldId id="985" r:id="rId5"/>
    <p:sldId id="405" r:id="rId6"/>
    <p:sldId id="894" r:id="rId7"/>
    <p:sldId id="992" r:id="rId8"/>
    <p:sldId id="973" r:id="rId9"/>
    <p:sldId id="989" r:id="rId10"/>
    <p:sldId id="1001" r:id="rId11"/>
    <p:sldId id="993" r:id="rId12"/>
    <p:sldId id="1000" r:id="rId13"/>
    <p:sldId id="990" r:id="rId14"/>
    <p:sldId id="986" r:id="rId15"/>
    <p:sldId id="969" r:id="rId16"/>
    <p:sldId id="996" r:id="rId17"/>
    <p:sldId id="984" r:id="rId18"/>
    <p:sldId id="998" r:id="rId19"/>
    <p:sldId id="999" r:id="rId20"/>
    <p:sldId id="902" r:id="rId21"/>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4055"/>
    <a:srgbClr val="71A178"/>
    <a:srgbClr val="769467"/>
    <a:srgbClr val="052F47"/>
    <a:srgbClr val="95BB81"/>
    <a:srgbClr val="023047"/>
    <a:srgbClr val="FFC000"/>
    <a:srgbClr val="C99906"/>
    <a:srgbClr val="567C63"/>
    <a:srgbClr val="E0AB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DD3B6-B51A-D62E-F12A-64CD4D0A9396}" v="406" dt="2025-10-29T14:59:24.108"/>
    <p1510:client id="{2AA46510-2BDD-2F37-4A99-3BF8D3092141}" v="6" dt="2025-10-28T17:07:04.883"/>
    <p1510:client id="{6CB534D8-7222-C0FC-9EB0-6BC6346B8771}" v="1207" dt="2025-10-28T15:09:34.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t>11/17/2025</a:t>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51471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1279525"/>
            <a:ext cx="6140450" cy="34544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B2AA4F-B828-4D7C-AFD3-893933DAFCB4}" type="slidenum">
              <a:rPr lang="en-US" smtClean="0"/>
              <a:t>2</a:t>
            </a:fld>
            <a:endParaRPr lang="en-US"/>
          </a:p>
        </p:txBody>
      </p:sp>
    </p:spTree>
    <p:extLst>
      <p:ext uri="{BB962C8B-B14F-4D97-AF65-F5344CB8AC3E}">
        <p14:creationId xmlns:p14="http://schemas.microsoft.com/office/powerpoint/2010/main" val="2793873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1279525"/>
            <a:ext cx="6140450" cy="34544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B2AA4F-B828-4D7C-AFD3-893933DAFCB4}" type="slidenum">
              <a:rPr lang="en-US" smtClean="0"/>
              <a:t>7</a:t>
            </a:fld>
            <a:endParaRPr lang="en-US"/>
          </a:p>
        </p:txBody>
      </p:sp>
    </p:spTree>
    <p:extLst>
      <p:ext uri="{BB962C8B-B14F-4D97-AF65-F5344CB8AC3E}">
        <p14:creationId xmlns:p14="http://schemas.microsoft.com/office/powerpoint/2010/main" val="1922832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21" Type="http://schemas.openxmlformats.org/officeDocument/2006/relationships/image" Target="../media/image33.png"/><Relationship Id="rId34" Type="http://schemas.openxmlformats.org/officeDocument/2006/relationships/image" Target="../media/image46.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2" Type="http://schemas.openxmlformats.org/officeDocument/2006/relationships/image" Target="../media/image14.png"/><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1.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36" Type="http://schemas.openxmlformats.org/officeDocument/2006/relationships/image" Target="../media/image48.png"/><Relationship Id="rId10" Type="http://schemas.openxmlformats.org/officeDocument/2006/relationships/image" Target="../media/image22.png"/><Relationship Id="rId19" Type="http://schemas.openxmlformats.org/officeDocument/2006/relationships/image" Target="../media/image31.png"/><Relationship Id="rId31" Type="http://schemas.openxmlformats.org/officeDocument/2006/relationships/image" Target="../media/image43.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8" Type="http://schemas.openxmlformats.org/officeDocument/2006/relationships/image" Target="../media/image20.png"/><Relationship Id="rId3" Type="http://schemas.openxmlformats.org/officeDocument/2006/relationships/image" Target="../media/image1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38200" y="2047240"/>
            <a:ext cx="6230620" cy="424815"/>
          </a:xfrm>
        </p:spPr>
        <p:txBody>
          <a:bodyPr anchor="b">
            <a:noAutofit/>
          </a:bodyPr>
          <a:lstStyle>
            <a:lvl1pPr algn="l">
              <a:defRPr sz="2000" b="0">
                <a:solidFill>
                  <a:schemeClr val="bg1"/>
                </a:solidFill>
                <a:latin typeface="BDO Grotesk DemiBold" charset="0"/>
              </a:defRPr>
            </a:lvl1pPr>
          </a:lstStyle>
          <a:p>
            <a:r>
              <a:rPr lang="en-US"/>
              <a:t>Document Type</a:t>
            </a:r>
          </a:p>
        </p:txBody>
      </p:sp>
      <p:sp>
        <p:nvSpPr>
          <p:cNvPr id="3" name="Subtitle 2"/>
          <p:cNvSpPr>
            <a:spLocks noGrp="1"/>
          </p:cNvSpPr>
          <p:nvPr>
            <p:ph type="subTitle" idx="1" hasCustomPrompt="1"/>
          </p:nvPr>
        </p:nvSpPr>
        <p:spPr>
          <a:xfrm>
            <a:off x="838200" y="2472055"/>
            <a:ext cx="7774940" cy="911860"/>
          </a:xfrm>
        </p:spPr>
        <p:txBody>
          <a:bodyPr>
            <a:noAutofit/>
          </a:bodyPr>
          <a:lstStyle>
            <a:lvl1pPr marL="0" indent="0" algn="l">
              <a:buNone/>
              <a:defRPr sz="4800" b="1">
                <a:solidFill>
                  <a:schemeClr val="bg1"/>
                </a:solidFill>
                <a:latin typeface="BDO Grotesk DemiBold"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Title</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irst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504825" y="518160"/>
            <a:ext cx="7292340" cy="518795"/>
          </a:xfrm>
        </p:spPr>
        <p:txBody>
          <a:bodyPr>
            <a:noAutofit/>
          </a:bodyPr>
          <a:lstStyle/>
          <a:p>
            <a:r>
              <a:rPr lang="en-US" sz="2900">
                <a:solidFill>
                  <a:srgbClr val="1A3F4E"/>
                </a:solidFill>
                <a:sym typeface="+mn-ea"/>
              </a:rPr>
              <a:t>Title Header</a:t>
            </a:r>
          </a:p>
        </p:txBody>
      </p:sp>
      <p:sp>
        <p:nvSpPr>
          <p:cNvPr id="2" name="Slide Number Placeholder 1"/>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mpty Slide1">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1335" y="374650"/>
            <a:ext cx="2556510" cy="518795"/>
          </a:xfrm>
        </p:spPr>
        <p:txBody>
          <a:bodyPr>
            <a:noAutofit/>
          </a:bodyPr>
          <a:lstStyle/>
          <a:p>
            <a:r>
              <a:rPr lang="en-US" sz="2900">
                <a:solidFill>
                  <a:srgbClr val="1A3F4E"/>
                </a:solidFill>
                <a:sym typeface="+mn-ea"/>
              </a:rPr>
              <a:t>Title Header</a:t>
            </a:r>
          </a:p>
        </p:txBody>
      </p:sp>
      <p:sp>
        <p:nvSpPr>
          <p:cNvPr id="3" name="Slide Number Placeholder 2"/>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dership bg">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lide Number Placeholder 5"/>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struction Cov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91160" y="415290"/>
            <a:ext cx="7292340" cy="518795"/>
          </a:xfrm>
        </p:spPr>
        <p:txBody>
          <a:bodyPr>
            <a:noAutofit/>
          </a:bodyPr>
          <a:lstStyle/>
          <a:p>
            <a:r>
              <a:rPr lang="en-US" sz="2900">
                <a:solidFill>
                  <a:srgbClr val="1A3F4E"/>
                </a:solidFill>
                <a:sym typeface="+mn-ea"/>
              </a:rPr>
              <a:t>Title Header</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utomtive Cover">
    <p:bg>
      <p:bgPr>
        <a:blipFill rotWithShape="1">
          <a:blip r:embed="rId2"/>
          <a:stretch>
            <a:fillRect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160" y="415290"/>
            <a:ext cx="7292340" cy="518795"/>
          </a:xfrm>
        </p:spPr>
        <p:txBody>
          <a:bodyPr>
            <a:noAutofit/>
          </a:bodyPr>
          <a:lstStyle/>
          <a:p>
            <a:r>
              <a:rPr lang="en-US" sz="2900">
                <a:solidFill>
                  <a:srgbClr val="1A3F4E"/>
                </a:solidFill>
                <a:sym typeface="+mn-ea"/>
              </a:rPr>
              <a:t>Title Header</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ergy Cover">
    <p:bg>
      <p:bgPr>
        <a:blipFill rotWithShape="1">
          <a:blip r:embed="rId2"/>
          <a:stretch>
            <a:fillRect b="-1000"/>
          </a:stretch>
        </a:blip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466725" y="2473960"/>
            <a:ext cx="7292340" cy="518795"/>
          </a:xfrm>
        </p:spPr>
        <p:txBody>
          <a:bodyPr>
            <a:noAutofit/>
          </a:bodyPr>
          <a:lstStyle/>
          <a:p>
            <a:r>
              <a:rPr lang="en-US" sz="2900">
                <a:solidFill>
                  <a:srgbClr val="1A3F4E"/>
                </a:solidFill>
                <a:sym typeface="+mn-ea"/>
              </a:rPr>
              <a:t>Title Header</a:t>
            </a:r>
          </a:p>
        </p:txBody>
      </p:sp>
      <p:sp>
        <p:nvSpPr>
          <p:cNvPr id="2" name="Slide Number Placeholder 1"/>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gal Cover">
    <p:bg>
      <p:bgPr>
        <a:blipFill rotWithShape="1">
          <a:blip r:embed="rId2"/>
          <a:stretch>
            <a:fillRect b="-1000"/>
          </a:stretch>
        </a:blip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466725" y="2473960"/>
            <a:ext cx="7292340" cy="518795"/>
          </a:xfrm>
        </p:spPr>
        <p:txBody>
          <a:bodyPr>
            <a:noAutofit/>
          </a:bodyPr>
          <a:lstStyle/>
          <a:p>
            <a:r>
              <a:rPr lang="en-US" sz="2900">
                <a:solidFill>
                  <a:srgbClr val="1A3F4E"/>
                </a:solidFill>
                <a:sym typeface="+mn-ea"/>
              </a:rPr>
              <a:t>Title Header</a:t>
            </a:r>
          </a:p>
        </p:txBody>
      </p:sp>
      <p:sp>
        <p:nvSpPr>
          <p:cNvPr id="2" name="Slide Number Placeholder 1"/>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ublish Cover">
    <p:bg>
      <p:bgPr>
        <a:blipFill rotWithShape="1">
          <a:blip r:embed="rId2"/>
          <a:stretch>
            <a:fillRect b="-1000"/>
          </a:stretch>
        </a:blip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466725" y="2473960"/>
            <a:ext cx="7292340" cy="518795"/>
          </a:xfrm>
        </p:spPr>
        <p:txBody>
          <a:bodyPr>
            <a:noAutofit/>
          </a:bodyPr>
          <a:lstStyle/>
          <a:p>
            <a:r>
              <a:rPr lang="en-US" sz="2900">
                <a:solidFill>
                  <a:srgbClr val="1A3F4E"/>
                </a:solidFill>
                <a:sym typeface="+mn-ea"/>
              </a:rPr>
              <a:t>Title Header</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mpty Slide 2">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160" y="415290"/>
            <a:ext cx="7292340" cy="518795"/>
          </a:xfrm>
        </p:spPr>
        <p:txBody>
          <a:bodyPr>
            <a:noAutofit/>
          </a:bodyPr>
          <a:lstStyle/>
          <a:p>
            <a:r>
              <a:rPr lang="en-US" sz="2900">
                <a:solidFill>
                  <a:srgbClr val="1A3F4E"/>
                </a:solidFill>
                <a:sym typeface="+mn-ea"/>
              </a:rPr>
              <a:t>Title Header</a:t>
            </a:r>
          </a:p>
        </p:txBody>
      </p:sp>
      <p:sp>
        <p:nvSpPr>
          <p:cNvPr id="3" name="Slide Number Placeholder 2"/>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1">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17745" y="844550"/>
            <a:ext cx="2556510" cy="518795"/>
          </a:xfrm>
        </p:spPr>
        <p:txBody>
          <a:bodyPr>
            <a:noAutofit/>
          </a:bodyPr>
          <a:lstStyle/>
          <a:p>
            <a:r>
              <a:rPr lang="en-US" sz="2900">
                <a:solidFill>
                  <a:srgbClr val="1A3F4E"/>
                </a:solidFill>
                <a:sym typeface="+mn-ea"/>
              </a:rPr>
              <a:t>Title Header</a:t>
            </a:r>
          </a:p>
        </p:txBody>
      </p:sp>
      <p:sp>
        <p:nvSpPr>
          <p:cNvPr id="6" name="Slide Number Placeholder 5"/>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struction 1_Custom Layout">
    <p:bg>
      <p:bgPr>
        <a:blipFill rotWithShape="1">
          <a:blip r:embed="rId2"/>
          <a:stretch>
            <a:fillRect r="-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03445" y="1974850"/>
            <a:ext cx="2556510" cy="518795"/>
          </a:xfrm>
        </p:spPr>
        <p:txBody>
          <a:bodyPr>
            <a:noAutofit/>
          </a:bodyPr>
          <a:lstStyle/>
          <a:p>
            <a:r>
              <a:rPr lang="en-US" sz="2900">
                <a:solidFill>
                  <a:srgbClr val="1A3F4E"/>
                </a:solidFill>
                <a:sym typeface="+mn-ea"/>
              </a:rPr>
              <a:t>Title Header</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2">
    <p:bg>
      <p:bgPr>
        <a:blipFill rotWithShape="1">
          <a:blip r:embed="rId2"/>
          <a:stretch>
            <a:fillRect l="-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9745" y="679450"/>
            <a:ext cx="2556510" cy="518795"/>
          </a:xfrm>
        </p:spPr>
        <p:txBody>
          <a:bodyPr>
            <a:noAutofit/>
          </a:bodyPr>
          <a:lstStyle/>
          <a:p>
            <a:r>
              <a:rPr lang="en-US" sz="2900">
                <a:solidFill>
                  <a:srgbClr val="1A3F4E"/>
                </a:solidFill>
                <a:sym typeface="+mn-ea"/>
              </a:rPr>
              <a:t>Title Header</a:t>
            </a:r>
          </a:p>
        </p:txBody>
      </p:sp>
      <p:sp>
        <p:nvSpPr>
          <p:cNvPr id="6" name="Slide Number Placeholder 5"/>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Master slide 1">
    <p:bg>
      <p:bgPr>
        <a:blipFill rotWithShape="1">
          <a:blip r:embed="rId2"/>
          <a:stretch>
            <a:fillRect l="-1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BDO Grotesk" charset="0"/>
              </a:defRPr>
            </a:lvl1pPr>
            <a:lvl2pPr>
              <a:defRPr>
                <a:latin typeface="BDO Grotesk" charset="0"/>
              </a:defRPr>
            </a:lvl2pPr>
            <a:lvl3pPr>
              <a:defRPr>
                <a:latin typeface="BDO Grotesk" charset="0"/>
              </a:defRPr>
            </a:lvl3pPr>
            <a:lvl4pPr>
              <a:defRPr>
                <a:latin typeface="BDO Grotesk" charset="0"/>
              </a:defRPr>
            </a:lvl4pPr>
            <a:lvl5pPr>
              <a:defRPr>
                <a:latin typeface="BDO Grotes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a:xfrm>
            <a:off x="8610600" y="6216650"/>
            <a:ext cx="2743200" cy="365125"/>
          </a:xfrm>
        </p:spPr>
        <p:txBody>
          <a:bodyPr/>
          <a:lstStyle/>
          <a:p>
            <a:fld id="{B3561BA9-CDCF-4958-B8AB-66F3BF063E13}" type="slidenum">
              <a:rPr lang="en-US" smtClean="0"/>
              <a:t>‹#›</a:t>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3">
    <p:bg>
      <p:bgPr>
        <a:blipFill rotWithShape="1">
          <a:blip r:embed="rId2"/>
          <a:stretch>
            <a:fillRect l="-1000"/>
          </a:stretch>
        </a:blipFill>
        <a:effectLst/>
      </p:bgPr>
    </p:bg>
    <p:spTree>
      <p:nvGrpSpPr>
        <p:cNvPr id="1" name=""/>
        <p:cNvGrpSpPr/>
        <p:nvPr/>
      </p:nvGrpSpPr>
      <p:grpSpPr>
        <a:xfrm>
          <a:off x="0" y="0"/>
          <a:ext cx="0" cy="0"/>
          <a:chOff x="0" y="0"/>
          <a:chExt cx="0" cy="0"/>
        </a:xfrm>
      </p:grpSpPr>
      <p:sp>
        <p:nvSpPr>
          <p:cNvPr id="14" name="Content Placeholder 6"/>
          <p:cNvSpPr>
            <a:spLocks noGrp="1"/>
          </p:cNvSpPr>
          <p:nvPr>
            <p:ph sz="quarter" idx="13" hasCustomPrompt="1"/>
          </p:nvPr>
        </p:nvSpPr>
        <p:spPr>
          <a:xfrm>
            <a:off x="7718612" y="1255712"/>
            <a:ext cx="4138426" cy="4346575"/>
          </a:xfrm>
          <a:prstGeom prst="rect">
            <a:avLst/>
          </a:prstGeom>
        </p:spPr>
        <p:txBody>
          <a:bodyPr/>
          <a:lstStyle>
            <a:lvl1pPr marL="0" indent="0">
              <a:buNone/>
              <a:defRPr sz="1400">
                <a:solidFill>
                  <a:schemeClr val="bg1"/>
                </a:solidFill>
                <a:latin typeface="Arial" panose="020B0604020202020204" pitchFamily="34" charset="0"/>
                <a:cs typeface="Arial" panose="020B0604020202020204" pitchFamily="34" charset="0"/>
              </a:defRPr>
            </a:lvl1pPr>
          </a:lstStyle>
          <a:p>
            <a:pPr lvl="0"/>
            <a:r>
              <a:rPr lang="en-US"/>
              <a:t>Body Content</a:t>
            </a:r>
            <a:endParaRPr lang="en-GB"/>
          </a:p>
        </p:txBody>
      </p:sp>
      <p:sp>
        <p:nvSpPr>
          <p:cNvPr id="13" name="Title 12"/>
          <p:cNvSpPr>
            <a:spLocks noGrp="1"/>
          </p:cNvSpPr>
          <p:nvPr>
            <p:ph type="title" hasCustomPrompt="1"/>
          </p:nvPr>
        </p:nvSpPr>
        <p:spPr>
          <a:xfrm>
            <a:off x="391160" y="415290"/>
            <a:ext cx="7292340" cy="518795"/>
          </a:xfrm>
        </p:spPr>
        <p:txBody>
          <a:bodyPr>
            <a:noAutofit/>
          </a:bodyPr>
          <a:lstStyle/>
          <a:p>
            <a:r>
              <a:rPr lang="en-US" sz="2900">
                <a:solidFill>
                  <a:srgbClr val="1A3F4E"/>
                </a:solidFill>
                <a:sym typeface="+mn-ea"/>
              </a:rPr>
              <a:t>Title Header</a:t>
            </a:r>
          </a:p>
        </p:txBody>
      </p:sp>
      <p:sp>
        <p:nvSpPr>
          <p:cNvPr id="3" name="Slide Number Placeholder 2"/>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8200" y="1890713"/>
            <a:ext cx="10515600" cy="1500187"/>
          </a:xfrm>
        </p:spPr>
        <p:txBody>
          <a:bodyPr/>
          <a:lstStyle>
            <a:lvl1pPr marL="0" indent="0">
              <a:buNone/>
              <a:defRPr sz="2400">
                <a:solidFill>
                  <a:schemeClr val="tx1">
                    <a:tint val="75000"/>
                  </a:schemeClr>
                </a:solidFill>
                <a:latin typeface="BDO Grotesk"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a:t>
            </a:r>
          </a:p>
        </p:txBody>
      </p:sp>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dership BG">
    <p:bg>
      <p:bgPr>
        <a:blipFill rotWithShape="1">
          <a:blip r:embed="rId2"/>
          <a:stretch>
            <a:fillRect l="-1000"/>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MAster Slide 3">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lvl1pPr>
              <a:defRPr>
                <a:latin typeface="BDO Grotesk" charset="0"/>
              </a:defRPr>
            </a:lvl1pPr>
            <a:lvl2pPr>
              <a:defRPr>
                <a:latin typeface="BDO Grotesk" charset="0"/>
              </a:defRPr>
            </a:lvl2pPr>
            <a:lvl3pPr>
              <a:defRPr>
                <a:latin typeface="BDO Grotesk" charset="0"/>
              </a:defRPr>
            </a:lvl3pPr>
            <a:lvl4pPr>
              <a:defRPr>
                <a:latin typeface="BDO Grotesk" charset="0"/>
              </a:defRPr>
            </a:lvl4pPr>
            <a:lvl5pPr>
              <a:defRPr>
                <a:latin typeface="BDO Grotes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BDO Grotesk" charset="0"/>
              </a:defRPr>
            </a:lvl1pPr>
            <a:lvl2pPr>
              <a:defRPr>
                <a:latin typeface="BDO Grotesk" charset="0"/>
              </a:defRPr>
            </a:lvl2pPr>
            <a:lvl3pPr>
              <a:defRPr>
                <a:latin typeface="BDO Grotesk" charset="0"/>
              </a:defRPr>
            </a:lvl3pPr>
            <a:lvl4pPr>
              <a:defRPr>
                <a:latin typeface="BDO Grotesk" charset="0"/>
              </a:defRPr>
            </a:lvl4pPr>
            <a:lvl5pPr>
              <a:defRPr>
                <a:latin typeface="BDO Grotes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Master slide  4">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105" y="1861820"/>
            <a:ext cx="3931920" cy="980440"/>
          </a:xfrm>
        </p:spPr>
        <p:txBody>
          <a:bodyPr anchor="b"/>
          <a:lstStyle>
            <a:lvl1pPr>
              <a:defRPr sz="3200">
                <a:latin typeface="BDO Grotesk" charset="0"/>
              </a:defRPr>
            </a:lvl1pPr>
          </a:lstStyle>
          <a:p>
            <a:r>
              <a:rPr lang="en-US"/>
              <a:t>Click to edit Master title style</a:t>
            </a:r>
          </a:p>
        </p:txBody>
      </p:sp>
      <p:sp>
        <p:nvSpPr>
          <p:cNvPr id="3" name="Picture Placeholder 2"/>
          <p:cNvSpPr>
            <a:spLocks noGrp="1"/>
          </p:cNvSpPr>
          <p:nvPr>
            <p:ph type="pic" idx="1"/>
          </p:nvPr>
        </p:nvSpPr>
        <p:spPr>
          <a:xfrm>
            <a:off x="5183505" y="1861820"/>
            <a:ext cx="6172200" cy="3999230"/>
          </a:xfrm>
        </p:spPr>
        <p:txBody>
          <a:bodyPr/>
          <a:lstStyle>
            <a:lvl1pPr marL="0" indent="0">
              <a:buNone/>
              <a:defRPr sz="3200">
                <a:latin typeface="BDO Grotesk"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105" y="2842260"/>
            <a:ext cx="3931920" cy="3027045"/>
          </a:xfrm>
        </p:spPr>
        <p:txBody>
          <a:bodyPr/>
          <a:lstStyle>
            <a:lvl1pPr marL="0" indent="0">
              <a:buNone/>
              <a:defRPr sz="1600">
                <a:latin typeface="BDO Grotesk"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erit Line Arts">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4"/>
          <p:cNvSpPr>
            <a:spLocks noGrp="1"/>
          </p:cNvSpPr>
          <p:nvPr userDrawn="1"/>
        </p:nvSpPr>
        <p:spPr>
          <a:xfrm>
            <a:off x="5196205" y="640080"/>
            <a:ext cx="1799590" cy="5035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1800" kern="1200">
                <a:solidFill>
                  <a:schemeClr val="bg1"/>
                </a:solidFill>
                <a:latin typeface="BDO Grotesk DemiBold" charset="0"/>
                <a:ea typeface="+mj-ea"/>
                <a:cs typeface="+mj-cs"/>
              </a:defRPr>
            </a:lvl1pPr>
          </a:lstStyle>
          <a:p>
            <a:pPr algn="ctr"/>
            <a:r>
              <a:rPr lang="en-IN" altLang="en-US" sz="2900"/>
              <a:t>Line Arts</a:t>
            </a:r>
          </a:p>
        </p:txBody>
      </p:sp>
      <p:pic>
        <p:nvPicPr>
          <p:cNvPr id="7" name="Content Placeholder 6"/>
          <p:cNvPicPr>
            <a:picLocks noGrp="1" noChangeAspect="1"/>
          </p:cNvPicPr>
          <p:nvPr>
            <p:ph idx="1"/>
          </p:nvPr>
        </p:nvPicPr>
        <p:blipFill>
          <a:blip r:embed="rId3"/>
          <a:stretch>
            <a:fillRect/>
          </a:stretch>
        </p:blipFill>
        <p:spPr>
          <a:xfrm>
            <a:off x="364490" y="1809115"/>
            <a:ext cx="1360805" cy="970915"/>
          </a:xfrm>
          <a:prstGeom prst="rect">
            <a:avLst/>
          </a:prstGeom>
        </p:spPr>
      </p:pic>
      <p:pic>
        <p:nvPicPr>
          <p:cNvPr id="8" name="Picture 7"/>
          <p:cNvPicPr>
            <a:picLocks noChangeAspect="1"/>
          </p:cNvPicPr>
          <p:nvPr userDrawn="1"/>
        </p:nvPicPr>
        <p:blipFill>
          <a:blip r:embed="rId4"/>
          <a:stretch>
            <a:fillRect/>
          </a:stretch>
        </p:blipFill>
        <p:spPr>
          <a:xfrm>
            <a:off x="1609090" y="1856740"/>
            <a:ext cx="1226820" cy="875030"/>
          </a:xfrm>
          <a:prstGeom prst="rect">
            <a:avLst/>
          </a:prstGeom>
        </p:spPr>
      </p:pic>
      <p:pic>
        <p:nvPicPr>
          <p:cNvPr id="9" name="Picture 8"/>
          <p:cNvPicPr>
            <a:picLocks noChangeAspect="1"/>
          </p:cNvPicPr>
          <p:nvPr userDrawn="1"/>
        </p:nvPicPr>
        <p:blipFill>
          <a:blip r:embed="rId5"/>
          <a:stretch>
            <a:fillRect/>
          </a:stretch>
        </p:blipFill>
        <p:spPr>
          <a:xfrm>
            <a:off x="2835910" y="1991995"/>
            <a:ext cx="1036320" cy="739775"/>
          </a:xfrm>
          <a:prstGeom prst="rect">
            <a:avLst/>
          </a:prstGeom>
        </p:spPr>
      </p:pic>
      <p:pic>
        <p:nvPicPr>
          <p:cNvPr id="10" name="Picture 9"/>
          <p:cNvPicPr>
            <a:picLocks noChangeAspect="1"/>
          </p:cNvPicPr>
          <p:nvPr userDrawn="1"/>
        </p:nvPicPr>
        <p:blipFill>
          <a:blip r:embed="rId6"/>
          <a:stretch>
            <a:fillRect/>
          </a:stretch>
        </p:blipFill>
        <p:spPr>
          <a:xfrm>
            <a:off x="3975100" y="1856740"/>
            <a:ext cx="1077595" cy="768985"/>
          </a:xfrm>
          <a:prstGeom prst="rect">
            <a:avLst/>
          </a:prstGeom>
        </p:spPr>
      </p:pic>
      <p:pic>
        <p:nvPicPr>
          <p:cNvPr id="11" name="Picture 10"/>
          <p:cNvPicPr>
            <a:picLocks noChangeAspect="1"/>
          </p:cNvPicPr>
          <p:nvPr userDrawn="1"/>
        </p:nvPicPr>
        <p:blipFill>
          <a:blip r:embed="rId7"/>
          <a:stretch>
            <a:fillRect/>
          </a:stretch>
        </p:blipFill>
        <p:spPr>
          <a:xfrm>
            <a:off x="5532120" y="1661795"/>
            <a:ext cx="1127760" cy="804545"/>
          </a:xfrm>
          <a:prstGeom prst="rect">
            <a:avLst/>
          </a:prstGeom>
        </p:spPr>
      </p:pic>
      <p:pic>
        <p:nvPicPr>
          <p:cNvPr id="12" name="Picture 11"/>
          <p:cNvPicPr>
            <a:picLocks noChangeAspect="1"/>
          </p:cNvPicPr>
          <p:nvPr userDrawn="1"/>
        </p:nvPicPr>
        <p:blipFill>
          <a:blip r:embed="rId8"/>
          <a:stretch>
            <a:fillRect/>
          </a:stretch>
        </p:blipFill>
        <p:spPr>
          <a:xfrm>
            <a:off x="8453755" y="1991995"/>
            <a:ext cx="1209675" cy="758190"/>
          </a:xfrm>
          <a:prstGeom prst="rect">
            <a:avLst/>
          </a:prstGeom>
        </p:spPr>
      </p:pic>
      <p:pic>
        <p:nvPicPr>
          <p:cNvPr id="13" name="Picture 12"/>
          <p:cNvPicPr>
            <a:picLocks noChangeAspect="1"/>
          </p:cNvPicPr>
          <p:nvPr userDrawn="1"/>
        </p:nvPicPr>
        <p:blipFill>
          <a:blip r:embed="rId9"/>
          <a:stretch>
            <a:fillRect/>
          </a:stretch>
        </p:blipFill>
        <p:spPr>
          <a:xfrm>
            <a:off x="10053320" y="2012950"/>
            <a:ext cx="977265" cy="697865"/>
          </a:xfrm>
          <a:prstGeom prst="rect">
            <a:avLst/>
          </a:prstGeom>
        </p:spPr>
      </p:pic>
      <p:pic>
        <p:nvPicPr>
          <p:cNvPr id="14" name="Picture 13"/>
          <p:cNvPicPr>
            <a:picLocks noChangeAspect="1"/>
          </p:cNvPicPr>
          <p:nvPr userDrawn="1"/>
        </p:nvPicPr>
        <p:blipFill>
          <a:blip r:embed="rId10"/>
          <a:stretch>
            <a:fillRect/>
          </a:stretch>
        </p:blipFill>
        <p:spPr>
          <a:xfrm>
            <a:off x="6682105" y="2078990"/>
            <a:ext cx="1537970" cy="967105"/>
          </a:xfrm>
          <a:prstGeom prst="rect">
            <a:avLst/>
          </a:prstGeom>
        </p:spPr>
      </p:pic>
      <p:pic>
        <p:nvPicPr>
          <p:cNvPr id="15" name="Picture 14"/>
          <p:cNvPicPr>
            <a:picLocks noChangeAspect="1"/>
          </p:cNvPicPr>
          <p:nvPr userDrawn="1"/>
        </p:nvPicPr>
        <p:blipFill>
          <a:blip r:embed="rId11"/>
          <a:stretch>
            <a:fillRect/>
          </a:stretch>
        </p:blipFill>
        <p:spPr>
          <a:xfrm>
            <a:off x="628650" y="3046095"/>
            <a:ext cx="1096645" cy="782320"/>
          </a:xfrm>
          <a:prstGeom prst="rect">
            <a:avLst/>
          </a:prstGeom>
        </p:spPr>
      </p:pic>
      <p:pic>
        <p:nvPicPr>
          <p:cNvPr id="16" name="Picture 15"/>
          <p:cNvPicPr>
            <a:picLocks noChangeAspect="1"/>
          </p:cNvPicPr>
          <p:nvPr userDrawn="1"/>
        </p:nvPicPr>
        <p:blipFill>
          <a:blip r:embed="rId12"/>
          <a:stretch>
            <a:fillRect/>
          </a:stretch>
        </p:blipFill>
        <p:spPr>
          <a:xfrm>
            <a:off x="1857375" y="2877185"/>
            <a:ext cx="1199515" cy="855980"/>
          </a:xfrm>
          <a:prstGeom prst="rect">
            <a:avLst/>
          </a:prstGeom>
        </p:spPr>
      </p:pic>
      <p:pic>
        <p:nvPicPr>
          <p:cNvPr id="17" name="Picture 16"/>
          <p:cNvPicPr>
            <a:picLocks noChangeAspect="1"/>
          </p:cNvPicPr>
          <p:nvPr userDrawn="1"/>
        </p:nvPicPr>
        <p:blipFill>
          <a:blip r:embed="rId13"/>
          <a:stretch>
            <a:fillRect/>
          </a:stretch>
        </p:blipFill>
        <p:spPr>
          <a:xfrm>
            <a:off x="3109595" y="3128645"/>
            <a:ext cx="865505" cy="617220"/>
          </a:xfrm>
          <a:prstGeom prst="rect">
            <a:avLst/>
          </a:prstGeom>
        </p:spPr>
      </p:pic>
      <p:pic>
        <p:nvPicPr>
          <p:cNvPr id="18" name="Picture 17"/>
          <p:cNvPicPr>
            <a:picLocks noChangeAspect="1"/>
          </p:cNvPicPr>
          <p:nvPr userDrawn="1"/>
        </p:nvPicPr>
        <p:blipFill>
          <a:blip r:embed="rId14"/>
          <a:stretch>
            <a:fillRect/>
          </a:stretch>
        </p:blipFill>
        <p:spPr>
          <a:xfrm>
            <a:off x="3879215" y="2877185"/>
            <a:ext cx="1270000" cy="906145"/>
          </a:xfrm>
          <a:prstGeom prst="rect">
            <a:avLst/>
          </a:prstGeom>
        </p:spPr>
      </p:pic>
      <p:pic>
        <p:nvPicPr>
          <p:cNvPr id="19" name="Picture 18"/>
          <p:cNvPicPr>
            <a:picLocks noChangeAspect="1"/>
          </p:cNvPicPr>
          <p:nvPr userDrawn="1"/>
        </p:nvPicPr>
        <p:blipFill>
          <a:blip r:embed="rId15"/>
          <a:stretch>
            <a:fillRect/>
          </a:stretch>
        </p:blipFill>
        <p:spPr>
          <a:xfrm>
            <a:off x="5149215" y="3077210"/>
            <a:ext cx="1009650" cy="720090"/>
          </a:xfrm>
          <a:prstGeom prst="rect">
            <a:avLst/>
          </a:prstGeom>
        </p:spPr>
      </p:pic>
      <p:pic>
        <p:nvPicPr>
          <p:cNvPr id="20" name="Picture 19"/>
          <p:cNvPicPr>
            <a:picLocks noChangeAspect="1"/>
          </p:cNvPicPr>
          <p:nvPr userDrawn="1"/>
        </p:nvPicPr>
        <p:blipFill>
          <a:blip r:embed="rId16"/>
          <a:stretch>
            <a:fillRect/>
          </a:stretch>
        </p:blipFill>
        <p:spPr>
          <a:xfrm>
            <a:off x="6356350" y="3169285"/>
            <a:ext cx="808355" cy="576580"/>
          </a:xfrm>
          <a:prstGeom prst="rect">
            <a:avLst/>
          </a:prstGeom>
        </p:spPr>
      </p:pic>
      <p:pic>
        <p:nvPicPr>
          <p:cNvPr id="21" name="Picture 20"/>
          <p:cNvPicPr>
            <a:picLocks noChangeAspect="1"/>
          </p:cNvPicPr>
          <p:nvPr userDrawn="1"/>
        </p:nvPicPr>
        <p:blipFill>
          <a:blip r:embed="rId17"/>
          <a:stretch>
            <a:fillRect/>
          </a:stretch>
        </p:blipFill>
        <p:spPr>
          <a:xfrm>
            <a:off x="7444105" y="3025775"/>
            <a:ext cx="1009650" cy="720090"/>
          </a:xfrm>
          <a:prstGeom prst="rect">
            <a:avLst/>
          </a:prstGeom>
        </p:spPr>
      </p:pic>
      <p:pic>
        <p:nvPicPr>
          <p:cNvPr id="22" name="Picture 21"/>
          <p:cNvPicPr>
            <a:picLocks noChangeAspect="1"/>
          </p:cNvPicPr>
          <p:nvPr userDrawn="1"/>
        </p:nvPicPr>
        <p:blipFill>
          <a:blip r:embed="rId18"/>
          <a:stretch>
            <a:fillRect/>
          </a:stretch>
        </p:blipFill>
        <p:spPr>
          <a:xfrm>
            <a:off x="8453755" y="3129280"/>
            <a:ext cx="935990" cy="668020"/>
          </a:xfrm>
          <a:prstGeom prst="rect">
            <a:avLst/>
          </a:prstGeom>
        </p:spPr>
      </p:pic>
      <p:pic>
        <p:nvPicPr>
          <p:cNvPr id="23" name="Picture 22"/>
          <p:cNvPicPr>
            <a:picLocks noChangeAspect="1"/>
          </p:cNvPicPr>
          <p:nvPr userDrawn="1"/>
        </p:nvPicPr>
        <p:blipFill>
          <a:blip r:embed="rId19"/>
          <a:stretch>
            <a:fillRect/>
          </a:stretch>
        </p:blipFill>
        <p:spPr>
          <a:xfrm>
            <a:off x="9488170" y="3025775"/>
            <a:ext cx="1130300" cy="806450"/>
          </a:xfrm>
          <a:prstGeom prst="rect">
            <a:avLst/>
          </a:prstGeom>
        </p:spPr>
      </p:pic>
      <p:pic>
        <p:nvPicPr>
          <p:cNvPr id="24" name="Picture 23"/>
          <p:cNvPicPr>
            <a:picLocks noChangeAspect="1"/>
          </p:cNvPicPr>
          <p:nvPr userDrawn="1"/>
        </p:nvPicPr>
        <p:blipFill>
          <a:blip r:embed="rId20"/>
          <a:stretch>
            <a:fillRect/>
          </a:stretch>
        </p:blipFill>
        <p:spPr>
          <a:xfrm>
            <a:off x="10787380" y="3165475"/>
            <a:ext cx="813435" cy="580390"/>
          </a:xfrm>
          <a:prstGeom prst="rect">
            <a:avLst/>
          </a:prstGeom>
        </p:spPr>
      </p:pic>
      <p:pic>
        <p:nvPicPr>
          <p:cNvPr id="25" name="Picture 24"/>
          <p:cNvPicPr>
            <a:picLocks noChangeAspect="1"/>
          </p:cNvPicPr>
          <p:nvPr userDrawn="1"/>
        </p:nvPicPr>
        <p:blipFill>
          <a:blip r:embed="rId21"/>
          <a:stretch>
            <a:fillRect/>
          </a:stretch>
        </p:blipFill>
        <p:spPr>
          <a:xfrm>
            <a:off x="780415" y="4105275"/>
            <a:ext cx="793750" cy="566420"/>
          </a:xfrm>
          <a:prstGeom prst="rect">
            <a:avLst/>
          </a:prstGeom>
        </p:spPr>
      </p:pic>
      <p:pic>
        <p:nvPicPr>
          <p:cNvPr id="26" name="Picture 25"/>
          <p:cNvPicPr>
            <a:picLocks noChangeAspect="1"/>
          </p:cNvPicPr>
          <p:nvPr userDrawn="1"/>
        </p:nvPicPr>
        <p:blipFill>
          <a:blip r:embed="rId22"/>
          <a:stretch>
            <a:fillRect/>
          </a:stretch>
        </p:blipFill>
        <p:spPr>
          <a:xfrm>
            <a:off x="1948815" y="3945890"/>
            <a:ext cx="1016635" cy="725805"/>
          </a:xfrm>
          <a:prstGeom prst="rect">
            <a:avLst/>
          </a:prstGeom>
        </p:spPr>
      </p:pic>
      <p:pic>
        <p:nvPicPr>
          <p:cNvPr id="27" name="Picture 26"/>
          <p:cNvPicPr>
            <a:picLocks noChangeAspect="1"/>
          </p:cNvPicPr>
          <p:nvPr userDrawn="1"/>
        </p:nvPicPr>
        <p:blipFill>
          <a:blip r:embed="rId23"/>
          <a:stretch>
            <a:fillRect/>
          </a:stretch>
        </p:blipFill>
        <p:spPr>
          <a:xfrm>
            <a:off x="3439160" y="3724275"/>
            <a:ext cx="1327785" cy="947420"/>
          </a:xfrm>
          <a:prstGeom prst="rect">
            <a:avLst/>
          </a:prstGeom>
        </p:spPr>
      </p:pic>
      <p:pic>
        <p:nvPicPr>
          <p:cNvPr id="28" name="Picture 27"/>
          <p:cNvPicPr>
            <a:picLocks noChangeAspect="1"/>
          </p:cNvPicPr>
          <p:nvPr userDrawn="1"/>
        </p:nvPicPr>
        <p:blipFill>
          <a:blip r:embed="rId24"/>
          <a:stretch>
            <a:fillRect/>
          </a:stretch>
        </p:blipFill>
        <p:spPr>
          <a:xfrm>
            <a:off x="5088890" y="3985260"/>
            <a:ext cx="1130300" cy="806450"/>
          </a:xfrm>
          <a:prstGeom prst="rect">
            <a:avLst/>
          </a:prstGeom>
        </p:spPr>
      </p:pic>
      <p:pic>
        <p:nvPicPr>
          <p:cNvPr id="29" name="Picture 28"/>
          <p:cNvPicPr>
            <a:picLocks noChangeAspect="1"/>
          </p:cNvPicPr>
          <p:nvPr userDrawn="1"/>
        </p:nvPicPr>
        <p:blipFill>
          <a:blip r:embed="rId25"/>
          <a:stretch>
            <a:fillRect/>
          </a:stretch>
        </p:blipFill>
        <p:spPr>
          <a:xfrm>
            <a:off x="6342380" y="4105275"/>
            <a:ext cx="822325" cy="586740"/>
          </a:xfrm>
          <a:prstGeom prst="rect">
            <a:avLst/>
          </a:prstGeom>
        </p:spPr>
      </p:pic>
      <p:pic>
        <p:nvPicPr>
          <p:cNvPr id="30" name="Picture 29"/>
          <p:cNvPicPr>
            <a:picLocks noChangeAspect="1"/>
          </p:cNvPicPr>
          <p:nvPr userDrawn="1"/>
        </p:nvPicPr>
        <p:blipFill>
          <a:blip r:embed="rId26"/>
          <a:stretch>
            <a:fillRect/>
          </a:stretch>
        </p:blipFill>
        <p:spPr>
          <a:xfrm>
            <a:off x="7538085" y="4204970"/>
            <a:ext cx="822325" cy="586740"/>
          </a:xfrm>
          <a:prstGeom prst="rect">
            <a:avLst/>
          </a:prstGeom>
        </p:spPr>
      </p:pic>
      <p:pic>
        <p:nvPicPr>
          <p:cNvPr id="31" name="Picture 30"/>
          <p:cNvPicPr>
            <a:picLocks noChangeAspect="1"/>
          </p:cNvPicPr>
          <p:nvPr userDrawn="1"/>
        </p:nvPicPr>
        <p:blipFill>
          <a:blip r:embed="rId27"/>
          <a:stretch>
            <a:fillRect/>
          </a:stretch>
        </p:blipFill>
        <p:spPr>
          <a:xfrm>
            <a:off x="8639175" y="4256405"/>
            <a:ext cx="750570" cy="535305"/>
          </a:xfrm>
          <a:prstGeom prst="rect">
            <a:avLst/>
          </a:prstGeom>
        </p:spPr>
      </p:pic>
      <p:pic>
        <p:nvPicPr>
          <p:cNvPr id="32" name="Picture 31"/>
          <p:cNvPicPr>
            <a:picLocks noChangeAspect="1"/>
          </p:cNvPicPr>
          <p:nvPr userDrawn="1"/>
        </p:nvPicPr>
        <p:blipFill>
          <a:blip r:embed="rId28"/>
          <a:stretch>
            <a:fillRect/>
          </a:stretch>
        </p:blipFill>
        <p:spPr>
          <a:xfrm>
            <a:off x="9648825" y="4204970"/>
            <a:ext cx="808355" cy="576580"/>
          </a:xfrm>
          <a:prstGeom prst="rect">
            <a:avLst/>
          </a:prstGeom>
        </p:spPr>
      </p:pic>
      <p:pic>
        <p:nvPicPr>
          <p:cNvPr id="33" name="Picture 32"/>
          <p:cNvPicPr>
            <a:picLocks noChangeAspect="1"/>
          </p:cNvPicPr>
          <p:nvPr userDrawn="1"/>
        </p:nvPicPr>
        <p:blipFill>
          <a:blip r:embed="rId29"/>
          <a:stretch>
            <a:fillRect/>
          </a:stretch>
        </p:blipFill>
        <p:spPr>
          <a:xfrm>
            <a:off x="10787380" y="4108450"/>
            <a:ext cx="813435" cy="580390"/>
          </a:xfrm>
          <a:prstGeom prst="rect">
            <a:avLst/>
          </a:prstGeom>
        </p:spPr>
      </p:pic>
      <p:pic>
        <p:nvPicPr>
          <p:cNvPr id="34" name="Picture 33"/>
          <p:cNvPicPr>
            <a:picLocks noChangeAspect="1"/>
          </p:cNvPicPr>
          <p:nvPr userDrawn="1"/>
        </p:nvPicPr>
        <p:blipFill>
          <a:blip r:embed="rId30"/>
          <a:stretch>
            <a:fillRect/>
          </a:stretch>
        </p:blipFill>
        <p:spPr>
          <a:xfrm>
            <a:off x="671830" y="4888865"/>
            <a:ext cx="1009650" cy="720090"/>
          </a:xfrm>
          <a:prstGeom prst="rect">
            <a:avLst/>
          </a:prstGeom>
        </p:spPr>
      </p:pic>
      <p:pic>
        <p:nvPicPr>
          <p:cNvPr id="35" name="Picture 34"/>
          <p:cNvPicPr>
            <a:picLocks noChangeAspect="1"/>
          </p:cNvPicPr>
          <p:nvPr userDrawn="1"/>
        </p:nvPicPr>
        <p:blipFill>
          <a:blip r:embed="rId31"/>
          <a:stretch>
            <a:fillRect/>
          </a:stretch>
        </p:blipFill>
        <p:spPr>
          <a:xfrm>
            <a:off x="1948815" y="4986655"/>
            <a:ext cx="735965" cy="525145"/>
          </a:xfrm>
          <a:prstGeom prst="rect">
            <a:avLst/>
          </a:prstGeom>
        </p:spPr>
      </p:pic>
      <p:pic>
        <p:nvPicPr>
          <p:cNvPr id="36" name="Picture 35"/>
          <p:cNvPicPr>
            <a:picLocks noChangeAspect="1"/>
          </p:cNvPicPr>
          <p:nvPr userDrawn="1"/>
        </p:nvPicPr>
        <p:blipFill>
          <a:blip r:embed="rId32"/>
          <a:stretch>
            <a:fillRect/>
          </a:stretch>
        </p:blipFill>
        <p:spPr>
          <a:xfrm>
            <a:off x="2979420" y="4801235"/>
            <a:ext cx="995680" cy="710565"/>
          </a:xfrm>
          <a:prstGeom prst="rect">
            <a:avLst/>
          </a:prstGeom>
        </p:spPr>
      </p:pic>
      <p:pic>
        <p:nvPicPr>
          <p:cNvPr id="38" name="Picture 37"/>
          <p:cNvPicPr>
            <a:picLocks noChangeAspect="1"/>
          </p:cNvPicPr>
          <p:nvPr userDrawn="1"/>
        </p:nvPicPr>
        <p:blipFill>
          <a:blip r:embed="rId33"/>
          <a:stretch>
            <a:fillRect/>
          </a:stretch>
        </p:blipFill>
        <p:spPr>
          <a:xfrm>
            <a:off x="4258310" y="4986655"/>
            <a:ext cx="794385" cy="567055"/>
          </a:xfrm>
          <a:prstGeom prst="rect">
            <a:avLst/>
          </a:prstGeom>
        </p:spPr>
      </p:pic>
      <p:pic>
        <p:nvPicPr>
          <p:cNvPr id="39" name="Picture 38"/>
          <p:cNvPicPr>
            <a:picLocks noChangeAspect="1"/>
          </p:cNvPicPr>
          <p:nvPr userDrawn="1"/>
        </p:nvPicPr>
        <p:blipFill>
          <a:blip r:embed="rId34"/>
          <a:stretch>
            <a:fillRect/>
          </a:stretch>
        </p:blipFill>
        <p:spPr>
          <a:xfrm>
            <a:off x="5422900" y="5083810"/>
            <a:ext cx="735965" cy="525145"/>
          </a:xfrm>
          <a:prstGeom prst="rect">
            <a:avLst/>
          </a:prstGeom>
        </p:spPr>
      </p:pic>
      <p:pic>
        <p:nvPicPr>
          <p:cNvPr id="40" name="Picture 39"/>
          <p:cNvPicPr>
            <a:picLocks noChangeAspect="1"/>
          </p:cNvPicPr>
          <p:nvPr userDrawn="1"/>
        </p:nvPicPr>
        <p:blipFill>
          <a:blip r:embed="rId35"/>
          <a:stretch>
            <a:fillRect/>
          </a:stretch>
        </p:blipFill>
        <p:spPr>
          <a:xfrm>
            <a:off x="6589395" y="4855210"/>
            <a:ext cx="1056005" cy="753745"/>
          </a:xfrm>
          <a:prstGeom prst="rect">
            <a:avLst/>
          </a:prstGeom>
        </p:spPr>
      </p:pic>
      <p:pic>
        <p:nvPicPr>
          <p:cNvPr id="41" name="Picture 40"/>
          <p:cNvPicPr>
            <a:picLocks noChangeAspect="1"/>
          </p:cNvPicPr>
          <p:nvPr userDrawn="1"/>
        </p:nvPicPr>
        <p:blipFill>
          <a:blip r:embed="rId36"/>
          <a:stretch>
            <a:fillRect/>
          </a:stretch>
        </p:blipFill>
        <p:spPr>
          <a:xfrm>
            <a:off x="7972425" y="4966335"/>
            <a:ext cx="851535" cy="607695"/>
          </a:xfrm>
          <a:prstGeom prst="rect">
            <a:avLst/>
          </a:prstGeom>
        </p:spPr>
      </p:pic>
      <p:pic>
        <p:nvPicPr>
          <p:cNvPr id="42" name="Picture 41"/>
          <p:cNvPicPr>
            <a:picLocks noChangeAspect="1"/>
          </p:cNvPicPr>
          <p:nvPr userDrawn="1"/>
        </p:nvPicPr>
        <p:blipFill>
          <a:blip r:embed="rId37"/>
          <a:stretch>
            <a:fillRect/>
          </a:stretch>
        </p:blipFill>
        <p:spPr>
          <a:xfrm>
            <a:off x="9011920" y="4855210"/>
            <a:ext cx="889000" cy="634365"/>
          </a:xfrm>
          <a:prstGeom prst="rect">
            <a:avLst/>
          </a:prstGeom>
        </p:spPr>
      </p:pic>
      <p:pic>
        <p:nvPicPr>
          <p:cNvPr id="43" name="Picture 42"/>
          <p:cNvPicPr>
            <a:picLocks noChangeAspect="1"/>
          </p:cNvPicPr>
          <p:nvPr userDrawn="1"/>
        </p:nvPicPr>
        <p:blipFill>
          <a:blip r:embed="rId22"/>
          <a:stretch>
            <a:fillRect/>
          </a:stretch>
        </p:blipFill>
        <p:spPr>
          <a:xfrm>
            <a:off x="10296525" y="4847590"/>
            <a:ext cx="866140" cy="617855"/>
          </a:xfrm>
          <a:prstGeom prst="rect">
            <a:avLst/>
          </a:prstGeom>
        </p:spPr>
      </p:pic>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
        <p:nvSpPr>
          <p:cNvPr id="6" name="Rectangle 5"/>
          <p:cNvSpPr/>
          <p:nvPr userDrawn="1"/>
        </p:nvSpPr>
        <p:spPr>
          <a:xfrm>
            <a:off x="1270" y="1905"/>
            <a:ext cx="12190095" cy="6868795"/>
          </a:xfrm>
          <a:prstGeom prst="rect">
            <a:avLst/>
          </a:prstGeom>
          <a:solidFill>
            <a:srgbClr val="1640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Normal Slide 1">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Slide 3">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ap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9725" y="302260"/>
            <a:ext cx="7292340" cy="518795"/>
          </a:xfrm>
        </p:spPr>
        <p:txBody>
          <a:bodyPr>
            <a:noAutofit/>
          </a:bodyPr>
          <a:lstStyle/>
          <a:p>
            <a:r>
              <a:rPr lang="en-US" sz="2900">
                <a:solidFill>
                  <a:srgbClr val="1A3F4E"/>
                </a:solidFill>
                <a:sym typeface="+mn-ea"/>
              </a:rPr>
              <a:t>Title Header</a:t>
            </a:r>
          </a:p>
        </p:txBody>
      </p:sp>
      <p:sp>
        <p:nvSpPr>
          <p:cNvPr id="3" name="Slide Number Placeholder 2"/>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4369435" y="857250"/>
            <a:ext cx="2556510" cy="518795"/>
          </a:xfrm>
        </p:spPr>
        <p:txBody>
          <a:bodyPr>
            <a:noAutofit/>
          </a:bodyPr>
          <a:lstStyle/>
          <a:p>
            <a:r>
              <a:rPr lang="en-US" sz="2900">
                <a:solidFill>
                  <a:srgbClr val="1A3F4E"/>
                </a:solidFill>
                <a:sym typeface="+mn-ea"/>
              </a:rPr>
              <a:t>Title Header</a:t>
            </a:r>
          </a:p>
        </p:txBody>
      </p:sp>
      <p:sp>
        <p:nvSpPr>
          <p:cNvPr id="3" name="Slide Number Placeholder 2"/>
          <p:cNvSpPr>
            <a:spLocks noGrp="1"/>
          </p:cNvSpPr>
          <p:nvPr>
            <p:ph type="sldNum" sz="quarter" idx="12"/>
          </p:nvPr>
        </p:nvSpPr>
        <p:spPr>
          <a:xfrm>
            <a:off x="8928100" y="6508750"/>
            <a:ext cx="2743200" cy="365125"/>
          </a:xfrm>
        </p:spPr>
        <p:txBody>
          <a:bodyPr/>
          <a:lstStyle>
            <a:lvl1pPr>
              <a:defRPr>
                <a:solidFill>
                  <a:srgbClr val="023047"/>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1475740"/>
            <a:ext cx="10515600" cy="47015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a:xfrm>
            <a:off x="637540" y="222250"/>
            <a:ext cx="9635490" cy="907415"/>
          </a:xfrm>
        </p:spPr>
        <p:txBody>
          <a:bodyPr/>
          <a:lstStyle>
            <a:lvl1pPr>
              <a:defRPr sz="3600"/>
            </a:lvl1pPr>
          </a:lstStyle>
          <a:p>
            <a:r>
              <a:rPr lang="en-US"/>
              <a:t>Click to edit Master title style</a:t>
            </a:r>
          </a:p>
        </p:txBody>
      </p:sp>
      <p:sp>
        <p:nvSpPr>
          <p:cNvPr id="5" name="Slide Number Placeholder 4"/>
          <p:cNvSpPr>
            <a:spLocks noGrp="1"/>
          </p:cNvSpPr>
          <p:nvPr>
            <p:ph type="sldNum" sz="quarter" idx="12"/>
          </p:nvPr>
        </p:nvSpPr>
        <p:spPr>
          <a:xfrm>
            <a:off x="8928100" y="6508750"/>
            <a:ext cx="2743200" cy="365125"/>
          </a:xfrm>
        </p:spPr>
        <p:txBody>
          <a:bodyPr/>
          <a:lstStyle>
            <a:lvl1pPr>
              <a:defRPr>
                <a:solidFill>
                  <a:schemeClr val="bg1"/>
                </a:solidFill>
              </a:defRPr>
            </a:lvl1pPr>
          </a:lstStyle>
          <a:p>
            <a:fld id="{B3561BA9-CDCF-4958-B8AB-66F3BF063E13}" type="slidenum">
              <a:rPr lang="en-US" smtClean="0"/>
              <a:t>‹#›</a:t>
            </a:fld>
            <a:endParaRPr lang="en-US"/>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st Slide">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t>11/17/2025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hdr="0" ftr="0" dt="0"/>
  <p:txStyles>
    <p:titleStyle>
      <a:lvl1pPr algn="l" defTabSz="914400" rtl="0" eaLnBrk="1" latinLnBrk="0" hangingPunct="1">
        <a:lnSpc>
          <a:spcPct val="90000"/>
        </a:lnSpc>
        <a:spcBef>
          <a:spcPct val="0"/>
        </a:spcBef>
        <a:buNone/>
        <a:defRPr sz="4400" kern="1200">
          <a:solidFill>
            <a:schemeClr val="tx1"/>
          </a:solidFill>
          <a:latin typeface="BDO Grotesk DemiBold"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093595" y="1703240"/>
            <a:ext cx="10271762" cy="1337945"/>
          </a:xfrm>
        </p:spPr>
        <p:txBody>
          <a:bodyPr vert="horz" lIns="91440" tIns="45720" rIns="91440" bIns="45720" rtlCol="0" anchor="t">
            <a:noAutofit/>
          </a:bodyPr>
          <a:lstStyle/>
          <a:p>
            <a:pPr algn="l">
              <a:lnSpc>
                <a:spcPct val="100000"/>
              </a:lnSpc>
            </a:pPr>
            <a:r>
              <a:rPr lang="en-IN" sz="3000" b="0">
                <a:solidFill>
                  <a:srgbClr val="1A3F4E"/>
                </a:solidFill>
                <a:latin typeface="BDO Grotesk Black"/>
                <a:ea typeface="Calibri"/>
                <a:cs typeface="Times New Roman"/>
                <a:sym typeface="+mn-ea"/>
              </a:rPr>
              <a:t>Automated Data Extraction Solution Approach Note </a:t>
            </a:r>
          </a:p>
          <a:p>
            <a:pPr algn="l">
              <a:lnSpc>
                <a:spcPct val="100000"/>
              </a:lnSpc>
            </a:pPr>
            <a:r>
              <a:rPr lang="en-US" sz="2400" b="0">
                <a:solidFill>
                  <a:srgbClr val="769467"/>
                </a:solidFill>
                <a:latin typeface="BDO Grotesk" charset="0"/>
                <a:sym typeface="+mn-ea"/>
              </a:rPr>
              <a:t>End-to-End Data Extraction, Enrichment &amp; Editorial Workflow Automation</a:t>
            </a:r>
            <a:endParaRPr lang="en-US" sz="2400" b="0">
              <a:solidFill>
                <a:srgbClr val="769467"/>
              </a:solidFill>
              <a:latin typeface="BDO Grotesk" charset="0"/>
            </a:endParaRPr>
          </a:p>
        </p:txBody>
      </p:sp>
      <p:sp>
        <p:nvSpPr>
          <p:cNvPr id="8" name="Title 1"/>
          <p:cNvSpPr>
            <a:spLocks noGrp="1"/>
          </p:cNvSpPr>
          <p:nvPr/>
        </p:nvSpPr>
        <p:spPr>
          <a:xfrm>
            <a:off x="1093595" y="2849315"/>
            <a:ext cx="6458014" cy="377825"/>
          </a:xfrm>
          <a:prstGeom prst="rect">
            <a:avLst/>
          </a:prstGeom>
        </p:spPr>
        <p:txBody>
          <a:bodyPr vert="horz" lIns="91440" tIns="45720" rIns="91440" bIns="45720" rtlCol="0" anchor="ctr">
            <a:noAutofit/>
          </a:bodyPr>
          <a:lstStyle>
            <a:lvl1pPr>
              <a:defRPr sz="3200">
                <a:latin typeface="BDO Grotesk DemiBold" charset="0"/>
              </a:defRPr>
            </a:lvl1pPr>
          </a:lstStyle>
          <a:p>
            <a:r>
              <a:rPr lang="en-IN" altLang="en-US" sz="3000">
                <a:solidFill>
                  <a:srgbClr val="1A3F4E"/>
                </a:solidFill>
                <a:latin typeface="BDO Grotesk Black"/>
                <a:ea typeface="Calibri"/>
                <a:cs typeface="Times New Roman"/>
              </a:rPr>
              <a:t>For Real Deals Media</a:t>
            </a:r>
          </a:p>
        </p:txBody>
      </p:sp>
      <p:sp>
        <p:nvSpPr>
          <p:cNvPr id="2" name="Title 1">
            <a:extLst>
              <a:ext uri="{FF2B5EF4-FFF2-40B4-BE49-F238E27FC236}">
                <a16:creationId xmlns:a16="http://schemas.microsoft.com/office/drawing/2014/main" id="{65674DF7-1B76-957E-43F6-B1F0ED75A7B8}"/>
              </a:ext>
            </a:extLst>
          </p:cNvPr>
          <p:cNvSpPr>
            <a:spLocks noGrp="1"/>
          </p:cNvSpPr>
          <p:nvPr/>
        </p:nvSpPr>
        <p:spPr>
          <a:xfrm>
            <a:off x="10446756" y="6480175"/>
            <a:ext cx="3700168" cy="377825"/>
          </a:xfrm>
          <a:prstGeom prst="rect">
            <a:avLst/>
          </a:prstGeom>
        </p:spPr>
        <p:txBody>
          <a:bodyPr vert="horz" lIns="91440" tIns="45720" rIns="91440" bIns="45720" rtlCol="0" anchor="ctr">
            <a:noAutofit/>
          </a:bodyPr>
          <a:lstStyle>
            <a:lvl1pPr>
              <a:defRPr sz="3200">
                <a:latin typeface="BDO Grotesk DemiBold" charset="0"/>
              </a:defRPr>
            </a:lvl1pPr>
          </a:lstStyle>
          <a:p>
            <a:r>
              <a:rPr lang="en-IN" altLang="en-US" sz="1200">
                <a:solidFill>
                  <a:srgbClr val="1A3F4E"/>
                </a:solidFill>
                <a:latin typeface="BDO Grotesk Black" charset="0"/>
                <a:cs typeface="Times New Roman" panose="02020603050405020304" pitchFamily="18" charset="0"/>
              </a:rPr>
              <a:t>Version 1.0 28Oct2025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5588" y="2868221"/>
            <a:ext cx="3471816" cy="518795"/>
          </a:xfrm>
        </p:spPr>
        <p:txBody>
          <a:bodyPr>
            <a:noAutofit/>
          </a:bodyPr>
          <a:lstStyle/>
          <a:p>
            <a:r>
              <a:rPr lang="en-US" sz="2900" b="1">
                <a:solidFill>
                  <a:srgbClr val="1A3F4E"/>
                </a:solidFill>
                <a:sym typeface="+mn-ea"/>
              </a:rPr>
              <a:t>Introduction</a:t>
            </a:r>
          </a:p>
        </p:txBody>
      </p:sp>
      <p:sp>
        <p:nvSpPr>
          <p:cNvPr id="2" name="Slide Number Placeholder 1"/>
          <p:cNvSpPr>
            <a:spLocks noGrp="1"/>
          </p:cNvSpPr>
          <p:nvPr>
            <p:ph type="sldNum" sz="quarter" idx="12"/>
          </p:nvPr>
        </p:nvSpPr>
        <p:spPr/>
        <p:txBody>
          <a:bodyPr/>
          <a:lstStyle/>
          <a:p>
            <a:fld id="{B3561BA9-CDCF-4958-B8AB-66F3BF063E13}" type="slidenum">
              <a:rPr lang="en-US" smtClean="0"/>
              <a:t>2</a:t>
            </a:fld>
            <a:endParaRPr lang="en-US"/>
          </a:p>
        </p:txBody>
      </p:sp>
      <p:sp>
        <p:nvSpPr>
          <p:cNvPr id="6" name="Text Placeholder 2"/>
          <p:cNvSpPr>
            <a:spLocks noGrp="1"/>
          </p:cNvSpPr>
          <p:nvPr/>
        </p:nvSpPr>
        <p:spPr>
          <a:xfrm>
            <a:off x="4413009" y="976260"/>
            <a:ext cx="7246462" cy="127226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670" indent="0">
              <a:lnSpc>
                <a:spcPts val="2100"/>
              </a:lnSpc>
              <a:spcBef>
                <a:spcPts val="0"/>
              </a:spcBef>
              <a:buNone/>
            </a:pPr>
            <a:r>
              <a:rPr lang="en-US" sz="1600" b="1">
                <a:solidFill>
                  <a:srgbClr val="769467"/>
                </a:solidFill>
                <a:latin typeface="BDO Grotesk"/>
              </a:rPr>
              <a:t>About Real Deals Media</a:t>
            </a:r>
            <a:endParaRPr lang="en-US">
              <a:latin typeface="BDO Grotesk"/>
            </a:endParaRPr>
          </a:p>
          <a:p>
            <a:pPr marL="407670" indent="0">
              <a:lnSpc>
                <a:spcPts val="2100"/>
              </a:lnSpc>
              <a:spcBef>
                <a:spcPts val="0"/>
              </a:spcBef>
              <a:buNone/>
            </a:pPr>
            <a:endParaRPr lang="en-US" sz="1600">
              <a:solidFill>
                <a:srgbClr val="164055"/>
              </a:solidFill>
            </a:endParaRPr>
          </a:p>
          <a:p>
            <a:pPr marL="407670" indent="0">
              <a:lnSpc>
                <a:spcPts val="2100"/>
              </a:lnSpc>
              <a:spcBef>
                <a:spcPts val="0"/>
              </a:spcBef>
              <a:buNone/>
            </a:pPr>
            <a:r>
              <a:rPr lang="en-US" sz="1600">
                <a:solidFill>
                  <a:srgbClr val="164055"/>
                </a:solidFill>
                <a:latin typeface="BDO Grotesk"/>
              </a:rPr>
              <a:t>Real Deals Media (RDM) is a UK-based B2B intelligence publisher focused on private equity and M&amp;A activity across Europe. Its editorial team curates deal insights for the Real Deals and Unquote platforms, serving investors, advisers, and analysts.</a:t>
            </a:r>
          </a:p>
          <a:p>
            <a:pPr marL="407670" indent="0">
              <a:lnSpc>
                <a:spcPts val="2100"/>
              </a:lnSpc>
              <a:spcBef>
                <a:spcPts val="0"/>
              </a:spcBef>
              <a:buNone/>
            </a:pPr>
            <a:endParaRPr lang="en-US" sz="1600" b="0">
              <a:solidFill>
                <a:srgbClr val="164055"/>
              </a:solidFill>
              <a:effectLst/>
              <a:ea typeface="Calibri" panose="020F0502020204030204" charset="0"/>
              <a:cs typeface="Times New Roman" panose="02020603050405020304" pitchFamily="18" charset="0"/>
            </a:endParaRPr>
          </a:p>
          <a:p>
            <a:pPr marL="407670" indent="0">
              <a:lnSpc>
                <a:spcPts val="2100"/>
              </a:lnSpc>
              <a:spcBef>
                <a:spcPts val="0"/>
              </a:spcBef>
              <a:buNone/>
            </a:pPr>
            <a:endParaRPr lang="en-US" sz="1600" b="1">
              <a:solidFill>
                <a:srgbClr val="769467"/>
              </a:solidFill>
            </a:endParaRPr>
          </a:p>
          <a:p>
            <a:pPr marL="407670" indent="0">
              <a:lnSpc>
                <a:spcPts val="2100"/>
              </a:lnSpc>
              <a:spcBef>
                <a:spcPts val="0"/>
              </a:spcBef>
              <a:buNone/>
            </a:pPr>
            <a:endParaRPr lang="en-US" sz="1600" b="1">
              <a:solidFill>
                <a:srgbClr val="769467"/>
              </a:solidFill>
            </a:endParaRPr>
          </a:p>
          <a:p>
            <a:pPr marL="407670" indent="0">
              <a:lnSpc>
                <a:spcPts val="2100"/>
              </a:lnSpc>
              <a:spcBef>
                <a:spcPts val="0"/>
              </a:spcBef>
              <a:buNone/>
            </a:pPr>
            <a:endParaRPr lang="en-US" sz="1600" b="1">
              <a:solidFill>
                <a:srgbClr val="769467"/>
              </a:solidFill>
            </a:endParaRPr>
          </a:p>
          <a:p>
            <a:pPr marL="407670" indent="0">
              <a:lnSpc>
                <a:spcPts val="2100"/>
              </a:lnSpc>
              <a:spcBef>
                <a:spcPts val="0"/>
              </a:spcBef>
              <a:buNone/>
            </a:pPr>
            <a:endParaRPr lang="en-US" sz="1600" b="1">
              <a:solidFill>
                <a:srgbClr val="769467"/>
              </a:solidFill>
            </a:endParaRPr>
          </a:p>
          <a:p>
            <a:pPr marL="407670" indent="0">
              <a:lnSpc>
                <a:spcPts val="2100"/>
              </a:lnSpc>
              <a:spcBef>
                <a:spcPts val="0"/>
              </a:spcBef>
              <a:buNone/>
            </a:pPr>
            <a:r>
              <a:rPr lang="en-US" sz="1600" b="1">
                <a:solidFill>
                  <a:srgbClr val="769467"/>
                </a:solidFill>
                <a:latin typeface="BDO Grotesk"/>
              </a:rPr>
              <a:t>Bottlenecks Impacting Quality and Timeliness</a:t>
            </a:r>
          </a:p>
          <a:p>
            <a:pPr marL="407670" indent="0">
              <a:lnSpc>
                <a:spcPts val="2100"/>
              </a:lnSpc>
              <a:spcBef>
                <a:spcPts val="0"/>
              </a:spcBef>
              <a:buNone/>
            </a:pPr>
            <a:endParaRPr lang="en-IN" sz="1600">
              <a:solidFill>
                <a:srgbClr val="1A3F4E"/>
              </a:solidFill>
              <a:ea typeface="Calibri" panose="020F0502020204030204" charset="0"/>
              <a:cs typeface="Times New Roman" panose="02020603050405020304" pitchFamily="18" charset="0"/>
            </a:endParaRPr>
          </a:p>
          <a:p>
            <a:pPr marL="407670" indent="0">
              <a:lnSpc>
                <a:spcPts val="2100"/>
              </a:lnSpc>
              <a:spcBef>
                <a:spcPts val="0"/>
              </a:spcBef>
              <a:buNone/>
            </a:pPr>
            <a:r>
              <a:rPr lang="en-US" sz="1600">
                <a:solidFill>
                  <a:srgbClr val="164055"/>
                </a:solidFill>
                <a:latin typeface="BDO Grotesk"/>
                <a:ea typeface="Calibri"/>
                <a:cs typeface="Times New Roman"/>
                <a:sym typeface="+mn-ea"/>
              </a:rPr>
              <a:t>The c</a:t>
            </a:r>
            <a:r>
              <a:rPr lang="en-US" sz="1600">
                <a:solidFill>
                  <a:srgbClr val="164055"/>
                </a:solidFill>
                <a:latin typeface="BDO Grotesk"/>
                <a:sym typeface="+mn-ea"/>
              </a:rPr>
              <a:t>urrent workflow is predominantly manual, editor process around ~30-75 press releases and announcements daily, extracting and classifying deal details by hand. This results in a high editorial load, slower publication timelines, and inconsistencies in data structure and taxonomy, affecting overall coverage quality and speed to publish.</a:t>
            </a:r>
            <a:endParaRPr lang="en-IN" sz="1600">
              <a:solidFill>
                <a:srgbClr val="164055"/>
              </a:solidFill>
              <a:latin typeface="BDO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5004200" y="1315668"/>
            <a:ext cx="2466340" cy="1415797"/>
            <a:chOff x="248448" y="2553370"/>
            <a:chExt cx="3010568" cy="1887876"/>
          </a:xfrm>
        </p:grpSpPr>
        <p:sp>
          <p:nvSpPr>
            <p:cNvPr id="54" name="TextBox 53"/>
            <p:cNvSpPr txBox="1"/>
            <p:nvPr/>
          </p:nvSpPr>
          <p:spPr>
            <a:xfrm>
              <a:off x="248448" y="2553370"/>
              <a:ext cx="2926080" cy="533522"/>
            </a:xfrm>
            <a:prstGeom prst="rect">
              <a:avLst/>
            </a:prstGeom>
            <a:noFill/>
          </p:spPr>
          <p:txBody>
            <a:bodyPr wrap="square" lIns="0" rIns="0" rtlCol="0" anchor="b">
              <a:spAutoFit/>
            </a:bodyPr>
            <a:lstStyle/>
            <a:p>
              <a:pPr algn="ctr"/>
              <a:r>
                <a:rPr lang="en-IN" sz="2000" b="1">
                  <a:solidFill>
                    <a:srgbClr val="769467"/>
                  </a:solidFill>
                  <a:latin typeface="BDO Grotesk"/>
                  <a:sym typeface="+mn-ea"/>
                </a:rPr>
                <a:t>Enrich</a:t>
              </a:r>
              <a:endParaRPr lang="en-US" sz="2000" b="1" noProof="1">
                <a:solidFill>
                  <a:srgbClr val="77A086"/>
                </a:solidFill>
                <a:latin typeface="BDO Grotesk" charset="0"/>
              </a:endParaRPr>
            </a:p>
          </p:txBody>
        </p:sp>
        <p:sp>
          <p:nvSpPr>
            <p:cNvPr id="55" name="TextBox 54"/>
            <p:cNvSpPr txBox="1"/>
            <p:nvPr/>
          </p:nvSpPr>
          <p:spPr>
            <a:xfrm>
              <a:off x="332936" y="3086923"/>
              <a:ext cx="2926080" cy="1354323"/>
            </a:xfrm>
            <a:prstGeom prst="rect">
              <a:avLst/>
            </a:prstGeom>
            <a:noFill/>
          </p:spPr>
          <p:txBody>
            <a:bodyPr wrap="square" lIns="0" rIns="0" rtlCol="0" anchor="t">
              <a:spAutoFit/>
            </a:bodyPr>
            <a:lstStyle/>
            <a:p>
              <a:pPr algn="ctr"/>
              <a:r>
                <a:rPr lang="en-US" sz="1200" noProof="1">
                  <a:solidFill>
                    <a:srgbClr val="1A3F4E"/>
                  </a:solidFill>
                  <a:latin typeface="BDO Grotesk" charset="0"/>
                </a:rPr>
                <a:t>Validate and enrich extracted records with secondary data from adviser sites, commercial databases, and manual editorial checks.</a:t>
              </a:r>
            </a:p>
          </p:txBody>
        </p:sp>
      </p:grpSp>
      <p:sp>
        <p:nvSpPr>
          <p:cNvPr id="9" name="Slide Number Placeholder 8"/>
          <p:cNvSpPr>
            <a:spLocks noGrp="1"/>
          </p:cNvSpPr>
          <p:nvPr>
            <p:ph type="sldNum" sz="quarter" idx="12"/>
          </p:nvPr>
        </p:nvSpPr>
        <p:spPr/>
        <p:txBody>
          <a:bodyPr/>
          <a:lstStyle/>
          <a:p>
            <a:fld id="{B3561BA9-CDCF-4958-B8AB-66F3BF063E13}" type="slidenum">
              <a:rPr lang="en-US" smtClean="0"/>
              <a:t>3</a:t>
            </a:fld>
            <a:endParaRPr lang="en-US"/>
          </a:p>
        </p:txBody>
      </p:sp>
      <p:pic>
        <p:nvPicPr>
          <p:cNvPr id="12" name="Picture 11" descr="Asset 21@300x-8"/>
          <p:cNvPicPr>
            <a:picLocks noChangeAspect="1"/>
          </p:cNvPicPr>
          <p:nvPr/>
        </p:nvPicPr>
        <p:blipFill>
          <a:blip r:embed="rId2"/>
          <a:stretch>
            <a:fillRect/>
          </a:stretch>
        </p:blipFill>
        <p:spPr>
          <a:xfrm>
            <a:off x="752240" y="2829655"/>
            <a:ext cx="1329055" cy="1301750"/>
          </a:xfrm>
          <a:prstGeom prst="rect">
            <a:avLst/>
          </a:prstGeom>
        </p:spPr>
      </p:pic>
      <p:pic>
        <p:nvPicPr>
          <p:cNvPr id="13" name="Picture 12" descr="Asset 22@300x-8"/>
          <p:cNvPicPr>
            <a:picLocks noChangeAspect="1"/>
          </p:cNvPicPr>
          <p:nvPr/>
        </p:nvPicPr>
        <p:blipFill>
          <a:blip r:embed="rId3"/>
          <a:stretch>
            <a:fillRect/>
          </a:stretch>
        </p:blipFill>
        <p:spPr>
          <a:xfrm>
            <a:off x="2347360" y="2828385"/>
            <a:ext cx="1329055" cy="1304290"/>
          </a:xfrm>
          <a:prstGeom prst="rect">
            <a:avLst/>
          </a:prstGeom>
        </p:spPr>
      </p:pic>
      <p:pic>
        <p:nvPicPr>
          <p:cNvPr id="14" name="Picture 13" descr="Asset 21@300x-8"/>
          <p:cNvPicPr>
            <a:picLocks noChangeAspect="1"/>
          </p:cNvPicPr>
          <p:nvPr/>
        </p:nvPicPr>
        <p:blipFill>
          <a:blip r:embed="rId2"/>
          <a:stretch>
            <a:fillRect/>
          </a:stretch>
        </p:blipFill>
        <p:spPr>
          <a:xfrm>
            <a:off x="3942480" y="2829655"/>
            <a:ext cx="1329055" cy="1301750"/>
          </a:xfrm>
          <a:prstGeom prst="rect">
            <a:avLst/>
          </a:prstGeom>
        </p:spPr>
      </p:pic>
      <p:pic>
        <p:nvPicPr>
          <p:cNvPr id="15" name="Picture 14" descr="Asset 22@300x-8"/>
          <p:cNvPicPr>
            <a:picLocks noChangeAspect="1"/>
          </p:cNvPicPr>
          <p:nvPr/>
        </p:nvPicPr>
        <p:blipFill>
          <a:blip r:embed="rId3"/>
          <a:stretch>
            <a:fillRect/>
          </a:stretch>
        </p:blipFill>
        <p:spPr>
          <a:xfrm>
            <a:off x="5537600" y="2828385"/>
            <a:ext cx="1329055" cy="1304290"/>
          </a:xfrm>
          <a:prstGeom prst="rect">
            <a:avLst/>
          </a:prstGeom>
        </p:spPr>
      </p:pic>
      <p:pic>
        <p:nvPicPr>
          <p:cNvPr id="16" name="Content Placeholder 15" descr="Asset 21@300x-8"/>
          <p:cNvPicPr>
            <a:picLocks noChangeAspect="1"/>
          </p:cNvPicPr>
          <p:nvPr/>
        </p:nvPicPr>
        <p:blipFill>
          <a:blip r:embed="rId2"/>
          <a:stretch>
            <a:fillRect/>
          </a:stretch>
        </p:blipFill>
        <p:spPr>
          <a:xfrm>
            <a:off x="7154310" y="2828925"/>
            <a:ext cx="1327569" cy="1303210"/>
          </a:xfrm>
          <a:prstGeom prst="rect">
            <a:avLst/>
          </a:prstGeom>
        </p:spPr>
      </p:pic>
      <p:pic>
        <p:nvPicPr>
          <p:cNvPr id="17" name="Picture 16" descr="Asset 91@300x-9"/>
          <p:cNvPicPr>
            <a:picLocks noChangeAspect="1"/>
          </p:cNvPicPr>
          <p:nvPr/>
        </p:nvPicPr>
        <p:blipFill>
          <a:blip r:embed="rId4"/>
          <a:stretch>
            <a:fillRect/>
          </a:stretch>
        </p:blipFill>
        <p:spPr>
          <a:xfrm>
            <a:off x="2220360" y="3413125"/>
            <a:ext cx="1700530" cy="814070"/>
          </a:xfrm>
          <a:prstGeom prst="rect">
            <a:avLst/>
          </a:prstGeom>
        </p:spPr>
      </p:pic>
      <p:pic>
        <p:nvPicPr>
          <p:cNvPr id="19" name="Picture 18" descr="Asset 90@300x-9"/>
          <p:cNvPicPr>
            <a:picLocks noChangeAspect="1"/>
          </p:cNvPicPr>
          <p:nvPr/>
        </p:nvPicPr>
        <p:blipFill>
          <a:blip r:embed="rId5"/>
          <a:stretch>
            <a:fillRect/>
          </a:stretch>
        </p:blipFill>
        <p:spPr>
          <a:xfrm>
            <a:off x="604920" y="2653030"/>
            <a:ext cx="1700530" cy="807720"/>
          </a:xfrm>
          <a:prstGeom prst="rect">
            <a:avLst/>
          </a:prstGeom>
        </p:spPr>
      </p:pic>
      <p:pic>
        <p:nvPicPr>
          <p:cNvPr id="23" name="Picture 22" descr="Asset 91@300x-9"/>
          <p:cNvPicPr>
            <a:picLocks noChangeAspect="1"/>
          </p:cNvPicPr>
          <p:nvPr/>
        </p:nvPicPr>
        <p:blipFill>
          <a:blip r:embed="rId4"/>
          <a:stretch>
            <a:fillRect/>
          </a:stretch>
        </p:blipFill>
        <p:spPr>
          <a:xfrm>
            <a:off x="5415680" y="3413125"/>
            <a:ext cx="1700530" cy="814070"/>
          </a:xfrm>
          <a:prstGeom prst="rect">
            <a:avLst/>
          </a:prstGeom>
        </p:spPr>
      </p:pic>
      <p:pic>
        <p:nvPicPr>
          <p:cNvPr id="24" name="Picture 23" descr="Asset 90@300x-9"/>
          <p:cNvPicPr>
            <a:picLocks noChangeAspect="1"/>
          </p:cNvPicPr>
          <p:nvPr/>
        </p:nvPicPr>
        <p:blipFill>
          <a:blip r:embed="rId5"/>
          <a:stretch>
            <a:fillRect/>
          </a:stretch>
        </p:blipFill>
        <p:spPr>
          <a:xfrm>
            <a:off x="3800240" y="2653030"/>
            <a:ext cx="1700530" cy="807720"/>
          </a:xfrm>
          <a:prstGeom prst="rect">
            <a:avLst/>
          </a:prstGeom>
        </p:spPr>
      </p:pic>
      <p:pic>
        <p:nvPicPr>
          <p:cNvPr id="25" name="Picture 24" descr="Asset 90@300x-9"/>
          <p:cNvPicPr>
            <a:picLocks noChangeAspect="1"/>
          </p:cNvPicPr>
          <p:nvPr/>
        </p:nvPicPr>
        <p:blipFill>
          <a:blip r:embed="rId5"/>
          <a:stretch>
            <a:fillRect/>
          </a:stretch>
        </p:blipFill>
        <p:spPr>
          <a:xfrm>
            <a:off x="6996830" y="2666365"/>
            <a:ext cx="1700530" cy="807720"/>
          </a:xfrm>
          <a:prstGeom prst="rect">
            <a:avLst/>
          </a:prstGeom>
        </p:spPr>
      </p:pic>
      <p:sp>
        <p:nvSpPr>
          <p:cNvPr id="26" name="Rectangle 25"/>
          <p:cNvSpPr/>
          <p:nvPr/>
        </p:nvSpPr>
        <p:spPr>
          <a:xfrm>
            <a:off x="1233570" y="3181445"/>
            <a:ext cx="354330" cy="59817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1</a:t>
            </a:r>
          </a:p>
        </p:txBody>
      </p:sp>
      <p:sp>
        <p:nvSpPr>
          <p:cNvPr id="27" name="Rectangle 26"/>
          <p:cNvSpPr/>
          <p:nvPr/>
        </p:nvSpPr>
        <p:spPr>
          <a:xfrm>
            <a:off x="2856630" y="3181445"/>
            <a:ext cx="354330" cy="59817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2</a:t>
            </a:r>
          </a:p>
        </p:txBody>
      </p:sp>
      <p:sp>
        <p:nvSpPr>
          <p:cNvPr id="28" name="Rectangle 27"/>
          <p:cNvSpPr/>
          <p:nvPr/>
        </p:nvSpPr>
        <p:spPr>
          <a:xfrm>
            <a:off x="4449210" y="3181445"/>
            <a:ext cx="354330" cy="59817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3</a:t>
            </a:r>
          </a:p>
        </p:txBody>
      </p:sp>
      <p:sp>
        <p:nvSpPr>
          <p:cNvPr id="29" name="Rectangle 28"/>
          <p:cNvSpPr/>
          <p:nvPr/>
        </p:nvSpPr>
        <p:spPr>
          <a:xfrm>
            <a:off x="6025280" y="3181445"/>
            <a:ext cx="354330" cy="59817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4</a:t>
            </a:r>
          </a:p>
        </p:txBody>
      </p:sp>
      <p:sp>
        <p:nvSpPr>
          <p:cNvPr id="30" name="Rectangle 29"/>
          <p:cNvSpPr/>
          <p:nvPr/>
        </p:nvSpPr>
        <p:spPr>
          <a:xfrm>
            <a:off x="7628020" y="3181445"/>
            <a:ext cx="354330" cy="59817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5</a:t>
            </a:r>
          </a:p>
        </p:txBody>
      </p:sp>
      <p:grpSp>
        <p:nvGrpSpPr>
          <p:cNvPr id="31" name="Group 30"/>
          <p:cNvGrpSpPr/>
          <p:nvPr/>
        </p:nvGrpSpPr>
        <p:grpSpPr>
          <a:xfrm>
            <a:off x="1980330" y="1315669"/>
            <a:ext cx="2466340" cy="1257384"/>
            <a:chOff x="248448" y="2553370"/>
            <a:chExt cx="3010568" cy="1676642"/>
          </a:xfrm>
        </p:grpSpPr>
        <p:sp>
          <p:nvSpPr>
            <p:cNvPr id="32" name="TextBox 5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77A086"/>
                  </a:solidFill>
                  <a:latin typeface="BDO Grotesk" charset="0"/>
                </a:rPr>
                <a:t>Collect</a:t>
              </a:r>
            </a:p>
          </p:txBody>
        </p:sp>
        <p:sp>
          <p:nvSpPr>
            <p:cNvPr id="33" name="TextBox 54"/>
            <p:cNvSpPr txBox="1"/>
            <p:nvPr/>
          </p:nvSpPr>
          <p:spPr>
            <a:xfrm>
              <a:off x="332936" y="3086923"/>
              <a:ext cx="2926080" cy="1143089"/>
            </a:xfrm>
            <a:prstGeom prst="rect">
              <a:avLst/>
            </a:prstGeom>
            <a:noFill/>
          </p:spPr>
          <p:txBody>
            <a:bodyPr wrap="square" lIns="0" rIns="0" rtlCol="0" anchor="t">
              <a:spAutoFit/>
            </a:bodyPr>
            <a:lstStyle/>
            <a:p>
              <a:pPr algn="ctr"/>
              <a:r>
                <a:rPr lang="en-US" sz="1200" noProof="1">
                  <a:solidFill>
                    <a:srgbClr val="1A3F4E"/>
                  </a:solidFill>
                  <a:latin typeface="BDO Grotesk" charset="0"/>
                </a:rPr>
                <a:t>Collect and parse content from identified web and email sources using ScrapeX and custom parsers.</a:t>
              </a:r>
            </a:p>
          </p:txBody>
        </p:sp>
      </p:grpSp>
      <p:grpSp>
        <p:nvGrpSpPr>
          <p:cNvPr id="34" name="Group 33"/>
          <p:cNvGrpSpPr/>
          <p:nvPr/>
        </p:nvGrpSpPr>
        <p:grpSpPr>
          <a:xfrm>
            <a:off x="177565" y="4475428"/>
            <a:ext cx="2466340" cy="1046464"/>
            <a:chOff x="248448" y="2553370"/>
            <a:chExt cx="3010568" cy="1395394"/>
          </a:xfrm>
        </p:grpSpPr>
        <p:sp>
          <p:nvSpPr>
            <p:cNvPr id="35" name="TextBox 5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164055"/>
                  </a:solidFill>
                  <a:latin typeface="BDO Grotesk" charset="0"/>
                </a:rPr>
                <a:t>Discover</a:t>
              </a:r>
            </a:p>
          </p:txBody>
        </p:sp>
        <p:sp>
          <p:nvSpPr>
            <p:cNvPr id="36" name="TextBox 54"/>
            <p:cNvSpPr txBox="1"/>
            <p:nvPr/>
          </p:nvSpPr>
          <p:spPr>
            <a:xfrm>
              <a:off x="332936" y="3086923"/>
              <a:ext cx="2926080" cy="861841"/>
            </a:xfrm>
            <a:prstGeom prst="rect">
              <a:avLst/>
            </a:prstGeom>
            <a:noFill/>
          </p:spPr>
          <p:txBody>
            <a:bodyPr wrap="square" lIns="0" rIns="0" rtlCol="0" anchor="t">
              <a:spAutoFit/>
            </a:bodyPr>
            <a:lstStyle/>
            <a:p>
              <a:pPr algn="ctr"/>
              <a:r>
                <a:rPr lang="en-US" sz="1200" noProof="1">
                  <a:solidFill>
                    <a:srgbClr val="1A3F4E"/>
                  </a:solidFill>
                  <a:latin typeface="BDO Grotesk" charset="0"/>
                </a:rPr>
                <a:t>Identify and capture deal-related inputs from press releases, company sites, and email feeds</a:t>
              </a:r>
            </a:p>
          </p:txBody>
        </p:sp>
      </p:grpSp>
      <p:grpSp>
        <p:nvGrpSpPr>
          <p:cNvPr id="37" name="Group 36"/>
          <p:cNvGrpSpPr/>
          <p:nvPr/>
        </p:nvGrpSpPr>
        <p:grpSpPr>
          <a:xfrm>
            <a:off x="3417335" y="4475429"/>
            <a:ext cx="2466340" cy="1046465"/>
            <a:chOff x="248448" y="2553370"/>
            <a:chExt cx="3010568" cy="1395395"/>
          </a:xfrm>
        </p:grpSpPr>
        <p:sp>
          <p:nvSpPr>
            <p:cNvPr id="38" name="TextBox 5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164055"/>
                  </a:solidFill>
                  <a:latin typeface="BDO Grotesk" charset="0"/>
                </a:rPr>
                <a:t>Process</a:t>
              </a:r>
            </a:p>
          </p:txBody>
        </p:sp>
        <p:sp>
          <p:nvSpPr>
            <p:cNvPr id="39" name="TextBox 54"/>
            <p:cNvSpPr txBox="1"/>
            <p:nvPr/>
          </p:nvSpPr>
          <p:spPr>
            <a:xfrm>
              <a:off x="332936" y="3086923"/>
              <a:ext cx="2926080" cy="861842"/>
            </a:xfrm>
            <a:prstGeom prst="rect">
              <a:avLst/>
            </a:prstGeom>
            <a:noFill/>
          </p:spPr>
          <p:txBody>
            <a:bodyPr wrap="square" lIns="0" rIns="0" rtlCol="0" anchor="t">
              <a:spAutoFit/>
            </a:bodyPr>
            <a:lstStyle/>
            <a:p>
              <a:pPr algn="ctr"/>
              <a:r>
                <a:rPr lang="en-US" sz="1200" noProof="1">
                  <a:solidFill>
                    <a:srgbClr val="1A3F4E"/>
                  </a:solidFill>
                  <a:latin typeface="BDO Grotesk" charset="0"/>
                </a:rPr>
                <a:t>Apply parsing, semantic de-duplication, and LLM-based classifiers / filters (KIAA framework)</a:t>
              </a:r>
            </a:p>
          </p:txBody>
        </p:sp>
      </p:grpSp>
      <p:grpSp>
        <p:nvGrpSpPr>
          <p:cNvPr id="40" name="Group 39"/>
          <p:cNvGrpSpPr/>
          <p:nvPr/>
        </p:nvGrpSpPr>
        <p:grpSpPr>
          <a:xfrm>
            <a:off x="6572015" y="4475428"/>
            <a:ext cx="2466340" cy="1415796"/>
            <a:chOff x="248448" y="2553370"/>
            <a:chExt cx="3010568" cy="1887875"/>
          </a:xfrm>
        </p:grpSpPr>
        <p:sp>
          <p:nvSpPr>
            <p:cNvPr id="41" name="TextBox 5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164055"/>
                  </a:solidFill>
                  <a:latin typeface="BDO Grotesk" charset="0"/>
                </a:rPr>
                <a:t>Narrative Genration</a:t>
              </a:r>
            </a:p>
          </p:txBody>
        </p:sp>
        <p:sp>
          <p:nvSpPr>
            <p:cNvPr id="42" name="TextBox 54"/>
            <p:cNvSpPr txBox="1"/>
            <p:nvPr/>
          </p:nvSpPr>
          <p:spPr>
            <a:xfrm>
              <a:off x="332936" y="3086923"/>
              <a:ext cx="2926080" cy="1354322"/>
            </a:xfrm>
            <a:prstGeom prst="rect">
              <a:avLst/>
            </a:prstGeom>
            <a:noFill/>
          </p:spPr>
          <p:txBody>
            <a:bodyPr wrap="square" lIns="0" rIns="0" rtlCol="0" anchor="t">
              <a:spAutoFit/>
            </a:bodyPr>
            <a:lstStyle/>
            <a:p>
              <a:pPr algn="ctr"/>
              <a:r>
                <a:rPr lang="en-US" sz="1200" noProof="1">
                  <a:solidFill>
                    <a:srgbClr val="1A3F4E"/>
                  </a:solidFill>
                  <a:latin typeface="BDO Grotesk" charset="0"/>
                </a:rPr>
                <a:t>Generate automated deal summaries using extracted data, refined through advanced LLM models to align with Real Deals’ editorial tone.</a:t>
              </a:r>
            </a:p>
          </p:txBody>
        </p:sp>
      </p:grpSp>
      <p:sp>
        <p:nvSpPr>
          <p:cNvPr id="3" name="Title 2"/>
          <p:cNvSpPr>
            <a:spLocks noGrp="1"/>
          </p:cNvSpPr>
          <p:nvPr>
            <p:ph type="title"/>
          </p:nvPr>
        </p:nvSpPr>
        <p:spPr>
          <a:xfrm>
            <a:off x="637540" y="365125"/>
            <a:ext cx="9532372" cy="665480"/>
          </a:xfrm>
        </p:spPr>
        <p:txBody>
          <a:bodyPr>
            <a:noAutofit/>
          </a:bodyPr>
          <a:lstStyle/>
          <a:p>
            <a:r>
              <a:rPr lang="en-US" sz="2900" b="1">
                <a:solidFill>
                  <a:srgbClr val="1A3F4E"/>
                </a:solidFill>
                <a:sym typeface="+mn-ea"/>
              </a:rPr>
              <a:t>Data Extraction Workflow</a:t>
            </a:r>
          </a:p>
        </p:txBody>
      </p:sp>
      <p:grpSp>
        <p:nvGrpSpPr>
          <p:cNvPr id="43" name="Group 42"/>
          <p:cNvGrpSpPr/>
          <p:nvPr/>
        </p:nvGrpSpPr>
        <p:grpSpPr>
          <a:xfrm>
            <a:off x="8214580" y="1288189"/>
            <a:ext cx="2466340" cy="1257384"/>
            <a:chOff x="248448" y="2553370"/>
            <a:chExt cx="3010568" cy="1676642"/>
          </a:xfrm>
        </p:grpSpPr>
        <p:sp>
          <p:nvSpPr>
            <p:cNvPr id="44" name="TextBox 4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77A086"/>
                  </a:solidFill>
                  <a:latin typeface="BDO Grotesk" charset="0"/>
                </a:rPr>
                <a:t>Check</a:t>
              </a:r>
            </a:p>
          </p:txBody>
        </p:sp>
        <p:sp>
          <p:nvSpPr>
            <p:cNvPr id="45" name="TextBox 44"/>
            <p:cNvSpPr txBox="1"/>
            <p:nvPr/>
          </p:nvSpPr>
          <p:spPr>
            <a:xfrm>
              <a:off x="332936" y="3086923"/>
              <a:ext cx="2926080" cy="1143089"/>
            </a:xfrm>
            <a:prstGeom prst="rect">
              <a:avLst/>
            </a:prstGeom>
            <a:noFill/>
          </p:spPr>
          <p:txBody>
            <a:bodyPr wrap="square" lIns="0" rIns="0" rtlCol="0" anchor="t">
              <a:spAutoFit/>
            </a:bodyPr>
            <a:lstStyle/>
            <a:p>
              <a:pPr algn="ctr"/>
              <a:r>
                <a:rPr lang="en-US" sz="1200" noProof="1">
                  <a:solidFill>
                    <a:srgbClr val="1A3F4E"/>
                  </a:solidFill>
                  <a:latin typeface="BDO Grotesk" charset="0"/>
                </a:rPr>
                <a:t>Apply automated validation rules for taxonomy, currency, and date formats, followed by editorial QA on sample records.</a:t>
              </a:r>
            </a:p>
          </p:txBody>
        </p:sp>
      </p:grpSp>
      <p:pic>
        <p:nvPicPr>
          <p:cNvPr id="46" name="Picture 45" descr="Asset 22@300x-8"/>
          <p:cNvPicPr>
            <a:picLocks noChangeAspect="1"/>
          </p:cNvPicPr>
          <p:nvPr/>
        </p:nvPicPr>
        <p:blipFill>
          <a:blip r:embed="rId3"/>
          <a:stretch>
            <a:fillRect/>
          </a:stretch>
        </p:blipFill>
        <p:spPr>
          <a:xfrm>
            <a:off x="8747980" y="2800905"/>
            <a:ext cx="1329055" cy="1304290"/>
          </a:xfrm>
          <a:prstGeom prst="rect">
            <a:avLst/>
          </a:prstGeom>
        </p:spPr>
      </p:pic>
      <p:pic>
        <p:nvPicPr>
          <p:cNvPr id="47" name="Content Placeholder 15" descr="Asset 21@300x-8"/>
          <p:cNvPicPr>
            <a:picLocks noChangeAspect="1"/>
          </p:cNvPicPr>
          <p:nvPr/>
        </p:nvPicPr>
        <p:blipFill>
          <a:blip r:embed="rId2"/>
          <a:stretch>
            <a:fillRect/>
          </a:stretch>
        </p:blipFill>
        <p:spPr>
          <a:xfrm>
            <a:off x="10364690" y="2801445"/>
            <a:ext cx="1327569" cy="1303210"/>
          </a:xfrm>
          <a:prstGeom prst="rect">
            <a:avLst/>
          </a:prstGeom>
        </p:spPr>
      </p:pic>
      <p:pic>
        <p:nvPicPr>
          <p:cNvPr id="48" name="Picture 47" descr="Asset 91@300x-9"/>
          <p:cNvPicPr>
            <a:picLocks noChangeAspect="1"/>
          </p:cNvPicPr>
          <p:nvPr/>
        </p:nvPicPr>
        <p:blipFill>
          <a:blip r:embed="rId4"/>
          <a:stretch>
            <a:fillRect/>
          </a:stretch>
        </p:blipFill>
        <p:spPr>
          <a:xfrm>
            <a:off x="8626060" y="3385645"/>
            <a:ext cx="1700530" cy="814070"/>
          </a:xfrm>
          <a:prstGeom prst="rect">
            <a:avLst/>
          </a:prstGeom>
        </p:spPr>
      </p:pic>
      <p:pic>
        <p:nvPicPr>
          <p:cNvPr id="49" name="Picture 48" descr="Asset 90@300x-9"/>
          <p:cNvPicPr>
            <a:picLocks noChangeAspect="1"/>
          </p:cNvPicPr>
          <p:nvPr/>
        </p:nvPicPr>
        <p:blipFill>
          <a:blip r:embed="rId5"/>
          <a:stretch>
            <a:fillRect/>
          </a:stretch>
        </p:blipFill>
        <p:spPr>
          <a:xfrm>
            <a:off x="10207210" y="2638885"/>
            <a:ext cx="1700530" cy="807720"/>
          </a:xfrm>
          <a:prstGeom prst="rect">
            <a:avLst/>
          </a:prstGeom>
        </p:spPr>
      </p:pic>
      <p:sp>
        <p:nvSpPr>
          <p:cNvPr id="50" name="Rectangle 49"/>
          <p:cNvSpPr/>
          <p:nvPr/>
        </p:nvSpPr>
        <p:spPr>
          <a:xfrm>
            <a:off x="9235660" y="3191440"/>
            <a:ext cx="354330" cy="52322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6</a:t>
            </a:r>
          </a:p>
        </p:txBody>
      </p:sp>
      <p:sp>
        <p:nvSpPr>
          <p:cNvPr id="51" name="Rectangle 50"/>
          <p:cNvSpPr/>
          <p:nvPr/>
        </p:nvSpPr>
        <p:spPr>
          <a:xfrm>
            <a:off x="10838400" y="3191440"/>
            <a:ext cx="354330" cy="523220"/>
          </a:xfrm>
          <a:prstGeom prst="rect">
            <a:avLst/>
          </a:prstGeom>
        </p:spPr>
        <p:txBody>
          <a:bodyPr wrap="square" anchor="ctr">
            <a:spAutoFit/>
          </a:bodyPr>
          <a:lstStyle/>
          <a:p>
            <a:pPr algn="ctr"/>
            <a:r>
              <a:rPr lang="en-US" altLang="en-IN" sz="2800" b="1">
                <a:solidFill>
                  <a:srgbClr val="002060"/>
                </a:solidFill>
                <a:latin typeface="BDO Grotesk" charset="0"/>
                <a:ea typeface="Calibri" panose="020F0502020204030204" charset="0"/>
                <a:cs typeface="Times New Roman" panose="02020603050405020304" pitchFamily="18" charset="0"/>
              </a:rPr>
              <a:t>7</a:t>
            </a:r>
          </a:p>
        </p:txBody>
      </p:sp>
      <p:grpSp>
        <p:nvGrpSpPr>
          <p:cNvPr id="52" name="Group 51"/>
          <p:cNvGrpSpPr/>
          <p:nvPr/>
        </p:nvGrpSpPr>
        <p:grpSpPr>
          <a:xfrm>
            <a:off x="9782395" y="4447950"/>
            <a:ext cx="2293491" cy="861799"/>
            <a:chOff x="248448" y="2553370"/>
            <a:chExt cx="3010568" cy="1149154"/>
          </a:xfrm>
        </p:grpSpPr>
        <p:sp>
          <p:nvSpPr>
            <p:cNvPr id="56" name="TextBox 53"/>
            <p:cNvSpPr txBox="1"/>
            <p:nvPr/>
          </p:nvSpPr>
          <p:spPr>
            <a:xfrm>
              <a:off x="248448" y="2553370"/>
              <a:ext cx="2926080" cy="533522"/>
            </a:xfrm>
            <a:prstGeom prst="rect">
              <a:avLst/>
            </a:prstGeom>
            <a:noFill/>
          </p:spPr>
          <p:txBody>
            <a:bodyPr wrap="square" lIns="0" rIns="0" rtlCol="0" anchor="b">
              <a:spAutoFit/>
            </a:bodyPr>
            <a:lstStyle/>
            <a:p>
              <a:pPr algn="ctr"/>
              <a:r>
                <a:rPr lang="en-US" sz="2000" b="1" noProof="1">
                  <a:solidFill>
                    <a:srgbClr val="164055"/>
                  </a:solidFill>
                  <a:latin typeface="BDO Grotesk" charset="0"/>
                </a:rPr>
                <a:t>Output</a:t>
              </a:r>
            </a:p>
          </p:txBody>
        </p:sp>
        <p:sp>
          <p:nvSpPr>
            <p:cNvPr id="57" name="TextBox 54"/>
            <p:cNvSpPr txBox="1"/>
            <p:nvPr/>
          </p:nvSpPr>
          <p:spPr>
            <a:xfrm>
              <a:off x="332936" y="3086923"/>
              <a:ext cx="2926080" cy="615601"/>
            </a:xfrm>
            <a:prstGeom prst="rect">
              <a:avLst/>
            </a:prstGeom>
            <a:noFill/>
          </p:spPr>
          <p:txBody>
            <a:bodyPr wrap="square" lIns="0" tIns="45720" rIns="0" bIns="45720" rtlCol="0" anchor="t">
              <a:spAutoFit/>
            </a:bodyPr>
            <a:lstStyle/>
            <a:p>
              <a:pPr algn="ctr"/>
              <a:r>
                <a:rPr lang="en-US" sz="1200" noProof="1">
                  <a:solidFill>
                    <a:srgbClr val="1A3F4E"/>
                  </a:solidFill>
                  <a:latin typeface="BDO Grotesk"/>
                </a:rPr>
                <a:t>Push structured data and generated narrative to SFTP for POC.</a:t>
              </a:r>
            </a:p>
          </p:txBody>
        </p:sp>
      </p:grpSp>
    </p:spTree>
    <p:extLst>
      <p:ext uri="{BB962C8B-B14F-4D97-AF65-F5344CB8AC3E}">
        <p14:creationId xmlns:p14="http://schemas.microsoft.com/office/powerpoint/2010/main" val="145111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9" descr="Asset 13@300x-8"/>
          <p:cNvPicPr>
            <a:picLocks noChangeAspect="1"/>
          </p:cNvPicPr>
          <p:nvPr/>
        </p:nvPicPr>
        <p:blipFill>
          <a:blip r:embed="rId2"/>
          <a:stretch>
            <a:fillRect/>
          </a:stretch>
        </p:blipFill>
        <p:spPr>
          <a:xfrm>
            <a:off x="6534975" y="5054282"/>
            <a:ext cx="786130" cy="777240"/>
          </a:xfrm>
          <a:prstGeom prst="rect">
            <a:avLst/>
          </a:prstGeom>
        </p:spPr>
      </p:pic>
      <p:pic>
        <p:nvPicPr>
          <p:cNvPr id="13" name="Content Placeholder 9" descr="Asset 13@300x-8"/>
          <p:cNvPicPr>
            <a:picLocks noChangeAspect="1"/>
          </p:cNvPicPr>
          <p:nvPr/>
        </p:nvPicPr>
        <p:blipFill>
          <a:blip r:embed="rId2"/>
          <a:stretch>
            <a:fillRect/>
          </a:stretch>
        </p:blipFill>
        <p:spPr>
          <a:xfrm>
            <a:off x="6534975" y="3058792"/>
            <a:ext cx="786130" cy="777240"/>
          </a:xfrm>
          <a:prstGeom prst="rect">
            <a:avLst/>
          </a:prstGeom>
        </p:spPr>
      </p:pic>
      <p:pic>
        <p:nvPicPr>
          <p:cNvPr id="12" name="Content Placeholder 9" descr="Asset 13@300x-8"/>
          <p:cNvPicPr>
            <a:picLocks noChangeAspect="1"/>
          </p:cNvPicPr>
          <p:nvPr/>
        </p:nvPicPr>
        <p:blipFill>
          <a:blip r:embed="rId2"/>
          <a:stretch>
            <a:fillRect/>
          </a:stretch>
        </p:blipFill>
        <p:spPr>
          <a:xfrm>
            <a:off x="6534975" y="1302182"/>
            <a:ext cx="786130" cy="777240"/>
          </a:xfrm>
          <a:prstGeom prst="rect">
            <a:avLst/>
          </a:prstGeom>
        </p:spPr>
      </p:pic>
      <p:pic>
        <p:nvPicPr>
          <p:cNvPr id="11" name="Content Placeholder 9" descr="Asset 13@300x-8"/>
          <p:cNvPicPr>
            <a:picLocks noChangeAspect="1"/>
          </p:cNvPicPr>
          <p:nvPr/>
        </p:nvPicPr>
        <p:blipFill>
          <a:blip r:embed="rId2"/>
          <a:stretch>
            <a:fillRect/>
          </a:stretch>
        </p:blipFill>
        <p:spPr>
          <a:xfrm>
            <a:off x="677100" y="5054282"/>
            <a:ext cx="786130" cy="777240"/>
          </a:xfrm>
          <a:prstGeom prst="rect">
            <a:avLst/>
          </a:prstGeom>
        </p:spPr>
      </p:pic>
      <p:pic>
        <p:nvPicPr>
          <p:cNvPr id="10" name="Content Placeholder 9" descr="Asset 13@300x-8"/>
          <p:cNvPicPr>
            <a:picLocks noGrp="1" noChangeAspect="1"/>
          </p:cNvPicPr>
          <p:nvPr>
            <p:ph idx="4294967295"/>
          </p:nvPr>
        </p:nvPicPr>
        <p:blipFill>
          <a:blip r:embed="rId2"/>
          <a:stretch>
            <a:fillRect/>
          </a:stretch>
        </p:blipFill>
        <p:spPr>
          <a:xfrm>
            <a:off x="677100" y="3058792"/>
            <a:ext cx="786130" cy="777240"/>
          </a:xfrm>
          <a:prstGeom prst="rect">
            <a:avLst/>
          </a:prstGeom>
        </p:spPr>
      </p:pic>
      <p:pic>
        <p:nvPicPr>
          <p:cNvPr id="2" name="Picture 1" descr="Asset 13@300x-8"/>
          <p:cNvPicPr>
            <a:picLocks noChangeAspect="1"/>
          </p:cNvPicPr>
          <p:nvPr/>
        </p:nvPicPr>
        <p:blipFill>
          <a:blip r:embed="rId2"/>
          <a:stretch>
            <a:fillRect/>
          </a:stretch>
        </p:blipFill>
        <p:spPr>
          <a:xfrm>
            <a:off x="665035" y="1302182"/>
            <a:ext cx="786130" cy="777240"/>
          </a:xfrm>
          <a:prstGeom prst="rect">
            <a:avLst/>
          </a:prstGeom>
        </p:spPr>
      </p:pic>
      <p:sp>
        <p:nvSpPr>
          <p:cNvPr id="45" name="Rectangle 44"/>
          <p:cNvSpPr/>
          <p:nvPr/>
        </p:nvSpPr>
        <p:spPr>
          <a:xfrm>
            <a:off x="7417480" y="3006144"/>
            <a:ext cx="4253820" cy="1041311"/>
          </a:xfrm>
          <a:prstGeom prst="rect">
            <a:avLst/>
          </a:prstGeom>
        </p:spPr>
        <p:txBody>
          <a:bodyPr wrap="square" lIns="91440" tIns="45720" rIns="91440" bIns="45720" anchor="ctr">
            <a:spAutoFit/>
          </a:bodyPr>
          <a:lstStyle/>
          <a:p>
            <a:pPr>
              <a:spcBef>
                <a:spcPts val="100"/>
              </a:spcBef>
              <a:spcAft>
                <a:spcPts val="100"/>
              </a:spcAft>
            </a:pPr>
            <a:r>
              <a:rPr lang="en-US" sz="1200" b="1">
                <a:solidFill>
                  <a:srgbClr val="1A3F4E"/>
                </a:solidFill>
                <a:latin typeface="BDO Grotesk"/>
                <a:ea typeface="Calibri"/>
                <a:cs typeface="Times New Roman"/>
              </a:rPr>
              <a:t>Stage 1 - </a:t>
            </a:r>
            <a:r>
              <a:rPr lang="en-US" sz="1200">
                <a:solidFill>
                  <a:srgbClr val="1A3F4E"/>
                </a:solidFill>
                <a:latin typeface="BDO Grotesk"/>
                <a:ea typeface="Calibri"/>
                <a:cs typeface="Times New Roman"/>
              </a:rPr>
              <a:t>Auto Summary: Create a first-level summary by filling a predefined deal template using extracted fields.</a:t>
            </a:r>
            <a:endParaRPr lang="en-US">
              <a:ea typeface="Calibri"/>
              <a:cs typeface="Calibri"/>
            </a:endParaRPr>
          </a:p>
          <a:p>
            <a:pPr>
              <a:spcBef>
                <a:spcPts val="100"/>
              </a:spcBef>
              <a:spcAft>
                <a:spcPts val="100"/>
              </a:spcAft>
            </a:pPr>
            <a:r>
              <a:rPr lang="en-US" sz="1200" b="1">
                <a:solidFill>
                  <a:srgbClr val="1A3F4E"/>
                </a:solidFill>
                <a:latin typeface="BDO Grotesk"/>
                <a:ea typeface="Calibri"/>
                <a:cs typeface="Times New Roman"/>
              </a:rPr>
              <a:t>Stage 2 - </a:t>
            </a:r>
            <a:r>
              <a:rPr lang="en-US" sz="1200">
                <a:solidFill>
                  <a:srgbClr val="1A3F4E"/>
                </a:solidFill>
                <a:latin typeface="BDO Grotesk"/>
                <a:ea typeface="Calibri"/>
                <a:cs typeface="Times New Roman"/>
              </a:rPr>
              <a:t>Editorial Summary: Refine the draft into a polished article that matches Real Deals’ editorial tone using advanced LLM models (GPT-4o / GPT-5).</a:t>
            </a:r>
            <a:endParaRPr lang="en-IN" sz="1200">
              <a:solidFill>
                <a:srgbClr val="1A3F4E"/>
              </a:solidFill>
              <a:latin typeface="BDO Grotesk"/>
              <a:ea typeface="Calibri"/>
              <a:cs typeface="Times New Roman"/>
            </a:endParaRPr>
          </a:p>
        </p:txBody>
      </p:sp>
      <p:sp>
        <p:nvSpPr>
          <p:cNvPr id="47" name="Rectangle 46"/>
          <p:cNvSpPr/>
          <p:nvPr/>
        </p:nvSpPr>
        <p:spPr>
          <a:xfrm>
            <a:off x="1591341" y="1181990"/>
            <a:ext cx="4464684" cy="1200329"/>
          </a:xfrm>
          <a:prstGeom prst="rect">
            <a:avLst/>
          </a:prstGeom>
        </p:spPr>
        <p:txBody>
          <a:bodyPr wrap="square" lIns="91440" tIns="45720" rIns="91440" bIns="45720" anchor="ctr">
            <a:spAutoFit/>
          </a:bodyPr>
          <a:lstStyle/>
          <a:p>
            <a:pPr marL="171450" indent="-171450">
              <a:buFont typeface="Arial" panose="020B0604020202020204" pitchFamily="34" charset="0"/>
              <a:buChar char="•"/>
            </a:pPr>
            <a:r>
              <a:rPr lang="en-US" sz="1200">
                <a:solidFill>
                  <a:srgbClr val="1A3F4E"/>
                </a:solidFill>
                <a:latin typeface="BDO Grotesk"/>
                <a:ea typeface="Calibri"/>
                <a:cs typeface="Times New Roman"/>
              </a:rPr>
              <a:t>Automatically capture deal announcements, press releases, and updates from company websites and emails (including attachments).</a:t>
            </a:r>
            <a:endParaRPr lang="en-US"/>
          </a:p>
          <a:p>
            <a:pPr marL="171450" indent="-171450">
              <a:buFont typeface="Arial" panose="020B0604020202020204" pitchFamily="34" charset="0"/>
              <a:buChar char="•"/>
            </a:pPr>
            <a:r>
              <a:rPr lang="en-US" sz="1200">
                <a:solidFill>
                  <a:srgbClr val="1A3F4E"/>
                </a:solidFill>
                <a:latin typeface="BDO Grotesk"/>
                <a:ea typeface="Calibri"/>
                <a:cs typeface="Times New Roman"/>
              </a:rPr>
              <a:t>Support multiple formats such as .</a:t>
            </a:r>
            <a:r>
              <a:rPr lang="en-US" sz="1200" err="1">
                <a:solidFill>
                  <a:srgbClr val="1A3F4E"/>
                </a:solidFill>
                <a:latin typeface="BDO Grotesk"/>
                <a:ea typeface="Calibri"/>
                <a:cs typeface="Times New Roman"/>
              </a:rPr>
              <a:t>eml</a:t>
            </a:r>
            <a:r>
              <a:rPr lang="en-US" sz="1200">
                <a:solidFill>
                  <a:srgbClr val="1A3F4E"/>
                </a:solidFill>
                <a:latin typeface="BDO Grotesk"/>
                <a:ea typeface="Calibri"/>
                <a:cs typeface="Times New Roman"/>
              </a:rPr>
              <a:t>, .pdf, .</a:t>
            </a:r>
            <a:r>
              <a:rPr lang="en-US" sz="1200" err="1">
                <a:solidFill>
                  <a:srgbClr val="1A3F4E"/>
                </a:solidFill>
                <a:latin typeface="BDO Grotesk"/>
                <a:ea typeface="Calibri"/>
                <a:cs typeface="Times New Roman"/>
              </a:rPr>
              <a:t>docx</a:t>
            </a:r>
            <a:r>
              <a:rPr lang="en-US" sz="1200">
                <a:solidFill>
                  <a:srgbClr val="1A3F4E"/>
                </a:solidFill>
                <a:latin typeface="BDO Grotesk"/>
                <a:ea typeface="Calibri"/>
                <a:cs typeface="Times New Roman"/>
              </a:rPr>
              <a:t>, and .html.</a:t>
            </a:r>
          </a:p>
          <a:p>
            <a:pPr marL="171450" indent="-171450">
              <a:buFont typeface="Arial" panose="020B0604020202020204" pitchFamily="34" charset="0"/>
              <a:buChar char="•"/>
            </a:pPr>
            <a:r>
              <a:rPr lang="en-US" sz="1200">
                <a:solidFill>
                  <a:srgbClr val="1A3F4E"/>
                </a:solidFill>
                <a:latin typeface="BDO Grotesk"/>
                <a:ea typeface="Calibri"/>
                <a:cs typeface="Times New Roman"/>
              </a:rPr>
              <a:t>Record key source metadata (URL, publication date, document type) for tracking and auditability.</a:t>
            </a:r>
            <a:endParaRPr lang="en-IN" sz="1200">
              <a:solidFill>
                <a:srgbClr val="1A3F4E"/>
              </a:solidFill>
              <a:latin typeface="BDO Grotesk"/>
              <a:ea typeface="Calibri"/>
              <a:cs typeface="Times New Roman"/>
            </a:endParaRPr>
          </a:p>
        </p:txBody>
      </p:sp>
      <p:sp>
        <p:nvSpPr>
          <p:cNvPr id="48" name="Rectangle 47"/>
          <p:cNvSpPr/>
          <p:nvPr/>
        </p:nvSpPr>
        <p:spPr>
          <a:xfrm>
            <a:off x="1591341" y="3040101"/>
            <a:ext cx="4464683" cy="1251625"/>
          </a:xfrm>
          <a:prstGeom prst="rect">
            <a:avLst/>
          </a:prstGeom>
        </p:spPr>
        <p:txBody>
          <a:bodyPr wrap="square" lIns="91440" tIns="45720" rIns="91440" bIns="45720" anchor="ctr">
            <a:spAutoFit/>
          </a:bodyPr>
          <a:lstStyle/>
          <a:p>
            <a:pPr marL="171450" indent="171450">
              <a:spcBef>
                <a:spcPts val="100"/>
              </a:spcBef>
              <a:spcAft>
                <a:spcPts val="100"/>
              </a:spcAft>
              <a:buFont typeface="Arial" panose="020B0604020202020204" pitchFamily="34" charset="0"/>
              <a:buChar char="•"/>
            </a:pPr>
            <a:r>
              <a:rPr lang="en-US" sz="1200">
                <a:solidFill>
                  <a:srgbClr val="1A3F4E"/>
                </a:solidFill>
                <a:latin typeface="BDO Grotesk"/>
                <a:ea typeface="Calibri"/>
                <a:cs typeface="Times New Roman"/>
              </a:rPr>
              <a:t>Extract readable text from varied file types using automated parsing tools.</a:t>
            </a:r>
            <a:endParaRPr lang="en-US">
              <a:solidFill>
                <a:srgbClr val="000000"/>
              </a:solidFill>
              <a:latin typeface="Calibri"/>
              <a:ea typeface="Calibri"/>
              <a:cs typeface="Calibri"/>
            </a:endParaRPr>
          </a:p>
          <a:p>
            <a:pPr marL="171450" indent="171450">
              <a:spcBef>
                <a:spcPts val="100"/>
              </a:spcBef>
              <a:spcAft>
                <a:spcPts val="100"/>
              </a:spcAft>
              <a:buFont typeface="Arial" panose="020B0604020202020204" pitchFamily="34" charset="0"/>
              <a:buChar char="•"/>
            </a:pPr>
            <a:r>
              <a:rPr lang="en-US" sz="1200">
                <a:solidFill>
                  <a:srgbClr val="1A3F4E"/>
                </a:solidFill>
                <a:latin typeface="BDO Grotesk"/>
                <a:ea typeface="Calibri"/>
                <a:cs typeface="Times New Roman"/>
              </a:rPr>
              <a:t>Clean and organize content to remove non-informative sections like disclaimers, footers, and hyperlinks.</a:t>
            </a:r>
            <a:endParaRPr lang="en-US">
              <a:solidFill>
                <a:srgbClr val="000000"/>
              </a:solidFill>
              <a:latin typeface="Calibri"/>
              <a:ea typeface="Calibri"/>
              <a:cs typeface="Calibri"/>
            </a:endParaRPr>
          </a:p>
          <a:p>
            <a:pPr marL="171450" indent="171450">
              <a:spcBef>
                <a:spcPts val="100"/>
              </a:spcBef>
              <a:spcAft>
                <a:spcPts val="100"/>
              </a:spcAft>
              <a:buFont typeface="Arial" panose="020B0604020202020204" pitchFamily="34" charset="0"/>
              <a:buChar char="•"/>
            </a:pPr>
            <a:r>
              <a:rPr lang="en-US" sz="1200">
                <a:solidFill>
                  <a:srgbClr val="1A3F4E"/>
                </a:solidFill>
                <a:latin typeface="BDO Grotesk"/>
                <a:ea typeface="Calibri"/>
                <a:cs typeface="Times New Roman"/>
              </a:rPr>
              <a:t>Segment text into logical sections (e.g., company background, deal rationale, financials) to improve AI accuracy.</a:t>
            </a:r>
            <a:endParaRPr lang="en-IN" sz="1200">
              <a:solidFill>
                <a:srgbClr val="1A3F4E"/>
              </a:solidFill>
              <a:latin typeface="BDO Grotesk"/>
              <a:ea typeface="Calibri"/>
              <a:cs typeface="Times New Roman"/>
            </a:endParaRPr>
          </a:p>
        </p:txBody>
      </p:sp>
      <p:sp>
        <p:nvSpPr>
          <p:cNvPr id="49" name="Rectangle 48"/>
          <p:cNvSpPr/>
          <p:nvPr/>
        </p:nvSpPr>
        <p:spPr>
          <a:xfrm>
            <a:off x="1591341" y="4750404"/>
            <a:ext cx="4464683" cy="1384995"/>
          </a:xfrm>
          <a:prstGeom prst="rect">
            <a:avLst/>
          </a:prstGeom>
        </p:spPr>
        <p:txBody>
          <a:bodyPr wrap="square" lIns="91440" tIns="45720" rIns="91440" bIns="45720" anchor="ctr">
            <a:spAutoFit/>
          </a:bodyPr>
          <a:lstStyle/>
          <a:p>
            <a:pPr marL="171450" indent="-171450">
              <a:buFont typeface="Arial" panose="020B0604020202020204" pitchFamily="34" charset="0"/>
              <a:buChar char="•"/>
            </a:pPr>
            <a:r>
              <a:rPr lang="en-US" sz="1200">
                <a:solidFill>
                  <a:srgbClr val="1A3F4E"/>
                </a:solidFill>
                <a:latin typeface="BDO Grotesk"/>
                <a:ea typeface="Calibri"/>
                <a:cs typeface="Times New Roman"/>
              </a:rPr>
              <a:t>Apply a Retrieval-Augmented Generation (RAG) pipeline aligned to a pre-defined schema.</a:t>
            </a:r>
            <a:endParaRPr lang="en-US"/>
          </a:p>
          <a:p>
            <a:pPr marL="171450" indent="-171450">
              <a:buFont typeface="Arial" panose="020B0604020202020204" pitchFamily="34" charset="0"/>
              <a:buChar char="•"/>
            </a:pPr>
            <a:r>
              <a:rPr lang="en-US" sz="1200">
                <a:solidFill>
                  <a:srgbClr val="1A3F4E"/>
                </a:solidFill>
                <a:latin typeface="BDO Grotesk"/>
                <a:ea typeface="Calibri"/>
                <a:cs typeface="Times New Roman"/>
              </a:rPr>
              <a:t>Automatically identify and extract key entities (e.g., Target, Sponsor, Fund, Seller) and financial data (Deal Value, Turnover, Profit).</a:t>
            </a:r>
          </a:p>
          <a:p>
            <a:pPr marL="171450" indent="-171450">
              <a:buFont typeface="Arial" panose="020B0604020202020204" pitchFamily="34" charset="0"/>
              <a:buChar char="•"/>
            </a:pPr>
            <a:r>
              <a:rPr lang="en-US" sz="1200">
                <a:solidFill>
                  <a:srgbClr val="1A3F4E"/>
                </a:solidFill>
                <a:latin typeface="BDO Grotesk"/>
                <a:ea typeface="Calibri"/>
                <a:cs typeface="Times New Roman"/>
              </a:rPr>
              <a:t>Generate structured JSON output with confidence scores for each extracted field.</a:t>
            </a:r>
            <a:endParaRPr lang="en-IN" sz="1200">
              <a:solidFill>
                <a:srgbClr val="1A3F4E"/>
              </a:solidFill>
              <a:latin typeface="BDO Grotesk"/>
              <a:ea typeface="Calibri"/>
              <a:cs typeface="Times New Roman"/>
            </a:endParaRPr>
          </a:p>
        </p:txBody>
      </p:sp>
      <p:sp>
        <p:nvSpPr>
          <p:cNvPr id="50" name="Rectangle 49"/>
          <p:cNvSpPr/>
          <p:nvPr/>
        </p:nvSpPr>
        <p:spPr>
          <a:xfrm>
            <a:off x="7417480" y="4750405"/>
            <a:ext cx="4253820" cy="1384995"/>
          </a:xfrm>
          <a:prstGeom prst="rect">
            <a:avLst/>
          </a:prstGeom>
        </p:spPr>
        <p:txBody>
          <a:bodyPr wrap="square" lIns="91440" tIns="45720" rIns="91440" bIns="45720" anchor="ctr">
            <a:spAutoFit/>
          </a:bodyPr>
          <a:lstStyle/>
          <a:p>
            <a:pPr marL="171450" indent="-171450">
              <a:buFont typeface="Arial" panose="020B0604020202020204" pitchFamily="34" charset="0"/>
              <a:buChar char="•"/>
            </a:pPr>
            <a:r>
              <a:rPr lang="en-US" sz="1200">
                <a:solidFill>
                  <a:srgbClr val="1A3F4E"/>
                </a:solidFill>
                <a:latin typeface="BDO Grotesk"/>
                <a:ea typeface="Calibri"/>
                <a:cs typeface="Times New Roman"/>
              </a:rPr>
              <a:t>Push validated structured data into SFTP in excel for POC</a:t>
            </a:r>
          </a:p>
          <a:p>
            <a:pPr marL="171450" indent="-171450">
              <a:buFont typeface="Arial" panose="020B0604020202020204" pitchFamily="34" charset="0"/>
              <a:buChar char="•"/>
            </a:pPr>
            <a:r>
              <a:rPr lang="en-US" sz="1200">
                <a:solidFill>
                  <a:srgbClr val="1A3F4E"/>
                </a:solidFill>
                <a:latin typeface="BDO Grotesk"/>
                <a:ea typeface="Calibri"/>
                <a:cs typeface="Times New Roman"/>
              </a:rPr>
              <a:t>For full project into Azure SQL for long-term storage, analytics, and dashboards.</a:t>
            </a:r>
            <a:endParaRPr lang="en-US"/>
          </a:p>
          <a:p>
            <a:pPr marL="171450" indent="-171450">
              <a:buFont typeface="Arial" panose="020B0604020202020204" pitchFamily="34" charset="0"/>
              <a:buChar char="•"/>
            </a:pPr>
            <a:r>
              <a:rPr lang="en-US" sz="1200">
                <a:solidFill>
                  <a:srgbClr val="1A3F4E"/>
                </a:solidFill>
                <a:latin typeface="BDO Grotesk"/>
                <a:ea typeface="Calibri"/>
                <a:cs typeface="Times New Roman"/>
              </a:rPr>
              <a:t>Automatically upload deal summaries into </a:t>
            </a:r>
            <a:r>
              <a:rPr lang="en-US" sz="1200" err="1">
                <a:solidFill>
                  <a:srgbClr val="1A3F4E"/>
                </a:solidFill>
                <a:latin typeface="BDO Grotesk"/>
                <a:ea typeface="Calibri"/>
                <a:cs typeface="Times New Roman"/>
              </a:rPr>
              <a:t>ExpressionEngine</a:t>
            </a:r>
            <a:r>
              <a:rPr lang="en-US" sz="1200">
                <a:solidFill>
                  <a:srgbClr val="1A3F4E"/>
                </a:solidFill>
                <a:latin typeface="BDO Grotesk"/>
                <a:ea typeface="Calibri"/>
                <a:cs typeface="Times New Roman"/>
              </a:rPr>
              <a:t> CMS as draft articles for editorial review and publication.</a:t>
            </a:r>
          </a:p>
        </p:txBody>
      </p:sp>
      <p:sp>
        <p:nvSpPr>
          <p:cNvPr id="76" name="Rectangle 75"/>
          <p:cNvSpPr/>
          <p:nvPr/>
        </p:nvSpPr>
        <p:spPr>
          <a:xfrm>
            <a:off x="7351482" y="1162017"/>
            <a:ext cx="4253820" cy="1384995"/>
          </a:xfrm>
          <a:prstGeom prst="rect">
            <a:avLst/>
          </a:prstGeom>
        </p:spPr>
        <p:txBody>
          <a:bodyPr wrap="square" lIns="91440" tIns="45720" rIns="91440" bIns="45720" anchor="ctr">
            <a:spAutoFit/>
          </a:bodyPr>
          <a:lstStyle/>
          <a:p>
            <a:pPr marL="171450" indent="-171450">
              <a:buFont typeface="Arial" panose="020B0604020202020204" pitchFamily="34" charset="0"/>
              <a:buChar char="•"/>
            </a:pPr>
            <a:r>
              <a:rPr lang="en-US" sz="1200">
                <a:solidFill>
                  <a:srgbClr val="1A3F4E"/>
                </a:solidFill>
                <a:latin typeface="BDO Grotesk"/>
                <a:ea typeface="Calibri"/>
                <a:cs typeface="Times New Roman"/>
              </a:rPr>
              <a:t>Match extracted entities against Real Deals’ controlled vocabularies/picklist values for Sector, Sub-Sector, Region, and Deal Type.</a:t>
            </a:r>
            <a:endParaRPr lang="en-US"/>
          </a:p>
          <a:p>
            <a:pPr marL="171450" indent="-171450">
              <a:buFont typeface="Arial" panose="020B0604020202020204" pitchFamily="34" charset="0"/>
              <a:buChar char="•"/>
            </a:pPr>
            <a:r>
              <a:rPr lang="en-US" sz="1200">
                <a:solidFill>
                  <a:srgbClr val="1A3F4E"/>
                </a:solidFill>
                <a:latin typeface="BDO Grotesk"/>
                <a:ea typeface="Calibri"/>
                <a:cs typeface="Times New Roman"/>
              </a:rPr>
              <a:t>Standardize numeric values, currency formats, and naming conventions.</a:t>
            </a:r>
          </a:p>
          <a:p>
            <a:pPr marL="171450" indent="-171450">
              <a:buFont typeface="Arial" panose="020B0604020202020204" pitchFamily="34" charset="0"/>
              <a:buChar char="•"/>
            </a:pPr>
            <a:r>
              <a:rPr lang="en-US" sz="1200">
                <a:solidFill>
                  <a:srgbClr val="1A3F4E"/>
                </a:solidFill>
                <a:latin typeface="BDO Grotesk"/>
                <a:ea typeface="Calibri"/>
                <a:cs typeface="Times New Roman"/>
              </a:rPr>
              <a:t>Flag low-confidence data for editorial review and prevent duplicates through automated checks.</a:t>
            </a:r>
            <a:endParaRPr lang="en-IN" sz="1200">
              <a:solidFill>
                <a:srgbClr val="1A3F4E"/>
              </a:solidFill>
              <a:latin typeface="BDO Grotesk"/>
              <a:ea typeface="Calibri"/>
              <a:cs typeface="Times New Roman"/>
            </a:endParaRPr>
          </a:p>
        </p:txBody>
      </p:sp>
      <p:sp>
        <p:nvSpPr>
          <p:cNvPr id="16" name="Rectangle 15"/>
          <p:cNvSpPr/>
          <p:nvPr/>
        </p:nvSpPr>
        <p:spPr>
          <a:xfrm>
            <a:off x="880935" y="1391717"/>
            <a:ext cx="354330" cy="598170"/>
          </a:xfrm>
          <a:prstGeom prst="rect">
            <a:avLst/>
          </a:prstGeom>
        </p:spPr>
        <p:txBody>
          <a:bodyPr wrap="square" anchor="ctr">
            <a:spAutoFit/>
          </a:bodyPr>
          <a:lstStyle/>
          <a:p>
            <a:pPr algn="ctr"/>
            <a:r>
              <a:rPr lang="en-US" altLang="en-IN" sz="2800" b="1">
                <a:solidFill>
                  <a:schemeClr val="bg1"/>
                </a:solidFill>
                <a:latin typeface="BDO Grotesk" charset="0"/>
                <a:ea typeface="Calibri" panose="020F0502020204030204" charset="0"/>
                <a:cs typeface="Times New Roman" panose="02020603050405020304" pitchFamily="18" charset="0"/>
              </a:rPr>
              <a:t>1</a:t>
            </a:r>
          </a:p>
        </p:txBody>
      </p:sp>
      <p:sp>
        <p:nvSpPr>
          <p:cNvPr id="22" name="Rectangle 21"/>
          <p:cNvSpPr/>
          <p:nvPr/>
        </p:nvSpPr>
        <p:spPr>
          <a:xfrm>
            <a:off x="6750875" y="1391717"/>
            <a:ext cx="354330" cy="598170"/>
          </a:xfrm>
          <a:prstGeom prst="rect">
            <a:avLst/>
          </a:prstGeom>
        </p:spPr>
        <p:txBody>
          <a:bodyPr wrap="square" anchor="ctr">
            <a:spAutoFit/>
          </a:bodyPr>
          <a:lstStyle/>
          <a:p>
            <a:pPr algn="ctr"/>
            <a:r>
              <a:rPr lang="en-IN" altLang="en-US" sz="2800" b="1">
                <a:solidFill>
                  <a:schemeClr val="bg1"/>
                </a:solidFill>
                <a:latin typeface="BDO Grotesk" charset="0"/>
                <a:ea typeface="Calibri" panose="020F0502020204030204" charset="0"/>
                <a:cs typeface="Times New Roman" panose="02020603050405020304" pitchFamily="18" charset="0"/>
              </a:rPr>
              <a:t>4</a:t>
            </a:r>
          </a:p>
        </p:txBody>
      </p:sp>
      <p:sp>
        <p:nvSpPr>
          <p:cNvPr id="23" name="Rectangle 22"/>
          <p:cNvSpPr/>
          <p:nvPr/>
        </p:nvSpPr>
        <p:spPr>
          <a:xfrm>
            <a:off x="893000" y="3148327"/>
            <a:ext cx="354330" cy="598170"/>
          </a:xfrm>
          <a:prstGeom prst="rect">
            <a:avLst/>
          </a:prstGeom>
        </p:spPr>
        <p:txBody>
          <a:bodyPr wrap="square" anchor="ctr">
            <a:spAutoFit/>
          </a:bodyPr>
          <a:lstStyle/>
          <a:p>
            <a:pPr algn="ctr"/>
            <a:r>
              <a:rPr lang="en-IN" altLang="en-US" sz="2800" b="1">
                <a:solidFill>
                  <a:schemeClr val="bg1"/>
                </a:solidFill>
                <a:latin typeface="BDO Grotesk" charset="0"/>
                <a:ea typeface="Calibri" panose="020F0502020204030204" charset="0"/>
                <a:cs typeface="Times New Roman" panose="02020603050405020304" pitchFamily="18" charset="0"/>
              </a:rPr>
              <a:t>2</a:t>
            </a:r>
          </a:p>
        </p:txBody>
      </p:sp>
      <p:sp>
        <p:nvSpPr>
          <p:cNvPr id="25" name="Rectangle 24"/>
          <p:cNvSpPr/>
          <p:nvPr/>
        </p:nvSpPr>
        <p:spPr>
          <a:xfrm>
            <a:off x="6750875" y="3148327"/>
            <a:ext cx="354330" cy="598170"/>
          </a:xfrm>
          <a:prstGeom prst="rect">
            <a:avLst/>
          </a:prstGeom>
        </p:spPr>
        <p:txBody>
          <a:bodyPr wrap="square" anchor="ctr">
            <a:spAutoFit/>
          </a:bodyPr>
          <a:lstStyle/>
          <a:p>
            <a:pPr algn="ctr"/>
            <a:r>
              <a:rPr lang="en-IN" altLang="en-US" sz="2800" b="1">
                <a:solidFill>
                  <a:schemeClr val="bg1"/>
                </a:solidFill>
                <a:latin typeface="BDO Grotesk" charset="0"/>
                <a:ea typeface="Calibri" panose="020F0502020204030204" charset="0"/>
                <a:cs typeface="Times New Roman" panose="02020603050405020304" pitchFamily="18" charset="0"/>
              </a:rPr>
              <a:t>5</a:t>
            </a:r>
          </a:p>
        </p:txBody>
      </p:sp>
      <p:sp>
        <p:nvSpPr>
          <p:cNvPr id="26" name="Rectangle 25"/>
          <p:cNvSpPr/>
          <p:nvPr/>
        </p:nvSpPr>
        <p:spPr>
          <a:xfrm>
            <a:off x="893000" y="5143817"/>
            <a:ext cx="354330" cy="598170"/>
          </a:xfrm>
          <a:prstGeom prst="rect">
            <a:avLst/>
          </a:prstGeom>
        </p:spPr>
        <p:txBody>
          <a:bodyPr wrap="square" anchor="ctr">
            <a:spAutoFit/>
          </a:bodyPr>
          <a:lstStyle/>
          <a:p>
            <a:pPr algn="ctr"/>
            <a:r>
              <a:rPr lang="en-IN" altLang="en-US" sz="2800" b="1">
                <a:solidFill>
                  <a:schemeClr val="bg1"/>
                </a:solidFill>
                <a:latin typeface="BDO Grotesk" charset="0"/>
                <a:ea typeface="Calibri" panose="020F0502020204030204" charset="0"/>
                <a:cs typeface="Times New Roman" panose="02020603050405020304" pitchFamily="18" charset="0"/>
              </a:rPr>
              <a:t>3</a:t>
            </a:r>
          </a:p>
        </p:txBody>
      </p:sp>
      <p:sp>
        <p:nvSpPr>
          <p:cNvPr id="27" name="Rectangle 26"/>
          <p:cNvSpPr/>
          <p:nvPr/>
        </p:nvSpPr>
        <p:spPr>
          <a:xfrm>
            <a:off x="6750875" y="5143817"/>
            <a:ext cx="354330" cy="598170"/>
          </a:xfrm>
          <a:prstGeom prst="rect">
            <a:avLst/>
          </a:prstGeom>
        </p:spPr>
        <p:txBody>
          <a:bodyPr wrap="square" anchor="ctr">
            <a:spAutoFit/>
          </a:bodyPr>
          <a:lstStyle/>
          <a:p>
            <a:pPr algn="ctr"/>
            <a:r>
              <a:rPr lang="en-IN" altLang="en-US" sz="2800" b="1">
                <a:solidFill>
                  <a:schemeClr val="bg1"/>
                </a:solidFill>
                <a:latin typeface="BDO Grotesk" charset="0"/>
                <a:ea typeface="Calibri" panose="020F0502020204030204" charset="0"/>
                <a:cs typeface="Times New Roman" panose="02020603050405020304" pitchFamily="18" charset="0"/>
              </a:rPr>
              <a:t>6</a:t>
            </a:r>
          </a:p>
        </p:txBody>
      </p:sp>
      <p:sp>
        <p:nvSpPr>
          <p:cNvPr id="15" name="Slide Number Placeholder 14"/>
          <p:cNvSpPr>
            <a:spLocks noGrp="1"/>
          </p:cNvSpPr>
          <p:nvPr>
            <p:ph type="sldNum" sz="quarter" idx="12"/>
          </p:nvPr>
        </p:nvSpPr>
        <p:spPr/>
        <p:txBody>
          <a:bodyPr/>
          <a:lstStyle/>
          <a:p>
            <a:fld id="{B3561BA9-CDCF-4958-B8AB-66F3BF063E13}" type="slidenum">
              <a:rPr lang="en-US" smtClean="0"/>
              <a:t>4</a:t>
            </a:fld>
            <a:endParaRPr lang="en-US"/>
          </a:p>
        </p:txBody>
      </p:sp>
      <p:sp>
        <p:nvSpPr>
          <p:cNvPr id="6" name="Title 5"/>
          <p:cNvSpPr>
            <a:spLocks noGrp="1"/>
          </p:cNvSpPr>
          <p:nvPr>
            <p:ph type="title"/>
          </p:nvPr>
        </p:nvSpPr>
        <p:spPr>
          <a:xfrm>
            <a:off x="665035" y="148566"/>
            <a:ext cx="9565826" cy="665480"/>
          </a:xfrm>
        </p:spPr>
        <p:txBody>
          <a:bodyPr>
            <a:noAutofit/>
          </a:bodyPr>
          <a:lstStyle/>
          <a:p>
            <a:r>
              <a:rPr lang="en-US" sz="2400" b="1">
                <a:solidFill>
                  <a:srgbClr val="1A3F4E"/>
                </a:solidFill>
                <a:sym typeface="+mn-ea"/>
              </a:rPr>
              <a:t>End-to-End AI-Enabled Deal Data Processing Workflow</a:t>
            </a:r>
          </a:p>
        </p:txBody>
      </p:sp>
      <p:sp>
        <p:nvSpPr>
          <p:cNvPr id="24" name="TextBox 33"/>
          <p:cNvSpPr txBox="1"/>
          <p:nvPr/>
        </p:nvSpPr>
        <p:spPr>
          <a:xfrm>
            <a:off x="1087539" y="854240"/>
            <a:ext cx="2974795"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Web &amp; Document Collection</a:t>
            </a:r>
            <a:endParaRPr lang="en-US" sz="1400" b="1">
              <a:solidFill>
                <a:srgbClr val="769467"/>
              </a:solidFill>
              <a:latin typeface="BDO Grotesk"/>
            </a:endParaRPr>
          </a:p>
        </p:txBody>
      </p:sp>
      <p:sp>
        <p:nvSpPr>
          <p:cNvPr id="28" name="TextBox 33"/>
          <p:cNvSpPr txBox="1"/>
          <p:nvPr/>
        </p:nvSpPr>
        <p:spPr>
          <a:xfrm>
            <a:off x="7321105" y="856641"/>
            <a:ext cx="3017264"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Validation &amp; Taxonomy Alignment</a:t>
            </a:r>
            <a:endParaRPr lang="en-US" sz="1400" b="1">
              <a:solidFill>
                <a:srgbClr val="769467"/>
              </a:solidFill>
              <a:latin typeface="BDO Grotesk"/>
            </a:endParaRPr>
          </a:p>
        </p:txBody>
      </p:sp>
      <p:sp>
        <p:nvSpPr>
          <p:cNvPr id="29" name="TextBox 33"/>
          <p:cNvSpPr txBox="1"/>
          <p:nvPr/>
        </p:nvSpPr>
        <p:spPr>
          <a:xfrm>
            <a:off x="1090039" y="2670544"/>
            <a:ext cx="3197148"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Content Parsing &amp; Structuring</a:t>
            </a:r>
            <a:endParaRPr lang="en-US" sz="1400" b="1">
              <a:solidFill>
                <a:srgbClr val="769467"/>
              </a:solidFill>
              <a:latin typeface="BDO Grotesk"/>
            </a:endParaRPr>
          </a:p>
        </p:txBody>
      </p:sp>
      <p:sp>
        <p:nvSpPr>
          <p:cNvPr id="30" name="TextBox 33"/>
          <p:cNvSpPr txBox="1"/>
          <p:nvPr/>
        </p:nvSpPr>
        <p:spPr>
          <a:xfrm>
            <a:off x="7328844" y="2609520"/>
            <a:ext cx="3392031"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Summarisation &amp; Content Generation</a:t>
            </a:r>
            <a:endParaRPr lang="en-US" sz="1400" b="1">
              <a:solidFill>
                <a:srgbClr val="769467"/>
              </a:solidFill>
              <a:latin typeface="BDO Grotesk"/>
            </a:endParaRPr>
          </a:p>
        </p:txBody>
      </p:sp>
      <p:sp>
        <p:nvSpPr>
          <p:cNvPr id="31" name="TextBox 33"/>
          <p:cNvSpPr txBox="1"/>
          <p:nvPr/>
        </p:nvSpPr>
        <p:spPr>
          <a:xfrm>
            <a:off x="1235265" y="4397859"/>
            <a:ext cx="2747443"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AI-Powered Data Extraction</a:t>
            </a:r>
            <a:endParaRPr lang="en-US" sz="1400" b="1">
              <a:solidFill>
                <a:srgbClr val="769467"/>
              </a:solidFill>
              <a:latin typeface="BDO Grotesk"/>
            </a:endParaRPr>
          </a:p>
        </p:txBody>
      </p:sp>
      <p:sp>
        <p:nvSpPr>
          <p:cNvPr id="32" name="TextBox 33"/>
          <p:cNvSpPr txBox="1"/>
          <p:nvPr/>
        </p:nvSpPr>
        <p:spPr>
          <a:xfrm>
            <a:off x="7503583" y="4352698"/>
            <a:ext cx="2049759" cy="307777"/>
          </a:xfrm>
          <a:prstGeom prst="rect">
            <a:avLst/>
          </a:prstGeom>
          <a:noFill/>
        </p:spPr>
        <p:txBody>
          <a:bodyPr wrap="square" lIns="0" rIns="0" rtlCol="0" anchor="b">
            <a:spAutoFit/>
          </a:bodyPr>
          <a:lstStyle/>
          <a:p>
            <a:pPr algn="ctr"/>
            <a:r>
              <a:rPr lang="en-IN" sz="1400" b="1">
                <a:solidFill>
                  <a:srgbClr val="769467"/>
                </a:solidFill>
                <a:latin typeface="BDO Grotesk"/>
                <a:sym typeface="+mn-ea"/>
              </a:rPr>
              <a:t>Integration &amp; Publishing</a:t>
            </a:r>
            <a:endParaRPr lang="en-US" sz="1400" b="1">
              <a:solidFill>
                <a:srgbClr val="769467"/>
              </a:solidFill>
              <a:latin typeface="BDO Grotesk"/>
            </a:endParaRPr>
          </a:p>
        </p:txBody>
      </p:sp>
    </p:spTree>
    <p:extLst>
      <p:ext uri="{BB962C8B-B14F-4D97-AF65-F5344CB8AC3E}">
        <p14:creationId xmlns:p14="http://schemas.microsoft.com/office/powerpoint/2010/main" val="261832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p:txBody>
          <a:bodyPr/>
          <a:lstStyle/>
          <a:p>
            <a:fld id="{B3561BA9-CDCF-4958-B8AB-66F3BF063E13}" type="slidenum">
              <a:rPr lang="en-US" smtClean="0"/>
              <a:t>5</a:t>
            </a:fld>
            <a:endParaRPr lang="en-US"/>
          </a:p>
        </p:txBody>
      </p:sp>
      <p:sp>
        <p:nvSpPr>
          <p:cNvPr id="3" name="Title 17">
            <a:extLst>
              <a:ext uri="{FF2B5EF4-FFF2-40B4-BE49-F238E27FC236}">
                <a16:creationId xmlns:a16="http://schemas.microsoft.com/office/drawing/2014/main" id="{3CF20784-050D-639D-09A2-DD7AA81359B1}"/>
              </a:ext>
            </a:extLst>
          </p:cNvPr>
          <p:cNvSpPr>
            <a:spLocks noGrp="1"/>
          </p:cNvSpPr>
          <p:nvPr>
            <p:ph type="title"/>
          </p:nvPr>
        </p:nvSpPr>
        <p:spPr>
          <a:xfrm>
            <a:off x="317633" y="35059"/>
            <a:ext cx="9454314" cy="665480"/>
          </a:xfrm>
        </p:spPr>
        <p:txBody>
          <a:bodyPr>
            <a:noAutofit/>
          </a:bodyPr>
          <a:lstStyle/>
          <a:p>
            <a:pPr marL="0" indent="0">
              <a:buNone/>
            </a:pPr>
            <a:r>
              <a:rPr lang="en-US" sz="2900" b="1">
                <a:solidFill>
                  <a:srgbClr val="164055"/>
                </a:solidFill>
                <a:sym typeface="+mn-ea"/>
              </a:rPr>
              <a:t>Detailed Data Extraction Workflow</a:t>
            </a:r>
          </a:p>
        </p:txBody>
      </p:sp>
      <p:pic>
        <p:nvPicPr>
          <p:cNvPr id="2" name="Picture 1">
            <a:extLst>
              <a:ext uri="{FF2B5EF4-FFF2-40B4-BE49-F238E27FC236}">
                <a16:creationId xmlns:a16="http://schemas.microsoft.com/office/drawing/2014/main" id="{080AC0AF-C404-6006-D2E6-CA6502372101}"/>
              </a:ext>
            </a:extLst>
          </p:cNvPr>
          <p:cNvPicPr>
            <a:picLocks noChangeAspect="1"/>
          </p:cNvPicPr>
          <p:nvPr/>
        </p:nvPicPr>
        <p:blipFill>
          <a:blip r:embed="rId2"/>
          <a:stretch>
            <a:fillRect/>
          </a:stretch>
        </p:blipFill>
        <p:spPr>
          <a:xfrm>
            <a:off x="0" y="848263"/>
            <a:ext cx="12192000" cy="55209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p:txBody>
          <a:bodyPr/>
          <a:lstStyle/>
          <a:p>
            <a:fld id="{B3561BA9-CDCF-4958-B8AB-66F3BF063E13}" type="slidenum">
              <a:rPr lang="en-US" smtClean="0"/>
              <a:t>6</a:t>
            </a:fld>
            <a:endParaRPr lang="en-US"/>
          </a:p>
        </p:txBody>
      </p:sp>
      <p:sp>
        <p:nvSpPr>
          <p:cNvPr id="29" name="Title 3"/>
          <p:cNvSpPr>
            <a:spLocks noGrp="1"/>
          </p:cNvSpPr>
          <p:nvPr/>
        </p:nvSpPr>
        <p:spPr>
          <a:xfrm>
            <a:off x="310969" y="75352"/>
            <a:ext cx="9543523" cy="6654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BDO Grotesk DemiBold" charset="0"/>
                <a:ea typeface="+mj-ea"/>
                <a:cs typeface="+mj-cs"/>
              </a:defRPr>
            </a:lvl1pPr>
          </a:lstStyle>
          <a:p>
            <a:r>
              <a:rPr lang="en-US" sz="2900" b="1">
                <a:solidFill>
                  <a:srgbClr val="164055"/>
                </a:solidFill>
                <a:sym typeface="+mn-ea"/>
              </a:rPr>
              <a:t>Technical Architecture Diagram</a:t>
            </a:r>
          </a:p>
        </p:txBody>
      </p:sp>
      <p:sp>
        <p:nvSpPr>
          <p:cNvPr id="13" name="TextBox 12">
            <a:extLst>
              <a:ext uri="{FF2B5EF4-FFF2-40B4-BE49-F238E27FC236}">
                <a16:creationId xmlns:a16="http://schemas.microsoft.com/office/drawing/2014/main" id="{3FFB455A-ECF2-BB81-FC5B-CD0172B704A6}"/>
              </a:ext>
            </a:extLst>
          </p:cNvPr>
          <p:cNvSpPr txBox="1"/>
          <p:nvPr/>
        </p:nvSpPr>
        <p:spPr>
          <a:xfrm>
            <a:off x="2459273" y="6409928"/>
            <a:ext cx="8546184" cy="261610"/>
          </a:xfrm>
          <a:prstGeom prst="rect">
            <a:avLst/>
          </a:prstGeom>
          <a:noFill/>
        </p:spPr>
        <p:txBody>
          <a:bodyPr wrap="square" rtlCol="0">
            <a:spAutoFit/>
          </a:bodyPr>
          <a:lstStyle/>
          <a:p>
            <a:r>
              <a:rPr lang="en-US" sz="1100">
                <a:solidFill>
                  <a:srgbClr val="FF0000"/>
                </a:solidFill>
              </a:rPr>
              <a:t>Note: </a:t>
            </a:r>
            <a:r>
              <a:rPr lang="en-US" sz="1100" err="1">
                <a:solidFill>
                  <a:srgbClr val="FF0000"/>
                </a:solidFill>
              </a:rPr>
              <a:t>ScrapeX</a:t>
            </a:r>
            <a:r>
              <a:rPr lang="en-US" sz="1100">
                <a:solidFill>
                  <a:srgbClr val="FF0000"/>
                </a:solidFill>
              </a:rPr>
              <a:t> and KIAA platforms are fully owned intellectual property (IP) of Merit Data and Tech Ltd. </a:t>
            </a:r>
          </a:p>
        </p:txBody>
      </p:sp>
      <p:pic>
        <p:nvPicPr>
          <p:cNvPr id="2" name="Picture 1">
            <a:extLst>
              <a:ext uri="{FF2B5EF4-FFF2-40B4-BE49-F238E27FC236}">
                <a16:creationId xmlns:a16="http://schemas.microsoft.com/office/drawing/2014/main" id="{A4E868AB-E771-9384-CA5A-995B6C6A0517}"/>
              </a:ext>
            </a:extLst>
          </p:cNvPr>
          <p:cNvPicPr>
            <a:picLocks noChangeAspect="1"/>
          </p:cNvPicPr>
          <p:nvPr/>
        </p:nvPicPr>
        <p:blipFill>
          <a:blip r:embed="rId2"/>
          <a:stretch>
            <a:fillRect/>
          </a:stretch>
        </p:blipFill>
        <p:spPr>
          <a:xfrm>
            <a:off x="0" y="846021"/>
            <a:ext cx="12192000" cy="55685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639261" y="1096282"/>
            <a:ext cx="10913478" cy="4237718"/>
          </a:xfrm>
        </p:spPr>
        <p:txBody>
          <a:bodyPr>
            <a:noAutofit/>
          </a:bodyPr>
          <a:lstStyle/>
          <a:p>
            <a:pPr marL="0" indent="0">
              <a:lnSpc>
                <a:spcPts val="2400"/>
              </a:lnSpc>
              <a:spcBef>
                <a:spcPts val="0"/>
              </a:spcBef>
              <a:buNone/>
            </a:pPr>
            <a:r>
              <a:rPr lang="en-US" sz="1600">
                <a:solidFill>
                  <a:srgbClr val="052F47"/>
                </a:solidFill>
              </a:rPr>
              <a:t>To perform a Proof of Concept (POC) on a selected set of sources of different complexities to demonstrate Merit’s capability to automate and streamline Real Deals Media’s (RDM) data extraction and editorial workflows enabling faster, more accurate, and scalable publishing of Private Equity and M&amp;A deal intelligence.</a:t>
            </a:r>
          </a:p>
          <a:p>
            <a:pPr marL="0" indent="0">
              <a:lnSpc>
                <a:spcPts val="2400"/>
              </a:lnSpc>
              <a:spcBef>
                <a:spcPts val="0"/>
              </a:spcBef>
              <a:buNone/>
            </a:pPr>
            <a:endParaRPr lang="en-GB" sz="1600">
              <a:solidFill>
                <a:srgbClr val="052F47"/>
              </a:solidFill>
            </a:endParaRPr>
          </a:p>
          <a:p>
            <a:pPr marL="0" indent="0">
              <a:lnSpc>
                <a:spcPct val="100000"/>
              </a:lnSpc>
              <a:spcBef>
                <a:spcPts val="0"/>
              </a:spcBef>
              <a:buNone/>
            </a:pPr>
            <a:endParaRPr lang="en-IN" sz="1400">
              <a:solidFill>
                <a:srgbClr val="052F47"/>
              </a:solidFill>
              <a:effectLst/>
              <a:ea typeface="Calibri" panose="020F0502020204030204" charset="0"/>
              <a:cs typeface="Times New Roman" panose="02020603050405020304" pitchFamily="18" charset="0"/>
              <a:sym typeface="+mn-ea"/>
            </a:endParaRPr>
          </a:p>
          <a:p>
            <a:pPr marR="0" algn="l" defTabSz="914400" rtl="0" eaLnBrk="1" fontAlgn="auto" latinLnBrk="0" hangingPunct="1">
              <a:lnSpc>
                <a:spcPct val="100000"/>
              </a:lnSpc>
              <a:spcBef>
                <a:spcPts val="0"/>
              </a:spcBef>
              <a:spcAft>
                <a:spcPts val="0"/>
              </a:spcAft>
              <a:buClrTx/>
              <a:buSzTx/>
              <a:buBlip>
                <a:blip r:embed="rId3"/>
              </a:buBlip>
            </a:pPr>
            <a:endParaRPr lang="en-IN" sz="1400" b="0">
              <a:solidFill>
                <a:srgbClr val="1A3F4E"/>
              </a:solidFill>
              <a:effectLst/>
              <a:ea typeface="Calibri" panose="020F0502020204030204" charset="0"/>
              <a:cs typeface="Times New Roman" panose="02020603050405020304" pitchFamily="18" charset="0"/>
              <a:sym typeface="+mn-ea"/>
            </a:endParaRPr>
          </a:p>
          <a:p>
            <a:pPr marR="0" algn="l" defTabSz="914400" rtl="0" eaLnBrk="1" fontAlgn="auto" latinLnBrk="0" hangingPunct="1">
              <a:lnSpc>
                <a:spcPct val="100000"/>
              </a:lnSpc>
              <a:spcBef>
                <a:spcPts val="0"/>
              </a:spcBef>
              <a:spcAft>
                <a:spcPts val="0"/>
              </a:spcAft>
              <a:buClrTx/>
              <a:buSzTx/>
              <a:buBlip>
                <a:blip r:embed="rId3"/>
              </a:buBlip>
            </a:pPr>
            <a:endParaRPr lang="en-IN" sz="1400" b="0">
              <a:solidFill>
                <a:srgbClr val="1A3F4E"/>
              </a:solidFill>
              <a:effectLst/>
              <a:ea typeface="Calibri" panose="020F0502020204030204" charset="0"/>
              <a:cs typeface="Times New Roman" panose="02020603050405020304" pitchFamily="18" charset="0"/>
              <a:sym typeface="+mn-ea"/>
            </a:endParaRPr>
          </a:p>
        </p:txBody>
      </p:sp>
      <p:sp>
        <p:nvSpPr>
          <p:cNvPr id="4" name="Title 3"/>
          <p:cNvSpPr>
            <a:spLocks noGrp="1"/>
          </p:cNvSpPr>
          <p:nvPr>
            <p:ph type="title"/>
          </p:nvPr>
        </p:nvSpPr>
        <p:spPr>
          <a:xfrm>
            <a:off x="384700" y="188074"/>
            <a:ext cx="9693182" cy="518795"/>
          </a:xfrm>
        </p:spPr>
        <p:txBody>
          <a:bodyPr>
            <a:noAutofit/>
          </a:bodyPr>
          <a:lstStyle/>
          <a:p>
            <a:r>
              <a:rPr lang="en-US" sz="2900" b="1">
                <a:solidFill>
                  <a:srgbClr val="1A3F4E"/>
                </a:solidFill>
                <a:sym typeface="+mn-ea"/>
              </a:rPr>
              <a:t>POC Objectives</a:t>
            </a:r>
          </a:p>
        </p:txBody>
      </p:sp>
      <p:sp>
        <p:nvSpPr>
          <p:cNvPr id="2" name="Slide Number Placeholder 1"/>
          <p:cNvSpPr>
            <a:spLocks noGrp="1"/>
          </p:cNvSpPr>
          <p:nvPr>
            <p:ph type="sldNum" sz="quarter" idx="12"/>
          </p:nvPr>
        </p:nvSpPr>
        <p:spPr/>
        <p:txBody>
          <a:bodyPr/>
          <a:lstStyle/>
          <a:p>
            <a:fld id="{B3561BA9-CDCF-4958-B8AB-66F3BF063E13}" type="slidenum">
              <a:rPr lang="en-US" smtClean="0"/>
              <a:t>7</a:t>
            </a:fld>
            <a:endParaRPr lang="en-US"/>
          </a:p>
        </p:txBody>
      </p:sp>
      <p:sp>
        <p:nvSpPr>
          <p:cNvPr id="7" name="Text Placeholder 2"/>
          <p:cNvSpPr>
            <a:spLocks noGrp="1"/>
          </p:cNvSpPr>
          <p:nvPr/>
        </p:nvSpPr>
        <p:spPr>
          <a:xfrm>
            <a:off x="384700" y="2169953"/>
            <a:ext cx="10913478" cy="3553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55650" indent="-347663">
              <a:lnSpc>
                <a:spcPts val="2100"/>
              </a:lnSpc>
              <a:spcBef>
                <a:spcPts val="0"/>
              </a:spcBef>
              <a:buBlip>
                <a:blip r:embed="rId4"/>
              </a:buBlip>
            </a:pPr>
            <a:endParaRPr lang="en-US" sz="1600">
              <a:solidFill>
                <a:srgbClr val="052F47"/>
              </a:solidFill>
            </a:endParaRPr>
          </a:p>
          <a:p>
            <a:pPr marL="755650" indent="-347663">
              <a:lnSpc>
                <a:spcPct val="150000"/>
              </a:lnSpc>
              <a:spcBef>
                <a:spcPts val="0"/>
              </a:spcBef>
              <a:buBlip>
                <a:blip r:embed="rId4"/>
              </a:buBlip>
            </a:pPr>
            <a:r>
              <a:rPr lang="en-US" sz="1600">
                <a:solidFill>
                  <a:srgbClr val="052F47"/>
                </a:solidFill>
              </a:rPr>
              <a:t>Automates data extraction from structured and unstructured deal announcements, press releases, and company updates</a:t>
            </a:r>
          </a:p>
          <a:p>
            <a:pPr marL="755650" indent="-347663">
              <a:lnSpc>
                <a:spcPct val="150000"/>
              </a:lnSpc>
              <a:spcBef>
                <a:spcPts val="0"/>
              </a:spcBef>
              <a:buBlip>
                <a:blip r:embed="rId4"/>
              </a:buBlip>
            </a:pPr>
            <a:r>
              <a:rPr lang="en-US" sz="1600">
                <a:solidFill>
                  <a:srgbClr val="052F47"/>
                </a:solidFill>
              </a:rPr>
              <a:t>Streamlines editorial workflows by converting raw content into structured deal records aligned with RDM’s taxonomy</a:t>
            </a:r>
          </a:p>
          <a:p>
            <a:pPr marL="755650" indent="-347663">
              <a:lnSpc>
                <a:spcPct val="150000"/>
              </a:lnSpc>
              <a:spcBef>
                <a:spcPts val="0"/>
              </a:spcBef>
              <a:buBlip>
                <a:blip r:embed="rId4"/>
              </a:buBlip>
            </a:pPr>
            <a:r>
              <a:rPr lang="en-US" sz="1600">
                <a:solidFill>
                  <a:srgbClr val="052F47"/>
                </a:solidFill>
              </a:rPr>
              <a:t>Ensures accuracy and traceability through validation, deduplication, and confidence scoring for each extracted field</a:t>
            </a:r>
          </a:p>
          <a:p>
            <a:pPr marL="755650" indent="-347663">
              <a:lnSpc>
                <a:spcPct val="150000"/>
              </a:lnSpc>
              <a:spcBef>
                <a:spcPts val="0"/>
              </a:spcBef>
              <a:buBlip>
                <a:blip r:embed="rId4"/>
              </a:buBlip>
            </a:pPr>
            <a:r>
              <a:rPr lang="en-US" sz="1600">
                <a:solidFill>
                  <a:srgbClr val="052F47"/>
                </a:solidFill>
              </a:rPr>
              <a:t>Reduces manual effort by leveraging AI-driven parsing and enrichment with human-in-the-loop verification</a:t>
            </a:r>
          </a:p>
          <a:p>
            <a:pPr marL="755650" indent="-347663">
              <a:lnSpc>
                <a:spcPct val="150000"/>
              </a:lnSpc>
              <a:spcBef>
                <a:spcPts val="0"/>
              </a:spcBef>
              <a:buBlip>
                <a:blip r:embed="rId4"/>
              </a:buBlip>
            </a:pPr>
            <a:r>
              <a:rPr lang="en-US" sz="1600">
                <a:solidFill>
                  <a:srgbClr val="052F47"/>
                </a:solidFill>
              </a:rPr>
              <a:t>Delivers faster turnaround for publishing verified deal intelligence into RDM’s CMS</a:t>
            </a:r>
          </a:p>
          <a:p>
            <a:pPr marL="755650" indent="-347663">
              <a:lnSpc>
                <a:spcPct val="150000"/>
              </a:lnSpc>
              <a:spcBef>
                <a:spcPts val="0"/>
              </a:spcBef>
              <a:buBlip>
                <a:blip r:embed="rId4"/>
              </a:buBlip>
            </a:pPr>
            <a:r>
              <a:rPr lang="en-US" sz="1600">
                <a:solidFill>
                  <a:srgbClr val="052F47"/>
                </a:solidFill>
              </a:rPr>
              <a:t>Demonstrates scalability of the solution across multiple regions, sectors, and deal types</a:t>
            </a:r>
            <a:endParaRPr lang="en-IN" sz="1600">
              <a:solidFill>
                <a:srgbClr val="052F47"/>
              </a:solidFill>
              <a:sym typeface="+mn-ea"/>
            </a:endParaRPr>
          </a:p>
          <a:p>
            <a:pPr marR="0" algn="l" defTabSz="914400" rtl="0" eaLnBrk="1" fontAlgn="auto" latinLnBrk="0" hangingPunct="1">
              <a:lnSpc>
                <a:spcPct val="100000"/>
              </a:lnSpc>
              <a:spcBef>
                <a:spcPts val="0"/>
              </a:spcBef>
              <a:spcAft>
                <a:spcPts val="0"/>
              </a:spcAft>
              <a:buClrTx/>
              <a:buSzTx/>
              <a:buBlip>
                <a:blip r:embed="rId3"/>
              </a:buBlip>
            </a:pPr>
            <a:endParaRPr lang="en-IN" sz="1400" b="0">
              <a:solidFill>
                <a:srgbClr val="1A3F4E"/>
              </a:solidFill>
              <a:effectLst/>
              <a:ea typeface="Calibri" panose="020F0502020204030204" charset="0"/>
              <a:cs typeface="Times New Roman" panose="02020603050405020304" pitchFamily="18" charset="0"/>
              <a:sym typeface="+mn-ea"/>
            </a:endParaRPr>
          </a:p>
        </p:txBody>
      </p:sp>
    </p:spTree>
    <p:extLst>
      <p:ext uri="{BB962C8B-B14F-4D97-AF65-F5344CB8AC3E}">
        <p14:creationId xmlns:p14="http://schemas.microsoft.com/office/powerpoint/2010/main" val="4050429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1335" y="241843"/>
            <a:ext cx="9693182" cy="518795"/>
          </a:xfrm>
        </p:spPr>
        <p:txBody>
          <a:bodyPr>
            <a:noAutofit/>
          </a:bodyPr>
          <a:lstStyle/>
          <a:p>
            <a:r>
              <a:rPr lang="en-US" sz="2800" b="1">
                <a:solidFill>
                  <a:srgbClr val="1A3F4E"/>
                </a:solidFill>
                <a:sym typeface="+mn-ea"/>
              </a:rPr>
              <a:t>POC Scope and Data Source Categories</a:t>
            </a:r>
          </a:p>
        </p:txBody>
      </p:sp>
      <p:sp>
        <p:nvSpPr>
          <p:cNvPr id="2" name="Slide Number Placeholder 1"/>
          <p:cNvSpPr>
            <a:spLocks noGrp="1"/>
          </p:cNvSpPr>
          <p:nvPr>
            <p:ph type="sldNum" sz="quarter" idx="12"/>
          </p:nvPr>
        </p:nvSpPr>
        <p:spPr/>
        <p:txBody>
          <a:bodyPr/>
          <a:lstStyle/>
          <a:p>
            <a:fld id="{B3561BA9-CDCF-4958-B8AB-66F3BF063E13}" type="slidenum">
              <a:rPr lang="en-US" sz="1400" smtClean="0"/>
              <a:t>8</a:t>
            </a:fld>
            <a:endParaRPr lang="en-US" sz="1400"/>
          </a:p>
        </p:txBody>
      </p:sp>
      <p:sp>
        <p:nvSpPr>
          <p:cNvPr id="7" name="Text Placeholder 2"/>
          <p:cNvSpPr>
            <a:spLocks noGrp="1"/>
          </p:cNvSpPr>
          <p:nvPr/>
        </p:nvSpPr>
        <p:spPr>
          <a:xfrm>
            <a:off x="534095" y="1817393"/>
            <a:ext cx="5371261" cy="183868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IN" sz="1400" b="1">
                <a:solidFill>
                  <a:srgbClr val="71A178"/>
                </a:solidFill>
                <a:latin typeface="BDO Grotesk"/>
              </a:rPr>
              <a:t>POC Input</a:t>
            </a:r>
          </a:p>
          <a:p>
            <a:pPr marL="0" indent="0">
              <a:lnSpc>
                <a:spcPct val="100000"/>
              </a:lnSpc>
              <a:spcBef>
                <a:spcPts val="0"/>
              </a:spcBef>
              <a:buNone/>
            </a:pPr>
            <a:endParaRPr lang="en-GB" sz="1400" b="1">
              <a:solidFill>
                <a:srgbClr val="71A178"/>
              </a:solidFill>
              <a:latin typeface="BDO Grotesk"/>
            </a:endParaRPr>
          </a:p>
          <a:p>
            <a:pPr>
              <a:lnSpc>
                <a:spcPct val="150000"/>
              </a:lnSpc>
              <a:spcBef>
                <a:spcPts val="0"/>
              </a:spcBef>
              <a:buBlip>
                <a:blip r:embed="rId2"/>
              </a:buBlip>
            </a:pPr>
            <a:r>
              <a:rPr lang="en-GB" sz="1400" b="1">
                <a:solidFill>
                  <a:srgbClr val="769467"/>
                </a:solidFill>
                <a:latin typeface="BDO Grotesk"/>
              </a:rPr>
              <a:t>Search &amp; Discovery Methods:</a:t>
            </a:r>
            <a:r>
              <a:rPr lang="en-GB" sz="1400">
                <a:solidFill>
                  <a:schemeClr val="accent6">
                    <a:lumMod val="60000"/>
                    <a:lumOff val="40000"/>
                  </a:schemeClr>
                </a:solidFill>
                <a:latin typeface="BDO Grotesk"/>
              </a:rPr>
              <a:t>  </a:t>
            </a:r>
            <a:r>
              <a:rPr lang="en-GB" sz="1400" b="1">
                <a:solidFill>
                  <a:srgbClr val="164055"/>
                </a:solidFill>
                <a:latin typeface="BDO Grotesk"/>
              </a:rPr>
              <a:t>SERP API (Google/Bing), OpenSearch (</a:t>
            </a:r>
            <a:r>
              <a:rPr lang="en-IN" sz="1400">
                <a:solidFill>
                  <a:srgbClr val="164055"/>
                </a:solidFill>
                <a:latin typeface="BDO Grotesk"/>
                <a:cs typeface="Times New Roman"/>
                <a:sym typeface="+mn-ea"/>
              </a:rPr>
              <a:t>up to 10 pages)</a:t>
            </a:r>
            <a:endParaRPr lang="en-GB" sz="1400" b="1">
              <a:solidFill>
                <a:srgbClr val="769467"/>
              </a:solidFill>
              <a:latin typeface="BDO Grotesk"/>
            </a:endParaRPr>
          </a:p>
          <a:p>
            <a:pPr>
              <a:lnSpc>
                <a:spcPct val="150000"/>
              </a:lnSpc>
              <a:spcBef>
                <a:spcPts val="0"/>
              </a:spcBef>
              <a:buBlip>
                <a:blip r:embed="rId2"/>
              </a:buBlip>
            </a:pPr>
            <a:r>
              <a:rPr lang="en-GB" sz="1400" b="1">
                <a:solidFill>
                  <a:srgbClr val="769467"/>
                </a:solidFill>
                <a:latin typeface="BDO Grotesk"/>
              </a:rPr>
              <a:t>Web Sources : </a:t>
            </a:r>
            <a:r>
              <a:rPr lang="en-US" sz="1400">
                <a:solidFill>
                  <a:srgbClr val="164055"/>
                </a:solidFill>
                <a:latin typeface="BDO Grotesk"/>
              </a:rPr>
              <a:t>3 identified web sources of varied complexities (To be discussed and agreed with RDM)</a:t>
            </a:r>
          </a:p>
          <a:p>
            <a:pPr>
              <a:lnSpc>
                <a:spcPct val="150000"/>
              </a:lnSpc>
              <a:spcBef>
                <a:spcPts val="0"/>
              </a:spcBef>
              <a:buBlip>
                <a:blip r:embed="rId2"/>
              </a:buBlip>
            </a:pPr>
            <a:r>
              <a:rPr lang="en-GB" sz="1400" b="1">
                <a:solidFill>
                  <a:srgbClr val="769467"/>
                </a:solidFill>
                <a:latin typeface="BDO Grotesk"/>
              </a:rPr>
              <a:t>Email &amp; PDF Ingestion: </a:t>
            </a:r>
            <a:r>
              <a:rPr lang="en-GB" sz="1400">
                <a:solidFill>
                  <a:srgbClr val="164055"/>
                </a:solidFill>
                <a:latin typeface="BDO Grotesk"/>
              </a:rPr>
              <a:t>Parsing of 1 deal-related press releases and announcements from editorial inboxes.(</a:t>
            </a:r>
            <a:r>
              <a:rPr lang="en-GB" sz="1400" err="1">
                <a:solidFill>
                  <a:srgbClr val="164055"/>
                </a:solidFill>
                <a:latin typeface="BDO Grotesk"/>
              </a:rPr>
              <a:t>gmail</a:t>
            </a:r>
            <a:r>
              <a:rPr lang="en-GB" sz="1400">
                <a:solidFill>
                  <a:srgbClr val="164055"/>
                </a:solidFill>
                <a:latin typeface="BDO Grotesk"/>
              </a:rPr>
              <a:t> or Outlook considered)</a:t>
            </a:r>
          </a:p>
          <a:p>
            <a:pPr marL="0" indent="0">
              <a:lnSpc>
                <a:spcPct val="150000"/>
              </a:lnSpc>
              <a:spcBef>
                <a:spcPts val="0"/>
              </a:spcBef>
              <a:buNone/>
            </a:pPr>
            <a:r>
              <a:rPr lang="en-IN" sz="1400" b="1">
                <a:solidFill>
                  <a:srgbClr val="71A178"/>
                </a:solidFill>
                <a:latin typeface="BDO Grotesk"/>
              </a:rPr>
              <a:t>Taxonomy Mapping and Narrative Generation:</a:t>
            </a:r>
            <a:endParaRPr lang="en-IN"/>
          </a:p>
          <a:p>
            <a:pPr marL="0" indent="0">
              <a:lnSpc>
                <a:spcPct val="150000"/>
              </a:lnSpc>
              <a:spcBef>
                <a:spcPts val="0"/>
              </a:spcBef>
              <a:buNone/>
            </a:pPr>
            <a:r>
              <a:rPr lang="en-US" sz="1400">
                <a:solidFill>
                  <a:srgbClr val="164055"/>
                </a:solidFill>
                <a:latin typeface="BDO Grotesk"/>
              </a:rPr>
              <a:t>Map extracted data to RDM’s controlled taxonomy and auto-generate deal narratives aligned with editorial tone and style.</a:t>
            </a:r>
            <a:endParaRPr lang="en-GB" sz="1400" b="1">
              <a:solidFill>
                <a:srgbClr val="164055"/>
              </a:solidFill>
              <a:latin typeface="BDO Grotesk"/>
            </a:endParaRPr>
          </a:p>
          <a:p>
            <a:pPr marL="0" indent="0">
              <a:lnSpc>
                <a:spcPct val="200000"/>
              </a:lnSpc>
              <a:spcBef>
                <a:spcPts val="0"/>
              </a:spcBef>
              <a:buNone/>
            </a:pPr>
            <a:r>
              <a:rPr lang="en-GB" sz="1400" b="1">
                <a:solidFill>
                  <a:srgbClr val="71A178"/>
                </a:solidFill>
                <a:latin typeface="BDO Grotesk"/>
              </a:rPr>
              <a:t>Data Points : </a:t>
            </a:r>
            <a:r>
              <a:rPr lang="en-GB" sz="1400">
                <a:solidFill>
                  <a:srgbClr val="164055"/>
                </a:solidFill>
                <a:latin typeface="BDO Grotesk"/>
              </a:rPr>
              <a:t>List of Data Points updated in Appendix II.</a:t>
            </a:r>
            <a:endParaRPr lang="en-GB"/>
          </a:p>
          <a:p>
            <a:pPr marL="0" indent="0">
              <a:lnSpc>
                <a:spcPct val="150000"/>
              </a:lnSpc>
              <a:spcBef>
                <a:spcPts val="0"/>
              </a:spcBef>
              <a:buNone/>
            </a:pPr>
            <a:endParaRPr lang="en-US" sz="1400">
              <a:solidFill>
                <a:srgbClr val="164055"/>
              </a:solidFill>
              <a:latin typeface="BDO Grotesk"/>
              <a:ea typeface="Calibri"/>
              <a:cs typeface="Times New Roman"/>
            </a:endParaRPr>
          </a:p>
        </p:txBody>
      </p:sp>
      <p:sp>
        <p:nvSpPr>
          <p:cNvPr id="3" name="TextBox 2">
            <a:extLst>
              <a:ext uri="{FF2B5EF4-FFF2-40B4-BE49-F238E27FC236}">
                <a16:creationId xmlns:a16="http://schemas.microsoft.com/office/drawing/2014/main" id="{C5EAF7C8-A262-6BEA-E885-F1ED508B1601}"/>
              </a:ext>
            </a:extLst>
          </p:cNvPr>
          <p:cNvSpPr txBox="1"/>
          <p:nvPr/>
        </p:nvSpPr>
        <p:spPr>
          <a:xfrm>
            <a:off x="447831" y="952761"/>
            <a:ext cx="11354979" cy="954107"/>
          </a:xfrm>
          <a:prstGeom prst="rect">
            <a:avLst/>
          </a:prstGeom>
          <a:noFill/>
        </p:spPr>
        <p:txBody>
          <a:bodyPr wrap="square" lIns="91440" tIns="45720" rIns="91440" bIns="45720" rtlCol="0" anchor="t">
            <a:spAutoFit/>
          </a:bodyPr>
          <a:lstStyle/>
          <a:p>
            <a:r>
              <a:rPr lang="en-US" sz="1400" b="1">
                <a:solidFill>
                  <a:srgbClr val="769467"/>
                </a:solidFill>
                <a:latin typeface="BDO Grotesk"/>
              </a:rPr>
              <a:t>Scope: </a:t>
            </a:r>
            <a:r>
              <a:rPr lang="en-US" sz="1400">
                <a:solidFill>
                  <a:srgbClr val="164055"/>
                </a:solidFill>
                <a:latin typeface="BDO Grotesk"/>
              </a:rPr>
              <a:t>Automated extraction and enrichment of Private Equity and M&amp;A deal announcements across UK and European markets from selected online and email-based sources and generating narratives The project aims to replicate RDM’s editorial workflow by identifying, extracting, and structuring deal details including buyer, seller, advisers, deal value, sector, and geography and delivering the enriched dataset.</a:t>
            </a:r>
            <a:endParaRPr lang="en-GB" sz="1400" b="1">
              <a:solidFill>
                <a:srgbClr val="164055"/>
              </a:solidFill>
              <a:latin typeface="BDO Grotesk"/>
            </a:endParaRPr>
          </a:p>
          <a:p>
            <a:endParaRPr lang="en-US" sz="1400" b="1">
              <a:solidFill>
                <a:srgbClr val="769467"/>
              </a:solidFill>
              <a:latin typeface="BDO Grotesk"/>
            </a:endParaRPr>
          </a:p>
        </p:txBody>
      </p:sp>
      <p:sp>
        <p:nvSpPr>
          <p:cNvPr id="6" name="Text Placeholder 2"/>
          <p:cNvSpPr>
            <a:spLocks noGrp="1"/>
          </p:cNvSpPr>
          <p:nvPr/>
        </p:nvSpPr>
        <p:spPr>
          <a:xfrm>
            <a:off x="6256283" y="1821118"/>
            <a:ext cx="5630053" cy="139599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400" b="1">
                <a:solidFill>
                  <a:srgbClr val="769467"/>
                </a:solidFill>
                <a:latin typeface="BDO Grotesk"/>
              </a:rPr>
              <a:t>Output : </a:t>
            </a:r>
            <a:endParaRPr lang="en-US"/>
          </a:p>
          <a:p>
            <a:pPr>
              <a:lnSpc>
                <a:spcPct val="150000"/>
              </a:lnSpc>
              <a:spcBef>
                <a:spcPts val="0"/>
              </a:spcBef>
            </a:pPr>
            <a:r>
              <a:rPr lang="en-US" sz="1400">
                <a:solidFill>
                  <a:srgbClr val="164055"/>
                </a:solidFill>
                <a:latin typeface="BDO Grotesk"/>
              </a:rPr>
              <a:t>POC Output will be shared in excel to SFTP</a:t>
            </a:r>
          </a:p>
          <a:p>
            <a:pPr>
              <a:lnSpc>
                <a:spcPct val="150000"/>
              </a:lnSpc>
              <a:spcBef>
                <a:spcPts val="0"/>
              </a:spcBef>
            </a:pPr>
            <a:r>
              <a:rPr lang="en-US" sz="1400">
                <a:solidFill>
                  <a:srgbClr val="164055"/>
                </a:solidFill>
                <a:latin typeface="BDO Grotesk"/>
              </a:rPr>
              <a:t>Maintain an audit log of processed documents, extracted data, and system confidence levels</a:t>
            </a:r>
          </a:p>
          <a:p>
            <a:pPr marL="0" indent="0">
              <a:lnSpc>
                <a:spcPct val="150000"/>
              </a:lnSpc>
              <a:spcBef>
                <a:spcPts val="0"/>
              </a:spcBef>
              <a:buNone/>
            </a:pPr>
            <a:endParaRPr lang="en-US" sz="1400" b="1">
              <a:solidFill>
                <a:srgbClr val="769467"/>
              </a:solidFill>
              <a:latin typeface="BDO Grotesk"/>
            </a:endParaRPr>
          </a:p>
        </p:txBody>
      </p:sp>
      <p:sp>
        <p:nvSpPr>
          <p:cNvPr id="8" name="Text Placeholder 2"/>
          <p:cNvSpPr>
            <a:spLocks noGrp="1"/>
          </p:cNvSpPr>
          <p:nvPr/>
        </p:nvSpPr>
        <p:spPr>
          <a:xfrm>
            <a:off x="6256283" y="3211337"/>
            <a:ext cx="5759450" cy="139599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400" b="1">
                <a:solidFill>
                  <a:srgbClr val="769467"/>
                </a:solidFill>
                <a:latin typeface="BDO Grotesk"/>
              </a:rPr>
              <a:t>Out Of Scope:</a:t>
            </a:r>
            <a:endParaRPr lang="en-US"/>
          </a:p>
          <a:p>
            <a:pPr>
              <a:lnSpc>
                <a:spcPct val="150000"/>
              </a:lnSpc>
              <a:spcBef>
                <a:spcPts val="0"/>
              </a:spcBef>
            </a:pPr>
            <a:r>
              <a:rPr lang="en-US" sz="1400">
                <a:solidFill>
                  <a:srgbClr val="164055"/>
                </a:solidFill>
                <a:latin typeface="BDO Grotesk"/>
              </a:rPr>
              <a:t>Advanced deal types and complex field mappings that require new rule-building or logic creation will be considered out of scope for this POC and may be addressed in future phases in collaboration with RDM.</a:t>
            </a:r>
          </a:p>
          <a:p>
            <a:pPr>
              <a:lnSpc>
                <a:spcPct val="150000"/>
              </a:lnSpc>
              <a:spcBef>
                <a:spcPts val="0"/>
              </a:spcBef>
            </a:pPr>
            <a:r>
              <a:rPr lang="en-US" sz="1400">
                <a:solidFill>
                  <a:srgbClr val="164055"/>
                </a:solidFill>
                <a:latin typeface="BDO Grotesk"/>
              </a:rPr>
              <a:t>Push validated structured data into Azure SQL for long-term storage, analytics, and dashboards.</a:t>
            </a:r>
          </a:p>
          <a:p>
            <a:pPr>
              <a:lnSpc>
                <a:spcPct val="150000"/>
              </a:lnSpc>
              <a:spcBef>
                <a:spcPts val="0"/>
              </a:spcBef>
            </a:pPr>
            <a:r>
              <a:rPr lang="en-US" sz="1400">
                <a:solidFill>
                  <a:srgbClr val="164055"/>
                </a:solidFill>
                <a:latin typeface="BDO Grotesk"/>
              </a:rPr>
              <a:t>Automatically upload deal summaries into </a:t>
            </a:r>
            <a:r>
              <a:rPr lang="en-US" sz="1400" err="1">
                <a:solidFill>
                  <a:srgbClr val="164055"/>
                </a:solidFill>
                <a:latin typeface="BDO Grotesk"/>
              </a:rPr>
              <a:t>ExpressionEngine</a:t>
            </a:r>
            <a:r>
              <a:rPr lang="en-US" sz="1400">
                <a:solidFill>
                  <a:srgbClr val="164055"/>
                </a:solidFill>
                <a:latin typeface="BDO Grotesk"/>
              </a:rPr>
              <a:t> CMS as draft articles for editorial review and publication</a:t>
            </a:r>
            <a:endParaRPr lang="en-US" sz="1400" b="1">
              <a:solidFill>
                <a:srgbClr val="769467"/>
              </a:solidFill>
              <a:latin typeface="BDO Grotesk"/>
            </a:endParaRPr>
          </a:p>
        </p:txBody>
      </p:sp>
    </p:spTree>
    <p:extLst>
      <p:ext uri="{BB962C8B-B14F-4D97-AF65-F5344CB8AC3E}">
        <p14:creationId xmlns:p14="http://schemas.microsoft.com/office/powerpoint/2010/main" val="294926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D70778C-85F1-3158-6026-BA4CCFDCD4E0}"/>
              </a:ext>
            </a:extLst>
          </p:cNvPr>
          <p:cNvSpPr>
            <a:spLocks noGrp="1"/>
          </p:cNvSpPr>
          <p:nvPr>
            <p:ph type="sldNum" sz="quarter" idx="12"/>
          </p:nvPr>
        </p:nvSpPr>
        <p:spPr/>
        <p:txBody>
          <a:bodyPr/>
          <a:lstStyle/>
          <a:p>
            <a:fld id="{B3561BA9-CDCF-4958-B8AB-66F3BF063E13}" type="slidenum">
              <a:rPr lang="en-US" smtClean="0"/>
              <a:t>9</a:t>
            </a:fld>
            <a:endParaRPr lang="en-US"/>
          </a:p>
        </p:txBody>
      </p:sp>
      <p:sp>
        <p:nvSpPr>
          <p:cNvPr id="4" name="Title 3">
            <a:extLst>
              <a:ext uri="{FF2B5EF4-FFF2-40B4-BE49-F238E27FC236}">
                <a16:creationId xmlns:a16="http://schemas.microsoft.com/office/drawing/2014/main" id="{E066F6B8-006B-9FA1-15B9-A1EEE1F1A88B}"/>
              </a:ext>
            </a:extLst>
          </p:cNvPr>
          <p:cNvSpPr>
            <a:spLocks noGrp="1"/>
          </p:cNvSpPr>
          <p:nvPr>
            <p:ph type="title"/>
          </p:nvPr>
        </p:nvSpPr>
        <p:spPr>
          <a:xfrm>
            <a:off x="344773" y="177954"/>
            <a:ext cx="9693182" cy="518795"/>
          </a:xfrm>
        </p:spPr>
        <p:txBody>
          <a:bodyPr>
            <a:noAutofit/>
          </a:bodyPr>
          <a:lstStyle/>
          <a:p>
            <a:r>
              <a:rPr lang="en-US" sz="2900" b="1">
                <a:solidFill>
                  <a:srgbClr val="164055"/>
                </a:solidFill>
                <a:sym typeface="+mn-ea"/>
              </a:rPr>
              <a:t>POC Steps and Estimates </a:t>
            </a:r>
          </a:p>
        </p:txBody>
      </p:sp>
      <p:graphicFrame>
        <p:nvGraphicFramePr>
          <p:cNvPr id="7" name="Table 6"/>
          <p:cNvGraphicFramePr>
            <a:graphicFrameLocks noGrp="1"/>
          </p:cNvGraphicFramePr>
          <p:nvPr>
            <p:extLst>
              <p:ext uri="{D42A27DB-BD31-4B8C-83A1-F6EECF244321}">
                <p14:modId xmlns:p14="http://schemas.microsoft.com/office/powerpoint/2010/main" val="2634438262"/>
              </p:ext>
            </p:extLst>
          </p:nvPr>
        </p:nvGraphicFramePr>
        <p:xfrm>
          <a:off x="548247" y="1064302"/>
          <a:ext cx="10289642" cy="3017520"/>
        </p:xfrm>
        <a:graphic>
          <a:graphicData uri="http://schemas.openxmlformats.org/drawingml/2006/table">
            <a:tbl>
              <a:tblPr/>
              <a:tblGrid>
                <a:gridCol w="7209166">
                  <a:extLst>
                    <a:ext uri="{9D8B030D-6E8A-4147-A177-3AD203B41FA5}">
                      <a16:colId xmlns:a16="http://schemas.microsoft.com/office/drawing/2014/main" val="3015767743"/>
                    </a:ext>
                  </a:extLst>
                </a:gridCol>
                <a:gridCol w="3080476">
                  <a:extLst>
                    <a:ext uri="{9D8B030D-6E8A-4147-A177-3AD203B41FA5}">
                      <a16:colId xmlns:a16="http://schemas.microsoft.com/office/drawing/2014/main" val="1690733175"/>
                    </a:ext>
                  </a:extLst>
                </a:gridCol>
              </a:tblGrid>
              <a:tr h="188316">
                <a:tc>
                  <a:txBody>
                    <a:bodyPr/>
                    <a:lstStyle/>
                    <a:p>
                      <a:pPr algn="ctr" rtl="0" fontAlgn="b"/>
                      <a:r>
                        <a:rPr lang="en-GB" sz="1200" b="1" i="0" u="none" strike="noStrike">
                          <a:solidFill>
                            <a:srgbClr val="164055"/>
                          </a:solidFill>
                          <a:effectLst/>
                          <a:latin typeface="BDO Grotesk"/>
                        </a:rPr>
                        <a:t>Description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b"/>
                      <a:r>
                        <a:rPr lang="en-GB" sz="1200" b="1" i="0" u="none" strike="noStrike">
                          <a:solidFill>
                            <a:srgbClr val="164055"/>
                          </a:solidFill>
                          <a:effectLst/>
                          <a:latin typeface="BDO Grotesk"/>
                        </a:rPr>
                        <a:t>Cost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extLst>
                  <a:ext uri="{0D108BD9-81ED-4DB2-BD59-A6C34878D82A}">
                    <a16:rowId xmlns:a16="http://schemas.microsoft.com/office/drawing/2014/main" val="3774847206"/>
                  </a:ext>
                </a:extLst>
              </a:tr>
              <a:tr h="258009">
                <a:tc>
                  <a:txBody>
                    <a:bodyPr/>
                    <a:lstStyle/>
                    <a:p>
                      <a:pPr algn="ctr" rtl="0" fontAlgn="b"/>
                      <a:r>
                        <a:rPr lang="en-GB" sz="1200" b="0" i="0" u="none" strike="noStrike">
                          <a:solidFill>
                            <a:srgbClr val="164055"/>
                          </a:solidFill>
                          <a:effectLst/>
                          <a:latin typeface="BDO Grotesk"/>
                        </a:rPr>
                        <a:t>Discovery, Analysis and Planning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9">
                  <a:txBody>
                    <a:bodyPr/>
                    <a:lstStyle/>
                    <a:p>
                      <a:pPr algn="ctr" rtl="0" fontAlgn="b"/>
                      <a:r>
                        <a:rPr lang="en-GB" sz="1200" b="0" i="0" u="none" strike="noStrike">
                          <a:solidFill>
                            <a:srgbClr val="164055"/>
                          </a:solidFill>
                          <a:effectLst/>
                          <a:latin typeface="BDO Grotesk"/>
                        </a:rPr>
                        <a:t>FOC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6353565"/>
                  </a:ext>
                </a:extLst>
              </a:tr>
              <a:tr h="258009">
                <a:tc>
                  <a:txBody>
                    <a:bodyPr/>
                    <a:lstStyle/>
                    <a:p>
                      <a:pPr algn="ctr" rtl="0" fontAlgn="b"/>
                      <a:r>
                        <a:rPr lang="en-US" sz="1200" b="0" i="0" u="none" strike="noStrike">
                          <a:solidFill>
                            <a:srgbClr val="164055"/>
                          </a:solidFill>
                          <a:effectLst/>
                          <a:latin typeface="BDO Grotesk"/>
                        </a:rPr>
                        <a:t>Solution Design and System Set up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15210633"/>
                  </a:ext>
                </a:extLst>
              </a:tr>
              <a:tr h="258009">
                <a:tc>
                  <a:txBody>
                    <a:bodyPr/>
                    <a:lstStyle/>
                    <a:p>
                      <a:pPr algn="ctr" rtl="0" fontAlgn="b"/>
                      <a:r>
                        <a:rPr lang="en-GB" sz="1200" b="0" i="0" u="none" strike="noStrike" err="1">
                          <a:solidFill>
                            <a:srgbClr val="164055"/>
                          </a:solidFill>
                          <a:effectLst/>
                          <a:latin typeface="BDO Grotesk"/>
                        </a:rPr>
                        <a:t>ScrapeX</a:t>
                      </a:r>
                      <a:r>
                        <a:rPr lang="en-GB" sz="1200" b="0" i="0" u="none" strike="noStrike">
                          <a:solidFill>
                            <a:srgbClr val="164055"/>
                          </a:solidFill>
                          <a:effectLst/>
                          <a:latin typeface="BDO Grotesk"/>
                        </a:rPr>
                        <a:t> configuration – c40 sources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9951068"/>
                  </a:ext>
                </a:extLst>
              </a:tr>
              <a:tr h="258009">
                <a:tc>
                  <a:txBody>
                    <a:bodyPr/>
                    <a:lstStyle/>
                    <a:p>
                      <a:pPr algn="ctr" rtl="0" fontAlgn="b"/>
                      <a:r>
                        <a:rPr lang="en-GB" sz="1200" b="0" i="0" u="none" strike="noStrike">
                          <a:solidFill>
                            <a:srgbClr val="164055"/>
                          </a:solidFill>
                          <a:effectLst/>
                          <a:latin typeface="BDO Grotesk"/>
                        </a:rPr>
                        <a:t>AI/ML solution using KIAA framework - classifier, semantic de-duping, data mining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54417580"/>
                  </a:ext>
                </a:extLst>
              </a:tr>
              <a:tr h="258009">
                <a:tc>
                  <a:txBody>
                    <a:bodyPr/>
                    <a:lstStyle/>
                    <a:p>
                      <a:pPr algn="ctr" rtl="0" fontAlgn="b"/>
                      <a:r>
                        <a:rPr lang="en-GB" sz="1200" b="0" i="0" u="none" strike="noStrike">
                          <a:solidFill>
                            <a:srgbClr val="164055"/>
                          </a:solidFill>
                          <a:effectLst/>
                          <a:latin typeface="BDO Grotesk"/>
                        </a:rPr>
                        <a:t>Solution Testing /QA (Tech)</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96404654"/>
                  </a:ext>
                </a:extLst>
              </a:tr>
              <a:tr h="258009">
                <a:tc>
                  <a:txBody>
                    <a:bodyPr/>
                    <a:lstStyle/>
                    <a:p>
                      <a:pPr algn="ctr" rtl="0" fontAlgn="b"/>
                      <a:r>
                        <a:rPr lang="en-US" sz="1200" b="0" i="0" u="none" strike="noStrike">
                          <a:solidFill>
                            <a:srgbClr val="164055"/>
                          </a:solidFill>
                          <a:effectLst/>
                          <a:latin typeface="BDO Grotesk"/>
                        </a:rPr>
                        <a:t>Data Transformation, Logging, Alerts, Reports and Delivery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38908680"/>
                  </a:ext>
                </a:extLst>
              </a:tr>
              <a:tr h="258009">
                <a:tc>
                  <a:txBody>
                    <a:bodyPr/>
                    <a:lstStyle/>
                    <a:p>
                      <a:pPr algn="ctr" rtl="0" fontAlgn="b"/>
                      <a:r>
                        <a:rPr lang="en-GB" sz="1200" b="0" i="0" u="none" strike="noStrike">
                          <a:solidFill>
                            <a:srgbClr val="164055"/>
                          </a:solidFill>
                          <a:effectLst/>
                          <a:latin typeface="BDO Grotesk"/>
                        </a:rPr>
                        <a:t>Solution Integration and Deployment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51001948"/>
                  </a:ext>
                </a:extLst>
              </a:tr>
              <a:tr h="258009">
                <a:tc>
                  <a:txBody>
                    <a:bodyPr/>
                    <a:lstStyle/>
                    <a:p>
                      <a:pPr algn="ctr" rtl="0" fontAlgn="b"/>
                      <a:r>
                        <a:rPr lang="en-GB" sz="1200" b="0" i="0" u="none" strike="noStrike">
                          <a:solidFill>
                            <a:srgbClr val="164055"/>
                          </a:solidFill>
                          <a:effectLst/>
                          <a:latin typeface="BDO Grotesk"/>
                        </a:rPr>
                        <a:t>Documentation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3950058"/>
                  </a:ext>
                </a:extLst>
              </a:tr>
              <a:tr h="258009">
                <a:tc>
                  <a:txBody>
                    <a:bodyPr/>
                    <a:lstStyle/>
                    <a:p>
                      <a:pPr algn="ctr" rtl="0" fontAlgn="b"/>
                      <a:r>
                        <a:rPr lang="en-GB" sz="1200" b="0" i="0" u="none" strike="noStrike">
                          <a:solidFill>
                            <a:srgbClr val="164055"/>
                          </a:solidFill>
                          <a:effectLst/>
                          <a:latin typeface="BDO Grotesk"/>
                        </a:rPr>
                        <a:t>Project Management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fontAlgn="t"/>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14321404"/>
                  </a:ext>
                </a:extLst>
              </a:tr>
              <a:tr h="258009">
                <a:tc>
                  <a:txBody>
                    <a:bodyPr/>
                    <a:lstStyle/>
                    <a:p>
                      <a:pPr algn="ctr" rtl="0" fontAlgn="b"/>
                      <a:r>
                        <a:rPr lang="en-US" sz="1200" b="0" i="0" u="none" strike="noStrike">
                          <a:solidFill>
                            <a:srgbClr val="FFFFFF"/>
                          </a:solidFill>
                          <a:effectLst/>
                          <a:latin typeface="Aptos Narrow"/>
                        </a:rPr>
                        <a:t>Total Solution Set Up / Configuration Costs For POC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tc>
                  <a:txBody>
                    <a:bodyPr/>
                    <a:lstStyle/>
                    <a:p>
                      <a:pPr algn="ctr" rtl="0" fontAlgn="b"/>
                      <a:r>
                        <a:rPr lang="en-IN" sz="1200" b="0" i="0" u="none" strike="noStrike">
                          <a:solidFill>
                            <a:srgbClr val="FFFFFF"/>
                          </a:solidFill>
                          <a:effectLst/>
                          <a:latin typeface="Aptos Narrow"/>
                        </a:rPr>
                        <a:t>FOC</a:t>
                      </a:r>
                      <a:endParaRPr lang="en-GB" sz="1200" b="0" i="0" u="none" strike="noStrike">
                        <a:solidFill>
                          <a:srgbClr val="FFFFFF"/>
                        </a:solidFill>
                        <a:effectLst/>
                        <a:latin typeface="Aptos Narrow"/>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extLst>
                  <a:ext uri="{0D108BD9-81ED-4DB2-BD59-A6C34878D82A}">
                    <a16:rowId xmlns:a16="http://schemas.microsoft.com/office/drawing/2014/main" val="212795709"/>
                  </a:ext>
                </a:extLst>
              </a:tr>
            </a:tbl>
          </a:graphicData>
        </a:graphic>
      </p:graphicFrame>
      <p:sp>
        <p:nvSpPr>
          <p:cNvPr id="2" name="Rectangle 1"/>
          <p:cNvSpPr/>
          <p:nvPr/>
        </p:nvSpPr>
        <p:spPr>
          <a:xfrm>
            <a:off x="548246" y="4281735"/>
            <a:ext cx="11383923" cy="738664"/>
          </a:xfrm>
          <a:prstGeom prst="rect">
            <a:avLst/>
          </a:prstGeom>
        </p:spPr>
        <p:txBody>
          <a:bodyPr wrap="square">
            <a:spAutoFit/>
          </a:bodyPr>
          <a:lstStyle/>
          <a:p>
            <a:r>
              <a:rPr lang="en-IN" sz="1400" b="1">
                <a:solidFill>
                  <a:srgbClr val="769467"/>
                </a:solidFill>
                <a:latin typeface="BDO Grotesk"/>
              </a:rPr>
              <a:t>Note:</a:t>
            </a:r>
          </a:p>
          <a:p>
            <a:endParaRPr lang="en-US" sz="1400">
              <a:solidFill>
                <a:srgbClr val="164055"/>
              </a:solidFill>
              <a:latin typeface="BDO Grotesk"/>
            </a:endParaRPr>
          </a:p>
          <a:p>
            <a:r>
              <a:rPr lang="en-US" sz="1400">
                <a:solidFill>
                  <a:srgbClr val="164055"/>
                </a:solidFill>
                <a:latin typeface="BDO Grotesk"/>
              </a:rPr>
              <a:t>The POC will be carried out Free of Cost for the scope mentioned in Slide 8 (</a:t>
            </a:r>
            <a:r>
              <a:rPr lang="en-US" sz="1400" b="1">
                <a:solidFill>
                  <a:srgbClr val="1A3F4E"/>
                </a:solidFill>
                <a:latin typeface="BDO Grotesk"/>
                <a:sym typeface="+mn-ea"/>
              </a:rPr>
              <a:t>POC Scope and Data Source Categories)</a:t>
            </a:r>
            <a:endParaRPr lang="en-GB" sz="1400">
              <a:solidFill>
                <a:srgbClr val="FF0000"/>
              </a:solidFill>
              <a:latin typeface="BDO Grotesk"/>
            </a:endParaRPr>
          </a:p>
        </p:txBody>
      </p:sp>
    </p:spTree>
    <p:extLst>
      <p:ext uri="{BB962C8B-B14F-4D97-AF65-F5344CB8AC3E}">
        <p14:creationId xmlns:p14="http://schemas.microsoft.com/office/powerpoint/2010/main" val="143703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B29F9-DF57-AF35-DC93-B6747435056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79D2E-2230-7C6F-6A0F-F50654A326B5}"/>
              </a:ext>
            </a:extLst>
          </p:cNvPr>
          <p:cNvSpPr>
            <a:spLocks noGrp="1"/>
          </p:cNvSpPr>
          <p:nvPr>
            <p:ph type="sldNum" sz="quarter" idx="12"/>
          </p:nvPr>
        </p:nvSpPr>
        <p:spPr/>
        <p:txBody>
          <a:bodyPr/>
          <a:lstStyle/>
          <a:p>
            <a:fld id="{B3561BA9-CDCF-4958-B8AB-66F3BF063E13}" type="slidenum">
              <a:rPr lang="en-US" smtClean="0"/>
              <a:t>10</a:t>
            </a:fld>
            <a:endParaRPr lang="en-US"/>
          </a:p>
        </p:txBody>
      </p:sp>
      <p:sp>
        <p:nvSpPr>
          <p:cNvPr id="4" name="Title 3">
            <a:extLst>
              <a:ext uri="{FF2B5EF4-FFF2-40B4-BE49-F238E27FC236}">
                <a16:creationId xmlns:a16="http://schemas.microsoft.com/office/drawing/2014/main" id="{238072B7-08DF-A371-55B5-0FFC02A3D16D}"/>
              </a:ext>
            </a:extLst>
          </p:cNvPr>
          <p:cNvSpPr>
            <a:spLocks noGrp="1"/>
          </p:cNvSpPr>
          <p:nvPr>
            <p:ph type="title"/>
          </p:nvPr>
        </p:nvSpPr>
        <p:spPr>
          <a:xfrm>
            <a:off x="521335" y="374650"/>
            <a:ext cx="9693182" cy="518795"/>
          </a:xfrm>
        </p:spPr>
        <p:txBody>
          <a:bodyPr>
            <a:noAutofit/>
          </a:bodyPr>
          <a:lstStyle/>
          <a:p>
            <a:r>
              <a:rPr lang="en-US" sz="2900" b="1">
                <a:solidFill>
                  <a:srgbClr val="1A3F4E"/>
                </a:solidFill>
                <a:sym typeface="+mn-ea"/>
              </a:rPr>
              <a:t>POC Key Milestones and Projected Timelines</a:t>
            </a:r>
          </a:p>
        </p:txBody>
      </p:sp>
      <p:graphicFrame>
        <p:nvGraphicFramePr>
          <p:cNvPr id="5" name="Table 4">
            <a:extLst>
              <a:ext uri="{FF2B5EF4-FFF2-40B4-BE49-F238E27FC236}">
                <a16:creationId xmlns:a16="http://schemas.microsoft.com/office/drawing/2014/main" id="{A3983057-F2D8-6CB7-3C5B-5D2D0C773B77}"/>
              </a:ext>
            </a:extLst>
          </p:cNvPr>
          <p:cNvGraphicFramePr>
            <a:graphicFrameLocks noGrp="1"/>
          </p:cNvGraphicFramePr>
          <p:nvPr>
            <p:extLst>
              <p:ext uri="{D42A27DB-BD31-4B8C-83A1-F6EECF244321}">
                <p14:modId xmlns:p14="http://schemas.microsoft.com/office/powerpoint/2010/main" val="1032016816"/>
              </p:ext>
            </p:extLst>
          </p:nvPr>
        </p:nvGraphicFramePr>
        <p:xfrm>
          <a:off x="337457" y="1186995"/>
          <a:ext cx="11055067" cy="2200780"/>
        </p:xfrm>
        <a:graphic>
          <a:graphicData uri="http://schemas.openxmlformats.org/drawingml/2006/table">
            <a:tbl>
              <a:tblPr bandRow="1">
                <a:tableStyleId>{5C22544A-7EE6-4342-B048-85BDC9FD1C3A}</a:tableStyleId>
              </a:tblPr>
              <a:tblGrid>
                <a:gridCol w="5214169">
                  <a:extLst>
                    <a:ext uri="{9D8B030D-6E8A-4147-A177-3AD203B41FA5}">
                      <a16:colId xmlns:a16="http://schemas.microsoft.com/office/drawing/2014/main" val="3505383067"/>
                    </a:ext>
                  </a:extLst>
                </a:gridCol>
                <a:gridCol w="1979887">
                  <a:extLst>
                    <a:ext uri="{9D8B030D-6E8A-4147-A177-3AD203B41FA5}">
                      <a16:colId xmlns:a16="http://schemas.microsoft.com/office/drawing/2014/main" val="4199511902"/>
                    </a:ext>
                  </a:extLst>
                </a:gridCol>
                <a:gridCol w="1937041">
                  <a:extLst>
                    <a:ext uri="{9D8B030D-6E8A-4147-A177-3AD203B41FA5}">
                      <a16:colId xmlns:a16="http://schemas.microsoft.com/office/drawing/2014/main" val="2415753506"/>
                    </a:ext>
                  </a:extLst>
                </a:gridCol>
                <a:gridCol w="1923970">
                  <a:extLst>
                    <a:ext uri="{9D8B030D-6E8A-4147-A177-3AD203B41FA5}">
                      <a16:colId xmlns:a16="http://schemas.microsoft.com/office/drawing/2014/main" val="2860393258"/>
                    </a:ext>
                  </a:extLst>
                </a:gridCol>
              </a:tblGrid>
              <a:tr h="422520">
                <a:tc>
                  <a:txBody>
                    <a:bodyPr/>
                    <a:lstStyle/>
                    <a:p>
                      <a:pPr marL="0" algn="ctr" defTabSz="914400" rtl="0" eaLnBrk="1" fontAlgn="b" latinLnBrk="0" hangingPunct="1">
                        <a:buNone/>
                      </a:pPr>
                      <a:r>
                        <a:rPr lang="en-US" sz="1600" b="1" kern="1200">
                          <a:solidFill>
                            <a:srgbClr val="164055"/>
                          </a:solidFill>
                          <a:latin typeface="BDO Grotesk"/>
                          <a:ea typeface="+mn-ea"/>
                          <a:cs typeface="+mn-cs"/>
                        </a:rPr>
                        <a:t>Milestones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Estimated Duration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Planned Start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Planned End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2394156481"/>
                  </a:ext>
                </a:extLst>
              </a:tr>
              <a:tr h="444565">
                <a:tc>
                  <a:txBody>
                    <a:bodyPr/>
                    <a:lstStyle/>
                    <a:p>
                      <a:pPr marL="0" algn="ctr" defTabSz="914400" rtl="0" eaLnBrk="1" latinLnBrk="0" hangingPunct="1">
                        <a:buNone/>
                      </a:pPr>
                      <a:r>
                        <a:rPr lang="en-US" sz="1600" b="1" kern="1200">
                          <a:solidFill>
                            <a:srgbClr val="164055"/>
                          </a:solidFill>
                          <a:latin typeface="BDO Grotesk"/>
                          <a:ea typeface="+mn-ea"/>
                          <a:cs typeface="+mn-cs"/>
                        </a:rPr>
                        <a:t>POC Milestones and Timelines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buNone/>
                      </a:pPr>
                      <a:endParaRPr lang="en-US" sz="1600" b="1" kern="1200">
                        <a:solidFill>
                          <a:srgbClr val="164055"/>
                        </a:solidFill>
                        <a:latin typeface="BDO Grotesk"/>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buNone/>
                      </a:pPr>
                      <a:endParaRPr lang="en-US" sz="1600" b="1" kern="1200">
                        <a:solidFill>
                          <a:srgbClr val="164055"/>
                        </a:solidFill>
                        <a:latin typeface="BDO Grotesk"/>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buNone/>
                      </a:pPr>
                      <a:endParaRPr lang="en-US" sz="1600" b="1" kern="1200">
                        <a:solidFill>
                          <a:srgbClr val="164055"/>
                        </a:solidFill>
                        <a:latin typeface="BDO Grotesk"/>
                        <a:ea typeface="+mn-ea"/>
                        <a:cs typeface="+mn-cs"/>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19296344"/>
                  </a:ext>
                </a:extLst>
              </a:tr>
              <a:tr h="444565">
                <a:tc>
                  <a:txBody>
                    <a:bodyPr/>
                    <a:lstStyle/>
                    <a:p>
                      <a:pPr algn="ctr">
                        <a:buNone/>
                      </a:pPr>
                      <a:r>
                        <a:rPr lang="en-US" sz="1600" b="0" i="0" u="none" strike="noStrike" kern="1200">
                          <a:solidFill>
                            <a:schemeClr val="bg1"/>
                          </a:solidFill>
                          <a:effectLst/>
                          <a:latin typeface="BDO Grotesk"/>
                          <a:ea typeface="+mn-ea"/>
                          <a:cs typeface="+mn-cs"/>
                        </a:rPr>
                        <a:t>POC Solution Configuration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4 Weeks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17-Nov-25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15-Dec-25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21815157"/>
                  </a:ext>
                </a:extLst>
              </a:tr>
              <a:tr h="444565">
                <a:tc>
                  <a:txBody>
                    <a:bodyPr/>
                    <a:lstStyle/>
                    <a:p>
                      <a:pPr algn="ctr">
                        <a:buNone/>
                      </a:pPr>
                      <a:r>
                        <a:rPr lang="en-US" sz="1600" b="0" i="0" u="none" strike="noStrike" kern="1200">
                          <a:solidFill>
                            <a:schemeClr val="bg1"/>
                          </a:solidFill>
                          <a:effectLst/>
                          <a:latin typeface="BDO Grotesk"/>
                          <a:ea typeface="+mn-ea"/>
                          <a:cs typeface="+mn-cs"/>
                        </a:rPr>
                        <a:t>POC UAT (output checks by RDM)</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2 Weeks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16-Dec-25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31-Dec-25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90080016"/>
                  </a:ext>
                </a:extLst>
              </a:tr>
              <a:tr h="444565">
                <a:tc>
                  <a:txBody>
                    <a:bodyPr/>
                    <a:lstStyle/>
                    <a:p>
                      <a:pPr algn="ctr">
                        <a:buNone/>
                      </a:pPr>
                      <a:r>
                        <a:rPr lang="en-US" sz="1600" b="0" i="0" u="none" strike="noStrike" kern="1200">
                          <a:solidFill>
                            <a:schemeClr val="bg1"/>
                          </a:solidFill>
                          <a:effectLst/>
                          <a:latin typeface="BDO Grotesk"/>
                          <a:ea typeface="+mn-ea"/>
                          <a:cs typeface="+mn-cs"/>
                        </a:rPr>
                        <a:t>POC UAT Issue Fixes</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1 Week</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5-Jan-26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12-Jan-26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730382225"/>
                  </a:ext>
                </a:extLst>
              </a:tr>
            </a:tbl>
          </a:graphicData>
        </a:graphic>
      </p:graphicFrame>
    </p:spTree>
    <p:extLst>
      <p:ext uri="{BB962C8B-B14F-4D97-AF65-F5344CB8AC3E}">
        <p14:creationId xmlns:p14="http://schemas.microsoft.com/office/powerpoint/2010/main" val="3623276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1335" y="241843"/>
            <a:ext cx="9693182" cy="518795"/>
          </a:xfrm>
        </p:spPr>
        <p:txBody>
          <a:bodyPr>
            <a:noAutofit/>
          </a:bodyPr>
          <a:lstStyle/>
          <a:p>
            <a:r>
              <a:rPr lang="en-US" sz="2900" b="1">
                <a:solidFill>
                  <a:srgbClr val="1A3F4E"/>
                </a:solidFill>
                <a:sym typeface="+mn-ea"/>
              </a:rPr>
              <a:t>Scope and Data Source Categories For Full Phase</a:t>
            </a:r>
          </a:p>
        </p:txBody>
      </p:sp>
      <p:sp>
        <p:nvSpPr>
          <p:cNvPr id="2" name="Slide Number Placeholder 1"/>
          <p:cNvSpPr>
            <a:spLocks noGrp="1"/>
          </p:cNvSpPr>
          <p:nvPr>
            <p:ph type="sldNum" sz="quarter" idx="12"/>
          </p:nvPr>
        </p:nvSpPr>
        <p:spPr/>
        <p:txBody>
          <a:bodyPr/>
          <a:lstStyle/>
          <a:p>
            <a:fld id="{B3561BA9-CDCF-4958-B8AB-66F3BF063E13}" type="slidenum">
              <a:rPr lang="en-US" sz="1400" smtClean="0"/>
              <a:t>11</a:t>
            </a:fld>
            <a:endParaRPr lang="en-US" sz="1400"/>
          </a:p>
        </p:txBody>
      </p:sp>
      <p:sp>
        <p:nvSpPr>
          <p:cNvPr id="7" name="Text Placeholder 2"/>
          <p:cNvSpPr>
            <a:spLocks noGrp="1"/>
          </p:cNvSpPr>
          <p:nvPr/>
        </p:nvSpPr>
        <p:spPr>
          <a:xfrm>
            <a:off x="447827" y="1007819"/>
            <a:ext cx="11625411" cy="1809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IN" sz="1400" b="1">
                <a:solidFill>
                  <a:srgbClr val="71A178"/>
                </a:solidFill>
                <a:latin typeface="BDO Grotesk"/>
              </a:rPr>
              <a:t>Input</a:t>
            </a:r>
          </a:p>
          <a:p>
            <a:pPr marL="0" indent="0">
              <a:lnSpc>
                <a:spcPct val="100000"/>
              </a:lnSpc>
              <a:spcBef>
                <a:spcPts val="0"/>
              </a:spcBef>
              <a:buNone/>
            </a:pPr>
            <a:endParaRPr lang="en-GB" sz="1400" b="1">
              <a:solidFill>
                <a:srgbClr val="71A178"/>
              </a:solidFill>
              <a:latin typeface="BDO Grotesk"/>
            </a:endParaRPr>
          </a:p>
          <a:p>
            <a:pPr>
              <a:lnSpc>
                <a:spcPts val="2000"/>
              </a:lnSpc>
              <a:spcBef>
                <a:spcPts val="0"/>
              </a:spcBef>
              <a:buBlip>
                <a:blip r:embed="rId2"/>
              </a:buBlip>
            </a:pPr>
            <a:r>
              <a:rPr lang="en-GB" sz="1400" b="1">
                <a:solidFill>
                  <a:srgbClr val="769467"/>
                </a:solidFill>
                <a:latin typeface="BDO Grotesk"/>
              </a:rPr>
              <a:t>Search &amp; Discovery Methods:</a:t>
            </a:r>
            <a:r>
              <a:rPr lang="en-GB" sz="1400">
                <a:solidFill>
                  <a:schemeClr val="accent6">
                    <a:lumMod val="60000"/>
                    <a:lumOff val="40000"/>
                  </a:schemeClr>
                </a:solidFill>
                <a:latin typeface="BDO Grotesk"/>
              </a:rPr>
              <a:t>  </a:t>
            </a:r>
            <a:r>
              <a:rPr lang="en-GB" sz="1400" b="1">
                <a:solidFill>
                  <a:srgbClr val="164055"/>
                </a:solidFill>
                <a:latin typeface="BDO Grotesk"/>
              </a:rPr>
              <a:t>SERP API (Google/Bing), OpenSearch (</a:t>
            </a:r>
            <a:r>
              <a:rPr lang="en-IN" sz="1400">
                <a:solidFill>
                  <a:srgbClr val="164055"/>
                </a:solidFill>
                <a:latin typeface="BDO Grotesk"/>
                <a:cs typeface="Times New Roman"/>
                <a:sym typeface="+mn-ea"/>
              </a:rPr>
              <a:t>up to 10 pages)</a:t>
            </a:r>
            <a:endParaRPr lang="en-GB" sz="1400" b="1">
              <a:solidFill>
                <a:srgbClr val="769467"/>
              </a:solidFill>
              <a:latin typeface="BDO Grotesk"/>
            </a:endParaRPr>
          </a:p>
          <a:p>
            <a:pPr>
              <a:lnSpc>
                <a:spcPts val="2000"/>
              </a:lnSpc>
              <a:spcBef>
                <a:spcPts val="0"/>
              </a:spcBef>
              <a:buBlip>
                <a:blip r:embed="rId2"/>
              </a:buBlip>
            </a:pPr>
            <a:r>
              <a:rPr lang="en-GB" sz="1400" b="1">
                <a:solidFill>
                  <a:srgbClr val="769467"/>
                </a:solidFill>
                <a:latin typeface="BDO Grotesk"/>
              </a:rPr>
              <a:t>Web Sources : </a:t>
            </a:r>
            <a:r>
              <a:rPr lang="en-US" sz="1400">
                <a:solidFill>
                  <a:srgbClr val="164055"/>
                </a:solidFill>
                <a:latin typeface="BDO Grotesk"/>
              </a:rPr>
              <a:t>40 identified web sources (To be updated by RDM in Appendix 1)</a:t>
            </a:r>
          </a:p>
          <a:p>
            <a:pPr>
              <a:lnSpc>
                <a:spcPts val="2000"/>
              </a:lnSpc>
              <a:spcBef>
                <a:spcPts val="0"/>
              </a:spcBef>
              <a:buBlip>
                <a:blip r:embed="rId2"/>
              </a:buBlip>
            </a:pPr>
            <a:r>
              <a:rPr lang="en-GB" sz="1400" b="1">
                <a:solidFill>
                  <a:srgbClr val="769467"/>
                </a:solidFill>
                <a:latin typeface="BDO Grotesk"/>
              </a:rPr>
              <a:t>Email &amp; PDF Ingestion: </a:t>
            </a:r>
            <a:r>
              <a:rPr lang="en-GB" sz="1400">
                <a:solidFill>
                  <a:srgbClr val="164055"/>
                </a:solidFill>
                <a:latin typeface="BDO Grotesk"/>
              </a:rPr>
              <a:t>Parsing of deal-related press releases and announcements from editorial inboxes.(</a:t>
            </a:r>
            <a:r>
              <a:rPr lang="en-GB" sz="1400" err="1">
                <a:solidFill>
                  <a:srgbClr val="164055"/>
                </a:solidFill>
                <a:latin typeface="BDO Grotesk"/>
              </a:rPr>
              <a:t>gmail</a:t>
            </a:r>
            <a:r>
              <a:rPr lang="en-GB" sz="1400">
                <a:solidFill>
                  <a:srgbClr val="164055"/>
                </a:solidFill>
                <a:latin typeface="BDO Grotesk"/>
              </a:rPr>
              <a:t> and Outlook considered)</a:t>
            </a:r>
          </a:p>
          <a:p>
            <a:pPr marL="0" indent="0">
              <a:lnSpc>
                <a:spcPts val="2000"/>
              </a:lnSpc>
              <a:spcBef>
                <a:spcPts val="0"/>
              </a:spcBef>
              <a:buNone/>
            </a:pPr>
            <a:endParaRPr lang="en-IN" sz="1400" b="1">
              <a:solidFill>
                <a:srgbClr val="164055"/>
              </a:solidFill>
              <a:latin typeface="BDO Grotesk"/>
            </a:endParaRPr>
          </a:p>
          <a:p>
            <a:pPr marL="0" indent="0">
              <a:lnSpc>
                <a:spcPct val="100000"/>
              </a:lnSpc>
              <a:spcBef>
                <a:spcPts val="0"/>
              </a:spcBef>
              <a:buNone/>
            </a:pPr>
            <a:r>
              <a:rPr lang="en-IN" sz="1400" b="1">
                <a:solidFill>
                  <a:srgbClr val="769467"/>
                </a:solidFill>
                <a:latin typeface="BDO Grotesk"/>
              </a:rPr>
              <a:t>Taxonomy Mapping and Narrative Generation :</a:t>
            </a:r>
            <a:r>
              <a:rPr lang="en-IN" sz="1400">
                <a:solidFill>
                  <a:srgbClr val="164055"/>
                </a:solidFill>
                <a:latin typeface="BDO Grotesk"/>
              </a:rPr>
              <a:t> </a:t>
            </a:r>
            <a:r>
              <a:rPr lang="en-US" sz="1400">
                <a:solidFill>
                  <a:srgbClr val="164055"/>
                </a:solidFill>
                <a:latin typeface="BDO Grotesk"/>
              </a:rPr>
              <a:t>Map extracted data to RDM’s controlled taxonomy and auto-generate deal narratives aligned with editorial tone and style</a:t>
            </a:r>
            <a:r>
              <a:rPr lang="en-US" sz="1400">
                <a:solidFill>
                  <a:srgbClr val="FF0000"/>
                </a:solidFill>
                <a:latin typeface="BDO Grotesk"/>
              </a:rPr>
              <a:t>.</a:t>
            </a:r>
            <a:endParaRPr lang="en-GB" sz="1400">
              <a:solidFill>
                <a:srgbClr val="FF0000"/>
              </a:solidFill>
              <a:latin typeface="BDO Grotesk"/>
            </a:endParaRPr>
          </a:p>
          <a:p>
            <a:pPr marL="0" indent="0">
              <a:lnSpc>
                <a:spcPct val="100000"/>
              </a:lnSpc>
              <a:spcBef>
                <a:spcPts val="0"/>
              </a:spcBef>
              <a:buNone/>
            </a:pPr>
            <a:endParaRPr lang="en-GB" sz="1400" b="1">
              <a:solidFill>
                <a:srgbClr val="164055"/>
              </a:solidFill>
              <a:latin typeface="BDO Grotesk"/>
            </a:endParaRPr>
          </a:p>
          <a:p>
            <a:pPr marL="0" indent="0">
              <a:lnSpc>
                <a:spcPct val="100000"/>
              </a:lnSpc>
              <a:spcBef>
                <a:spcPts val="0"/>
              </a:spcBef>
              <a:buNone/>
            </a:pPr>
            <a:r>
              <a:rPr lang="en-GB" sz="1400" b="1">
                <a:solidFill>
                  <a:srgbClr val="71A178"/>
                </a:solidFill>
                <a:latin typeface="BDO Grotesk"/>
              </a:rPr>
              <a:t>Data Points : </a:t>
            </a:r>
            <a:r>
              <a:rPr lang="en-GB" sz="1400">
                <a:solidFill>
                  <a:srgbClr val="164055"/>
                </a:solidFill>
                <a:latin typeface="BDO Grotesk"/>
              </a:rPr>
              <a:t>List of Data Points updated in Appendix II.</a:t>
            </a:r>
          </a:p>
          <a:p>
            <a:pPr marL="0" indent="0">
              <a:lnSpc>
                <a:spcPts val="1800"/>
              </a:lnSpc>
              <a:spcBef>
                <a:spcPts val="0"/>
              </a:spcBef>
              <a:buNone/>
            </a:pPr>
            <a:endParaRPr lang="en-US" sz="1400">
              <a:solidFill>
                <a:srgbClr val="164055"/>
              </a:solidFill>
              <a:latin typeface="BDO Grotesk"/>
              <a:ea typeface="Calibri"/>
              <a:cs typeface="Times New Roman"/>
            </a:endParaRPr>
          </a:p>
        </p:txBody>
      </p:sp>
      <p:sp>
        <p:nvSpPr>
          <p:cNvPr id="6" name="Text Placeholder 2"/>
          <p:cNvSpPr>
            <a:spLocks noGrp="1"/>
          </p:cNvSpPr>
          <p:nvPr/>
        </p:nvSpPr>
        <p:spPr>
          <a:xfrm>
            <a:off x="447827" y="3443770"/>
            <a:ext cx="11625411" cy="139599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DO Grotesk"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DO Grotesk"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DO Grotesk"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DO Grotesk"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400" b="1">
                <a:solidFill>
                  <a:srgbClr val="769467"/>
                </a:solidFill>
                <a:latin typeface="BDO Grotesk"/>
              </a:rPr>
              <a:t>Output : </a:t>
            </a:r>
          </a:p>
          <a:p>
            <a:pPr>
              <a:lnSpc>
                <a:spcPct val="150000"/>
              </a:lnSpc>
              <a:spcBef>
                <a:spcPts val="0"/>
              </a:spcBef>
            </a:pPr>
            <a:r>
              <a:rPr lang="en-US" sz="1400">
                <a:solidFill>
                  <a:srgbClr val="164055"/>
                </a:solidFill>
                <a:latin typeface="BDO Grotesk"/>
              </a:rPr>
              <a:t>Push validated structured data into Azure SQL for long-term storage, analytics, and dashboards.</a:t>
            </a:r>
          </a:p>
          <a:p>
            <a:pPr>
              <a:lnSpc>
                <a:spcPct val="150000"/>
              </a:lnSpc>
              <a:spcBef>
                <a:spcPts val="0"/>
              </a:spcBef>
            </a:pPr>
            <a:r>
              <a:rPr lang="en-US" sz="1400">
                <a:solidFill>
                  <a:srgbClr val="164055"/>
                </a:solidFill>
                <a:latin typeface="BDO Grotesk"/>
              </a:rPr>
              <a:t>Automatically upload deal summaries into </a:t>
            </a:r>
            <a:r>
              <a:rPr lang="en-US" sz="1400" err="1">
                <a:solidFill>
                  <a:srgbClr val="164055"/>
                </a:solidFill>
                <a:latin typeface="BDO Grotesk"/>
              </a:rPr>
              <a:t>ExpressionEngine</a:t>
            </a:r>
            <a:r>
              <a:rPr lang="en-US" sz="1400">
                <a:solidFill>
                  <a:srgbClr val="164055"/>
                </a:solidFill>
                <a:latin typeface="BDO Grotesk"/>
              </a:rPr>
              <a:t> CMS as draft articles for editorial review and publication.</a:t>
            </a:r>
          </a:p>
          <a:p>
            <a:pPr>
              <a:lnSpc>
                <a:spcPct val="150000"/>
              </a:lnSpc>
              <a:spcBef>
                <a:spcPts val="0"/>
              </a:spcBef>
            </a:pPr>
            <a:r>
              <a:rPr lang="en-US" sz="1400">
                <a:solidFill>
                  <a:srgbClr val="164055"/>
                </a:solidFill>
                <a:latin typeface="BDO Grotesk"/>
              </a:rPr>
              <a:t>Maintain an audit log of processed documents, extracted data, and system confidence levels</a:t>
            </a:r>
          </a:p>
          <a:p>
            <a:pPr marL="0" indent="0">
              <a:lnSpc>
                <a:spcPts val="1800"/>
              </a:lnSpc>
              <a:spcBef>
                <a:spcPts val="0"/>
              </a:spcBef>
              <a:buNone/>
            </a:pPr>
            <a:endParaRPr lang="en-US" sz="1400" b="1">
              <a:solidFill>
                <a:srgbClr val="769467"/>
              </a:solidFill>
              <a:latin typeface="BDO Grotesk"/>
            </a:endParaRPr>
          </a:p>
        </p:txBody>
      </p:sp>
    </p:spTree>
    <p:extLst>
      <p:ext uri="{BB962C8B-B14F-4D97-AF65-F5344CB8AC3E}">
        <p14:creationId xmlns:p14="http://schemas.microsoft.com/office/powerpoint/2010/main" val="1866365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D70778C-85F1-3158-6026-BA4CCFDCD4E0}"/>
              </a:ext>
            </a:extLst>
          </p:cNvPr>
          <p:cNvSpPr>
            <a:spLocks noGrp="1"/>
          </p:cNvSpPr>
          <p:nvPr>
            <p:ph type="sldNum" sz="quarter" idx="12"/>
          </p:nvPr>
        </p:nvSpPr>
        <p:spPr/>
        <p:txBody>
          <a:bodyPr/>
          <a:lstStyle/>
          <a:p>
            <a:fld id="{B3561BA9-CDCF-4958-B8AB-66F3BF063E13}" type="slidenum">
              <a:rPr lang="en-US" smtClean="0"/>
              <a:t>12</a:t>
            </a:fld>
            <a:endParaRPr lang="en-US"/>
          </a:p>
        </p:txBody>
      </p:sp>
      <p:sp>
        <p:nvSpPr>
          <p:cNvPr id="4" name="Title 3">
            <a:extLst>
              <a:ext uri="{FF2B5EF4-FFF2-40B4-BE49-F238E27FC236}">
                <a16:creationId xmlns:a16="http://schemas.microsoft.com/office/drawing/2014/main" id="{E066F6B8-006B-9FA1-15B9-A1EEE1F1A88B}"/>
              </a:ext>
            </a:extLst>
          </p:cNvPr>
          <p:cNvSpPr>
            <a:spLocks noGrp="1"/>
          </p:cNvSpPr>
          <p:nvPr>
            <p:ph type="title"/>
          </p:nvPr>
        </p:nvSpPr>
        <p:spPr>
          <a:xfrm>
            <a:off x="344773" y="177954"/>
            <a:ext cx="9693182" cy="518795"/>
          </a:xfrm>
        </p:spPr>
        <p:txBody>
          <a:bodyPr>
            <a:noAutofit/>
          </a:bodyPr>
          <a:lstStyle/>
          <a:p>
            <a:r>
              <a:rPr lang="en-US" sz="2900" b="1">
                <a:solidFill>
                  <a:srgbClr val="164055"/>
                </a:solidFill>
                <a:sym typeface="+mn-ea"/>
              </a:rPr>
              <a:t>Estimated Full Project Costs – High Level </a:t>
            </a:r>
          </a:p>
        </p:txBody>
      </p:sp>
      <p:graphicFrame>
        <p:nvGraphicFramePr>
          <p:cNvPr id="7" name="Table 6"/>
          <p:cNvGraphicFramePr>
            <a:graphicFrameLocks noGrp="1"/>
          </p:cNvGraphicFramePr>
          <p:nvPr/>
        </p:nvGraphicFramePr>
        <p:xfrm>
          <a:off x="593217" y="696749"/>
          <a:ext cx="10800495" cy="4846320"/>
        </p:xfrm>
        <a:graphic>
          <a:graphicData uri="http://schemas.openxmlformats.org/drawingml/2006/table">
            <a:tbl>
              <a:tblPr/>
              <a:tblGrid>
                <a:gridCol w="5927958">
                  <a:extLst>
                    <a:ext uri="{9D8B030D-6E8A-4147-A177-3AD203B41FA5}">
                      <a16:colId xmlns:a16="http://schemas.microsoft.com/office/drawing/2014/main" val="3015767743"/>
                    </a:ext>
                  </a:extLst>
                </a:gridCol>
                <a:gridCol w="2533016">
                  <a:extLst>
                    <a:ext uri="{9D8B030D-6E8A-4147-A177-3AD203B41FA5}">
                      <a16:colId xmlns:a16="http://schemas.microsoft.com/office/drawing/2014/main" val="1690733175"/>
                    </a:ext>
                  </a:extLst>
                </a:gridCol>
                <a:gridCol w="2339521">
                  <a:extLst>
                    <a:ext uri="{9D8B030D-6E8A-4147-A177-3AD203B41FA5}">
                      <a16:colId xmlns:a16="http://schemas.microsoft.com/office/drawing/2014/main" val="1311838541"/>
                    </a:ext>
                  </a:extLst>
                </a:gridCol>
              </a:tblGrid>
              <a:tr h="0">
                <a:tc>
                  <a:txBody>
                    <a:bodyPr/>
                    <a:lstStyle/>
                    <a:p>
                      <a:pPr algn="ctr" rtl="0" fontAlgn="b"/>
                      <a:r>
                        <a:rPr lang="en-GB" sz="1100" b="1" i="0" u="none" strike="noStrike">
                          <a:solidFill>
                            <a:srgbClr val="164055"/>
                          </a:solidFill>
                          <a:effectLst/>
                          <a:latin typeface="BDO Grotesk"/>
                        </a:rPr>
                        <a:t>Description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b"/>
                      <a:r>
                        <a:rPr lang="en-GB" sz="1100" b="1" i="0" u="none" strike="noStrike">
                          <a:solidFill>
                            <a:srgbClr val="164055"/>
                          </a:solidFill>
                          <a:effectLst/>
                          <a:latin typeface="BDO Grotesk"/>
                        </a:rPr>
                        <a:t>Cost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b"/>
                      <a:r>
                        <a:rPr lang="en-GB" sz="1100" b="1" i="0" u="none" strike="noStrike">
                          <a:solidFill>
                            <a:srgbClr val="164055"/>
                          </a:solidFill>
                          <a:effectLst/>
                          <a:latin typeface="BDO Grotesk"/>
                        </a:rPr>
                        <a:t>Comments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extLst>
                  <a:ext uri="{0D108BD9-81ED-4DB2-BD59-A6C34878D82A}">
                    <a16:rowId xmlns:a16="http://schemas.microsoft.com/office/drawing/2014/main" val="3774847206"/>
                  </a:ext>
                </a:extLst>
              </a:tr>
              <a:tr h="0">
                <a:tc>
                  <a:txBody>
                    <a:bodyPr/>
                    <a:lstStyle/>
                    <a:p>
                      <a:pPr algn="ctr" rtl="0" fontAlgn="b"/>
                      <a:r>
                        <a:rPr lang="en-GB" sz="1100" b="0" i="0" u="none" strike="noStrike">
                          <a:solidFill>
                            <a:srgbClr val="164055"/>
                          </a:solidFill>
                          <a:effectLst/>
                          <a:latin typeface="BDO Grotesk"/>
                        </a:rPr>
                        <a:t>Discovery, Analysis and Planning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GB" sz="1100" b="0" i="0" u="none" strike="noStrike">
                          <a:solidFill>
                            <a:srgbClr val="164055"/>
                          </a:solidFill>
                          <a:effectLst/>
                          <a:latin typeface="BDO Grotesk"/>
                        </a:rPr>
                        <a:t>FOC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GB" sz="1100" b="0" i="0" u="none" strike="noStrike">
                          <a:solidFill>
                            <a:srgbClr val="164055"/>
                          </a:solidFill>
                          <a:effectLst/>
                          <a:latin typeface="BDO Grotesk"/>
                        </a:rPr>
                        <a:t>Covered in POC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6353565"/>
                  </a:ext>
                </a:extLst>
              </a:tr>
              <a:tr h="0">
                <a:tc>
                  <a:txBody>
                    <a:bodyPr/>
                    <a:lstStyle/>
                    <a:p>
                      <a:pPr algn="ctr" rtl="0" fontAlgn="b"/>
                      <a:r>
                        <a:rPr lang="en-US" sz="1100" b="0" i="0" u="none" strike="noStrike">
                          <a:solidFill>
                            <a:srgbClr val="164055"/>
                          </a:solidFill>
                          <a:effectLst/>
                          <a:latin typeface="BDO Grotesk"/>
                        </a:rPr>
                        <a:t>Solution Design and System Set up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£3,475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5210633"/>
                  </a:ext>
                </a:extLst>
              </a:tr>
              <a:tr h="0">
                <a:tc>
                  <a:txBody>
                    <a:bodyPr/>
                    <a:lstStyle/>
                    <a:p>
                      <a:pPr algn="ctr" rtl="0" fontAlgn="b"/>
                      <a:r>
                        <a:rPr lang="en-GB" sz="1100" b="0" i="0" u="none" strike="noStrike" err="1">
                          <a:solidFill>
                            <a:srgbClr val="164055"/>
                          </a:solidFill>
                          <a:effectLst/>
                          <a:latin typeface="BDO Grotesk"/>
                        </a:rPr>
                        <a:t>ScrapeX</a:t>
                      </a:r>
                      <a:r>
                        <a:rPr lang="en-GB" sz="1100" b="0" i="0" u="none" strike="noStrike">
                          <a:solidFill>
                            <a:srgbClr val="164055"/>
                          </a:solidFill>
                          <a:effectLst/>
                          <a:latin typeface="BDO Grotesk"/>
                        </a:rPr>
                        <a:t> configuration – c40 sources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 £2,376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9951068"/>
                  </a:ext>
                </a:extLst>
              </a:tr>
              <a:tr h="0">
                <a:tc>
                  <a:txBody>
                    <a:bodyPr/>
                    <a:lstStyle/>
                    <a:p>
                      <a:pPr algn="ctr" rtl="0" fontAlgn="b"/>
                      <a:r>
                        <a:rPr lang="en-GB" sz="1100" b="0" i="0" u="none" strike="noStrike">
                          <a:solidFill>
                            <a:srgbClr val="164055"/>
                          </a:solidFill>
                          <a:effectLst/>
                          <a:latin typeface="BDO Grotesk"/>
                        </a:rPr>
                        <a:t>AI/ML solution using KIAA framework - classifier, semantic de-duping, data mining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£9,415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700" b="0" i="0" u="none" strike="noStrike">
                        <a:solidFill>
                          <a:srgbClr val="000000"/>
                        </a:solidFill>
                        <a:effectLst/>
                        <a:latin typeface="Arial"/>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417580"/>
                  </a:ext>
                </a:extLst>
              </a:tr>
              <a:tr h="238697">
                <a:tc>
                  <a:txBody>
                    <a:bodyPr/>
                    <a:lstStyle/>
                    <a:p>
                      <a:pPr algn="ctr" rtl="0" fontAlgn="b"/>
                      <a:r>
                        <a:rPr lang="en-GB" sz="1100" b="0" i="0" u="none" strike="noStrike">
                          <a:solidFill>
                            <a:srgbClr val="164055"/>
                          </a:solidFill>
                          <a:effectLst/>
                          <a:latin typeface="BDO Grotesk"/>
                        </a:rPr>
                        <a:t>Solution Testing /QA (Tech)</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£3,879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700" b="0" i="0" u="none" strike="noStrike">
                        <a:solidFill>
                          <a:srgbClr val="000000"/>
                        </a:solidFill>
                        <a:effectLst/>
                        <a:latin typeface="Arial"/>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6404654"/>
                  </a:ext>
                </a:extLst>
              </a:tr>
              <a:tr h="0">
                <a:tc>
                  <a:txBody>
                    <a:bodyPr/>
                    <a:lstStyle/>
                    <a:p>
                      <a:pPr algn="ctr" rtl="0" fontAlgn="b"/>
                      <a:r>
                        <a:rPr lang="en-US" sz="1100" b="0" i="0" u="none" strike="noStrike">
                          <a:solidFill>
                            <a:srgbClr val="164055"/>
                          </a:solidFill>
                          <a:effectLst/>
                          <a:latin typeface="BDO Grotesk"/>
                        </a:rPr>
                        <a:t>Data Transformation, Logging, Alerts, Reports and Delivery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£704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700" b="0" i="0" u="none" strike="noStrike">
                        <a:solidFill>
                          <a:srgbClr val="000000"/>
                        </a:solidFill>
                        <a:effectLst/>
                        <a:latin typeface="Arial"/>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8908680"/>
                  </a:ext>
                </a:extLst>
              </a:tr>
              <a:tr h="0">
                <a:tc>
                  <a:txBody>
                    <a:bodyPr/>
                    <a:lstStyle/>
                    <a:p>
                      <a:pPr algn="ctr" rtl="0" fontAlgn="b"/>
                      <a:r>
                        <a:rPr lang="en-GB" sz="1100" b="0" i="0" u="none" strike="noStrike">
                          <a:solidFill>
                            <a:srgbClr val="164055"/>
                          </a:solidFill>
                          <a:effectLst/>
                          <a:latin typeface="BDO Grotesk"/>
                        </a:rPr>
                        <a:t>Solution Integration and Deployment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 £4,022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1001948"/>
                  </a:ext>
                </a:extLst>
              </a:tr>
              <a:tr h="0">
                <a:tc>
                  <a:txBody>
                    <a:bodyPr/>
                    <a:lstStyle/>
                    <a:p>
                      <a:pPr algn="ctr" rtl="0" fontAlgn="b"/>
                      <a:r>
                        <a:rPr lang="en-GB" sz="1100" b="0" i="0" u="none" strike="noStrike">
                          <a:solidFill>
                            <a:srgbClr val="164055"/>
                          </a:solidFill>
                          <a:effectLst/>
                          <a:latin typeface="BDO Grotesk"/>
                        </a:rPr>
                        <a:t>Documentation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FOC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950058"/>
                  </a:ext>
                </a:extLst>
              </a:tr>
              <a:tr h="0">
                <a:tc>
                  <a:txBody>
                    <a:bodyPr/>
                    <a:lstStyle/>
                    <a:p>
                      <a:pPr algn="ctr" rtl="0" fontAlgn="b"/>
                      <a:r>
                        <a:rPr lang="en-GB" sz="1100" b="0" i="0" u="none" strike="noStrike">
                          <a:solidFill>
                            <a:srgbClr val="164055"/>
                          </a:solidFill>
                          <a:effectLst/>
                          <a:latin typeface="BDO Grotesk"/>
                        </a:rPr>
                        <a:t>Project Management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GB" sz="1100" b="0" i="0" u="none" strike="noStrike">
                          <a:solidFill>
                            <a:srgbClr val="164055"/>
                          </a:solidFill>
                          <a:effectLst/>
                          <a:latin typeface="BDO Grotesk"/>
                        </a:rPr>
                        <a:t>FOC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endParaRPr lang="en-GB" sz="1100" b="0" i="0" u="none" strike="noStrike">
                        <a:solidFill>
                          <a:srgbClr val="164055"/>
                        </a:solidFill>
                        <a:effectLst/>
                        <a:latin typeface="BDO Grotesk"/>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4321404"/>
                  </a:ext>
                </a:extLst>
              </a:tr>
              <a:tr h="0">
                <a:tc>
                  <a:txBody>
                    <a:bodyPr/>
                    <a:lstStyle/>
                    <a:p>
                      <a:pPr algn="ctr" rtl="0" fontAlgn="b"/>
                      <a:r>
                        <a:rPr lang="en-US" sz="1100" b="0" i="0" u="none" strike="noStrike">
                          <a:solidFill>
                            <a:srgbClr val="FFFFFF"/>
                          </a:solidFill>
                          <a:effectLst/>
                          <a:latin typeface="Aptos Narrow"/>
                        </a:rPr>
                        <a:t>Total Solution Set Up / Configuration Costs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tc>
                  <a:txBody>
                    <a:bodyPr/>
                    <a:lstStyle/>
                    <a:p>
                      <a:pPr algn="r" rtl="0" fontAlgn="b"/>
                      <a:r>
                        <a:rPr lang="en-GB" sz="1100" b="0" i="0" u="none" strike="noStrike">
                          <a:solidFill>
                            <a:srgbClr val="FFFFFF"/>
                          </a:solidFill>
                          <a:effectLst/>
                          <a:latin typeface="Aptos Narrow"/>
                        </a:rPr>
                        <a:t>£23,870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tc>
                  <a:txBody>
                    <a:bodyPr/>
                    <a:lstStyle/>
                    <a:p>
                      <a:pPr algn="ctr" rtl="0" fontAlgn="b"/>
                      <a:endParaRPr lang="en-GB" sz="1100" b="0" i="0" u="none" strike="noStrike">
                        <a:solidFill>
                          <a:srgbClr val="FFFFFF"/>
                        </a:solidFill>
                        <a:effectLst/>
                        <a:latin typeface="Aptos Narrow"/>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extLst>
                  <a:ext uri="{0D108BD9-81ED-4DB2-BD59-A6C34878D82A}">
                    <a16:rowId xmlns:a16="http://schemas.microsoft.com/office/drawing/2014/main" val="212795709"/>
                  </a:ext>
                </a:extLst>
              </a:tr>
              <a:tr h="0">
                <a:tc>
                  <a:txBody>
                    <a:bodyPr/>
                    <a:lstStyle/>
                    <a:p>
                      <a:pPr algn="ctr" rtl="0" fontAlgn="b"/>
                      <a:endParaRPr lang="en-GB" sz="1700" b="0" i="0" u="none" strike="noStrike">
                        <a:solidFill>
                          <a:srgbClr val="000000"/>
                        </a:solidFill>
                        <a:effectLst/>
                        <a:latin typeface="Arial"/>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endParaRPr lang="en-GB" sz="1700" b="0" i="0" u="none" strike="noStrike">
                        <a:solidFill>
                          <a:srgbClr val="000000"/>
                        </a:solidFill>
                        <a:effectLst/>
                        <a:latin typeface="Arial" panose="020B060402020202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endParaRPr lang="en-GB" sz="1100" b="0" i="0" u="none" strike="noStrike">
                        <a:solidFill>
                          <a:srgbClr val="000000"/>
                        </a:solidFill>
                        <a:effectLst/>
                        <a:latin typeface="Aptos Narrow"/>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5743655"/>
                  </a:ext>
                </a:extLst>
              </a:tr>
              <a:tr h="0">
                <a:tc>
                  <a:txBody>
                    <a:bodyPr/>
                    <a:lstStyle/>
                    <a:p>
                      <a:pPr algn="ctr" rtl="0" fontAlgn="b"/>
                      <a:r>
                        <a:rPr lang="en-GB" sz="1100" b="0" i="0" u="none" strike="noStrike">
                          <a:solidFill>
                            <a:srgbClr val="FFFFFF"/>
                          </a:solidFill>
                          <a:effectLst/>
                          <a:latin typeface="Aptos Narrow"/>
                        </a:rPr>
                        <a:t>Buffer For Contingencies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tc>
                  <a:txBody>
                    <a:bodyPr/>
                    <a:lstStyle/>
                    <a:p>
                      <a:pPr algn="r" rtl="0" fontAlgn="b"/>
                      <a:r>
                        <a:rPr lang="en-GB" sz="1100" b="0" i="0" u="none" strike="noStrike">
                          <a:solidFill>
                            <a:srgbClr val="FFFFFF"/>
                          </a:solidFill>
                          <a:effectLst/>
                          <a:latin typeface="Aptos Narrow"/>
                        </a:rPr>
                        <a:t>£2,007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tc>
                  <a:txBody>
                    <a:bodyPr/>
                    <a:lstStyle/>
                    <a:p>
                      <a:pPr algn="ctr" rtl="0" fontAlgn="b"/>
                      <a:endParaRPr lang="en-GB" sz="1100" b="0" i="0" u="none" strike="noStrike">
                        <a:solidFill>
                          <a:srgbClr val="FFFFFF"/>
                        </a:solidFill>
                        <a:effectLst/>
                        <a:latin typeface="Aptos Narrow"/>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9E76"/>
                    </a:solidFill>
                  </a:tcPr>
                </a:tc>
                <a:extLst>
                  <a:ext uri="{0D108BD9-81ED-4DB2-BD59-A6C34878D82A}">
                    <a16:rowId xmlns:a16="http://schemas.microsoft.com/office/drawing/2014/main" val="1318689139"/>
                  </a:ext>
                </a:extLst>
              </a:tr>
              <a:tr h="0">
                <a:tc>
                  <a:txBody>
                    <a:bodyPr/>
                    <a:lstStyle/>
                    <a:p>
                      <a:pPr algn="ctr" fontAlgn="b"/>
                      <a:endParaRPr lang="en-GB" sz="1000" b="0" i="0" u="none" strike="noStrike">
                        <a:solidFill>
                          <a:srgbClr val="000000"/>
                        </a:solidFill>
                        <a:effectLst/>
                        <a:latin typeface="Aptos Narrow"/>
                      </a:endParaRPr>
                    </a:p>
                  </a:txBody>
                  <a:tcPr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GB" sz="1000" b="0" i="0" u="none" strike="noStrike">
                        <a:solidFill>
                          <a:srgbClr val="000000"/>
                        </a:solidFill>
                        <a:effectLst/>
                        <a:latin typeface="Aptos Narrow"/>
                      </a:endParaRPr>
                    </a:p>
                  </a:txBody>
                  <a:tcPr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1000" b="0" i="0" u="none" strike="noStrike">
                        <a:solidFill>
                          <a:srgbClr val="000000"/>
                        </a:solidFill>
                        <a:effectLst/>
                        <a:latin typeface="Aptos Narrow"/>
                      </a:endParaRPr>
                    </a:p>
                  </a:txBody>
                  <a:tcPr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42345377"/>
                  </a:ext>
                </a:extLst>
              </a:tr>
              <a:tr h="0">
                <a:tc>
                  <a:txBody>
                    <a:bodyPr/>
                    <a:lstStyle/>
                    <a:p>
                      <a:pPr algn="ctr" rtl="0" fontAlgn="b"/>
                      <a:r>
                        <a:rPr lang="en-GB" sz="1100" b="0" i="0" u="none" strike="noStrike">
                          <a:solidFill>
                            <a:srgbClr val="FFFFFF"/>
                          </a:solidFill>
                          <a:effectLst/>
                          <a:latin typeface="Aptos Narrow"/>
                        </a:rPr>
                        <a:t>Total Infra Costs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A9E76"/>
                    </a:solidFill>
                  </a:tcPr>
                </a:tc>
                <a:tc>
                  <a:txBody>
                    <a:bodyPr/>
                    <a:lstStyle/>
                    <a:p>
                      <a:pPr algn="r" rtl="0" fontAlgn="b"/>
                      <a:r>
                        <a:rPr lang="en-GB" sz="1100" b="0" i="0" u="none" strike="noStrike">
                          <a:solidFill>
                            <a:srgbClr val="FFFFFF"/>
                          </a:solidFill>
                          <a:effectLst/>
                          <a:latin typeface="Aptos Narrow"/>
                        </a:rPr>
                        <a:t> £890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A9E76"/>
                    </a:solidFill>
                  </a:tcPr>
                </a:tc>
                <a:tc>
                  <a:txBody>
                    <a:bodyPr/>
                    <a:lstStyle/>
                    <a:p>
                      <a:pPr algn="ctr" rtl="0" fontAlgn="b"/>
                      <a:r>
                        <a:rPr lang="en-GB" sz="1100" b="0" i="0" u="none" strike="noStrike">
                          <a:solidFill>
                            <a:srgbClr val="FFFFFF"/>
                          </a:solidFill>
                          <a:effectLst/>
                          <a:latin typeface="Aptos Narrow"/>
                        </a:rPr>
                        <a:t>Covered in Appendix I</a:t>
                      </a:r>
                      <a:r>
                        <a:rPr lang="en-GB" sz="1100" b="0" i="0" u="none" strike="noStrike" noProof="0">
                          <a:solidFill>
                            <a:srgbClr val="FFFFFF"/>
                          </a:solidFill>
                          <a:effectLst/>
                          <a:latin typeface="Aptos Narrow"/>
                        </a:rPr>
                        <a:t>II</a:t>
                      </a:r>
                      <a:endParaRPr lang="en-GB" sz="1100" b="0" i="0" u="none" strike="noStrike">
                        <a:solidFill>
                          <a:srgbClr val="FFFFFF"/>
                        </a:solidFill>
                        <a:effectLst/>
                        <a:latin typeface="Aptos Narrow"/>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A9E76"/>
                    </a:solidFill>
                  </a:tcPr>
                </a:tc>
                <a:extLst>
                  <a:ext uri="{0D108BD9-81ED-4DB2-BD59-A6C34878D82A}">
                    <a16:rowId xmlns:a16="http://schemas.microsoft.com/office/drawing/2014/main" val="247482722"/>
                  </a:ext>
                </a:extLst>
              </a:tr>
              <a:tr h="0">
                <a:tc>
                  <a:txBody>
                    <a:bodyPr/>
                    <a:lstStyle/>
                    <a:p>
                      <a:pPr algn="ctr" rtl="0" fontAlgn="b"/>
                      <a:endParaRPr lang="en-GB" sz="1700" b="0" i="0" u="none" strike="noStrike">
                        <a:solidFill>
                          <a:srgbClr val="000000"/>
                        </a:solidFill>
                        <a:effectLst/>
                        <a:latin typeface="Arial"/>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endParaRPr lang="en-GB" sz="1700" b="0" i="0" u="none" strike="noStrike">
                        <a:solidFill>
                          <a:srgbClr val="000000"/>
                        </a:solidFill>
                        <a:effectLst/>
                        <a:latin typeface="Arial" panose="020B060402020202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GB" sz="1100" b="0" i="0" u="none" strike="noStrike">
                          <a:solidFill>
                            <a:srgbClr val="000000"/>
                          </a:solidFill>
                          <a:effectLst/>
                          <a:latin typeface="Aptos Narrow"/>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8185347"/>
                  </a:ext>
                </a:extLst>
              </a:tr>
              <a:tr h="235274">
                <a:tc>
                  <a:txBody>
                    <a:bodyPr/>
                    <a:lstStyle/>
                    <a:p>
                      <a:pPr algn="ctr" rtl="0" fontAlgn="b"/>
                      <a:r>
                        <a:rPr lang="en-US" sz="1100" b="0" i="0" u="none" strike="noStrike">
                          <a:solidFill>
                            <a:srgbClr val="FFFFFF"/>
                          </a:solidFill>
                          <a:effectLst/>
                          <a:latin typeface="Aptos Narrow"/>
                        </a:rPr>
                        <a:t>Total Cost of Solution </a:t>
                      </a:r>
                      <a:r>
                        <a:rPr lang="en-US" sz="1100" b="0" i="0" u="none" strike="noStrike" err="1">
                          <a:solidFill>
                            <a:srgbClr val="FFFFFF"/>
                          </a:solidFill>
                          <a:effectLst/>
                          <a:latin typeface="Aptos Narrow"/>
                        </a:rPr>
                        <a:t>Customisation</a:t>
                      </a:r>
                      <a:r>
                        <a:rPr lang="en-US" sz="1100" b="0" i="0" u="none" strike="noStrike">
                          <a:solidFill>
                            <a:srgbClr val="FFFFFF"/>
                          </a:solidFill>
                          <a:effectLst/>
                          <a:latin typeface="Aptos Narrow"/>
                        </a:rPr>
                        <a:t> / Configuration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r" rtl="0" fontAlgn="b"/>
                      <a:r>
                        <a:rPr lang="en-GB" sz="1100" b="0" i="0" u="none" strike="noStrike">
                          <a:solidFill>
                            <a:srgbClr val="FFFFFF"/>
                          </a:solidFill>
                          <a:effectLst/>
                          <a:latin typeface="Aptos Narrow"/>
                        </a:rPr>
                        <a:t> £26,767 </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rtl="0" fontAlgn="b"/>
                      <a:endParaRPr lang="en-GB" sz="1100" b="0" i="0" u="none" strike="noStrike">
                        <a:solidFill>
                          <a:srgbClr val="FFFFFF"/>
                        </a:solidFill>
                        <a:effectLst/>
                        <a:latin typeface="Aptos Narrow"/>
                      </a:endParaRP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2850194113"/>
                  </a:ext>
                </a:extLst>
              </a:tr>
            </a:tbl>
          </a:graphicData>
        </a:graphic>
      </p:graphicFrame>
      <p:sp>
        <p:nvSpPr>
          <p:cNvPr id="8" name="Rectangle 7"/>
          <p:cNvSpPr/>
          <p:nvPr/>
        </p:nvSpPr>
        <p:spPr>
          <a:xfrm>
            <a:off x="593217" y="5592504"/>
            <a:ext cx="11078083" cy="938719"/>
          </a:xfrm>
          <a:prstGeom prst="rect">
            <a:avLst/>
          </a:prstGeom>
        </p:spPr>
        <p:txBody>
          <a:bodyPr wrap="square">
            <a:spAutoFit/>
          </a:bodyPr>
          <a:lstStyle/>
          <a:p>
            <a:r>
              <a:rPr lang="en-US" sz="1100" b="1">
                <a:solidFill>
                  <a:srgbClr val="164055"/>
                </a:solidFill>
                <a:latin typeface="BDO Grotesk"/>
              </a:rPr>
              <a:t>Notes</a:t>
            </a:r>
          </a:p>
          <a:p>
            <a:pPr marL="171450" indent="-171450">
              <a:buFont typeface="Arial" panose="020B0604020202020204" pitchFamily="34" charset="0"/>
              <a:buChar char="•"/>
            </a:pPr>
            <a:r>
              <a:rPr lang="en-US" sz="1100">
                <a:solidFill>
                  <a:srgbClr val="164055"/>
                </a:solidFill>
                <a:latin typeface="BDO Grotesk"/>
              </a:rPr>
              <a:t>The costs are only indicative and based on detailed analysis and better understanding the estimates might vary</a:t>
            </a:r>
          </a:p>
          <a:p>
            <a:pPr marL="171450" indent="-171450">
              <a:buFont typeface="Arial" panose="020B0604020202020204" pitchFamily="34" charset="0"/>
              <a:buChar char="•"/>
            </a:pPr>
            <a:r>
              <a:rPr lang="en-US" sz="1100">
                <a:solidFill>
                  <a:srgbClr val="164055"/>
                </a:solidFill>
                <a:latin typeface="BDO Grotesk"/>
              </a:rPr>
              <a:t>Any alteration or expansion of the project's scope will also have an effect on the estimates provided above. Any additional sources will be </a:t>
            </a:r>
            <a:r>
              <a:rPr lang="en-US" sz="1100" err="1">
                <a:solidFill>
                  <a:srgbClr val="164055"/>
                </a:solidFill>
                <a:latin typeface="BDO Grotesk"/>
              </a:rPr>
              <a:t>analysed</a:t>
            </a:r>
            <a:r>
              <a:rPr lang="en-US" sz="1100">
                <a:solidFill>
                  <a:srgbClr val="164055"/>
                </a:solidFill>
                <a:latin typeface="BDO Grotesk"/>
              </a:rPr>
              <a:t> and estimated based on complexity.</a:t>
            </a:r>
          </a:p>
          <a:p>
            <a:pPr marL="171450" indent="-171450">
              <a:buFont typeface="Arial" panose="020B0604020202020204" pitchFamily="34" charset="0"/>
              <a:buChar char="•"/>
            </a:pPr>
            <a:r>
              <a:rPr lang="en-US" sz="1100">
                <a:solidFill>
                  <a:srgbClr val="164055"/>
                </a:solidFill>
                <a:latin typeface="BDO Grotesk"/>
              </a:rPr>
              <a:t>Infrastructure costs are estimates and will be billed on actuals</a:t>
            </a:r>
          </a:p>
        </p:txBody>
      </p:sp>
    </p:spTree>
    <p:extLst>
      <p:ext uri="{BB962C8B-B14F-4D97-AF65-F5344CB8AC3E}">
        <p14:creationId xmlns:p14="http://schemas.microsoft.com/office/powerpoint/2010/main" val="412281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74B22-74A3-1F3F-784F-7BF5BF8A659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BB4CDE-2264-8589-002D-A526CE9D70FF}"/>
              </a:ext>
            </a:extLst>
          </p:cNvPr>
          <p:cNvSpPr>
            <a:spLocks noGrp="1"/>
          </p:cNvSpPr>
          <p:nvPr>
            <p:ph type="sldNum" sz="quarter" idx="12"/>
          </p:nvPr>
        </p:nvSpPr>
        <p:spPr/>
        <p:txBody>
          <a:bodyPr/>
          <a:lstStyle/>
          <a:p>
            <a:fld id="{B3561BA9-CDCF-4958-B8AB-66F3BF063E13}" type="slidenum">
              <a:rPr lang="en-US" smtClean="0"/>
              <a:t>13</a:t>
            </a:fld>
            <a:endParaRPr lang="en-US"/>
          </a:p>
        </p:txBody>
      </p:sp>
      <p:sp>
        <p:nvSpPr>
          <p:cNvPr id="4" name="Title 3">
            <a:extLst>
              <a:ext uri="{FF2B5EF4-FFF2-40B4-BE49-F238E27FC236}">
                <a16:creationId xmlns:a16="http://schemas.microsoft.com/office/drawing/2014/main" id="{694BADAB-7830-2530-3B3D-616FE1F08FDD}"/>
              </a:ext>
            </a:extLst>
          </p:cNvPr>
          <p:cNvSpPr>
            <a:spLocks noGrp="1"/>
          </p:cNvSpPr>
          <p:nvPr>
            <p:ph type="title"/>
          </p:nvPr>
        </p:nvSpPr>
        <p:spPr>
          <a:xfrm>
            <a:off x="446383" y="369897"/>
            <a:ext cx="10406495" cy="518795"/>
          </a:xfrm>
        </p:spPr>
        <p:txBody>
          <a:bodyPr>
            <a:noAutofit/>
          </a:bodyPr>
          <a:lstStyle/>
          <a:p>
            <a:r>
              <a:rPr lang="en-US" sz="2900" b="1">
                <a:solidFill>
                  <a:srgbClr val="1A3F4E"/>
                </a:solidFill>
                <a:sym typeface="+mn-ea"/>
              </a:rPr>
              <a:t>Estimated Recurring BAU Costs (Monthly) – High Level </a:t>
            </a:r>
          </a:p>
        </p:txBody>
      </p:sp>
      <p:sp>
        <p:nvSpPr>
          <p:cNvPr id="6" name="TextBox 5"/>
          <p:cNvSpPr txBox="1"/>
          <p:nvPr/>
        </p:nvSpPr>
        <p:spPr>
          <a:xfrm>
            <a:off x="446383" y="4264346"/>
            <a:ext cx="11054184" cy="2117503"/>
          </a:xfrm>
          <a:prstGeom prst="rect">
            <a:avLst/>
          </a:prstGeom>
          <a:noFill/>
        </p:spPr>
        <p:txBody>
          <a:bodyPr wrap="square" lIns="91440" tIns="45720" rIns="91440" bIns="45720" anchor="t">
            <a:spAutoFit/>
          </a:bodyPr>
          <a:lstStyle/>
          <a:p>
            <a:pPr marL="95250" fontAlgn="ctr">
              <a:lnSpc>
                <a:spcPct val="130000"/>
              </a:lnSpc>
              <a:spcBef>
                <a:spcPts val="300"/>
              </a:spcBef>
              <a:spcAft>
                <a:spcPts val="300"/>
              </a:spcAft>
              <a:buClr>
                <a:srgbClr val="0B263C"/>
              </a:buClr>
              <a:buSzPts val="1400"/>
            </a:pPr>
            <a:r>
              <a:rPr lang="en-US" sz="1200" b="1">
                <a:solidFill>
                  <a:srgbClr val="0B263C"/>
                </a:solidFill>
                <a:latin typeface="Arial" panose="020B0604020202020204" pitchFamily="34" charset="0"/>
                <a:cs typeface="Arial" panose="020B0604020202020204" pitchFamily="34" charset="0"/>
              </a:rPr>
              <a:t>Note: </a:t>
            </a:r>
          </a:p>
          <a:p>
            <a:pPr marL="266700" indent="-171450" fontAlgn="ctr">
              <a:spcBef>
                <a:spcPts val="300"/>
              </a:spcBef>
              <a:spcAft>
                <a:spcPts val="300"/>
              </a:spcAft>
              <a:buClr>
                <a:srgbClr val="0B263C"/>
              </a:buClr>
              <a:buSzPts val="1400"/>
              <a:buFont typeface="Wingdings" panose="05000000000000000000" pitchFamily="2" charset="2"/>
              <a:buChar char="§"/>
            </a:pPr>
            <a:r>
              <a:rPr lang="en-US" sz="1100">
                <a:solidFill>
                  <a:srgbClr val="164055"/>
                </a:solidFill>
                <a:latin typeface="BDO Grotesk"/>
              </a:rPr>
              <a:t>**Average token cost per document (based on current </a:t>
            </a:r>
            <a:r>
              <a:rPr lang="en-US" sz="1100" err="1">
                <a:solidFill>
                  <a:srgbClr val="164055"/>
                </a:solidFill>
                <a:latin typeface="BDO Grotesk"/>
              </a:rPr>
              <a:t>OpenAI</a:t>
            </a:r>
            <a:r>
              <a:rPr lang="en-US" sz="1100">
                <a:solidFill>
                  <a:srgbClr val="164055"/>
                </a:solidFill>
                <a:latin typeface="BDO Grotesk"/>
              </a:rPr>
              <a:t> pricing and the sample documents reviewed) has been estimated by alternating the use of GPT-4o, GPT-o3, and GPT-4o-mini models depending on the response type and complexity. The projected monthly cost assumes a processing volume of approximately 40 documents per day over 25 working days, </a:t>
            </a:r>
            <a:r>
              <a:rPr lang="en-US" sz="1100" err="1">
                <a:solidFill>
                  <a:srgbClr val="164055"/>
                </a:solidFill>
                <a:latin typeface="BDO Grotesk"/>
              </a:rPr>
              <a:t>totalling</a:t>
            </a:r>
            <a:r>
              <a:rPr lang="en-US" sz="1100">
                <a:solidFill>
                  <a:srgbClr val="164055"/>
                </a:solidFill>
                <a:latin typeface="BDO Grotesk"/>
              </a:rPr>
              <a:t> 1,000 documents per month</a:t>
            </a:r>
          </a:p>
          <a:p>
            <a:pPr marL="266700" indent="-171450" fontAlgn="ctr">
              <a:spcBef>
                <a:spcPts val="300"/>
              </a:spcBef>
              <a:spcAft>
                <a:spcPts val="300"/>
              </a:spcAft>
              <a:buClr>
                <a:srgbClr val="0B263C"/>
              </a:buClr>
              <a:buSzPts val="1400"/>
              <a:buFont typeface="Wingdings" panose="05000000000000000000" pitchFamily="2" charset="2"/>
              <a:buChar char="§"/>
            </a:pPr>
            <a:r>
              <a:rPr lang="en-US" sz="1100">
                <a:solidFill>
                  <a:srgbClr val="164055"/>
                </a:solidFill>
                <a:latin typeface="BDO Grotesk"/>
              </a:rPr>
              <a:t>Costs will be impacted if requirements or agreed volume changes. Infrastructure costs are estimates and will be billed on actuals.</a:t>
            </a:r>
          </a:p>
          <a:p>
            <a:pPr marL="266700" indent="-171450" fontAlgn="ctr">
              <a:spcBef>
                <a:spcPts val="300"/>
              </a:spcBef>
              <a:spcAft>
                <a:spcPts val="300"/>
              </a:spcAft>
              <a:buClr>
                <a:srgbClr val="0B263C"/>
              </a:buClr>
              <a:buSzPts val="1400"/>
              <a:buFont typeface="Wingdings" panose="05000000000000000000" pitchFamily="2" charset="2"/>
              <a:buChar char="§"/>
            </a:pPr>
            <a:r>
              <a:rPr lang="en-US" sz="1100">
                <a:solidFill>
                  <a:srgbClr val="164055"/>
                </a:solidFill>
                <a:latin typeface="BDO Grotesk"/>
              </a:rPr>
              <a:t>The estimates are considering that the solution will be hosted on Merit's on-</a:t>
            </a:r>
            <a:r>
              <a:rPr lang="en-US" sz="1100" err="1">
                <a:solidFill>
                  <a:srgbClr val="164055"/>
                </a:solidFill>
                <a:latin typeface="BDO Grotesk"/>
              </a:rPr>
              <a:t>prem</a:t>
            </a:r>
            <a:r>
              <a:rPr lang="en-US" sz="1100">
                <a:solidFill>
                  <a:srgbClr val="164055"/>
                </a:solidFill>
                <a:latin typeface="BDO Grotesk"/>
              </a:rPr>
              <a:t> servers.</a:t>
            </a:r>
          </a:p>
          <a:p>
            <a:pPr marL="266700" indent="-171450" fontAlgn="ctr">
              <a:spcBef>
                <a:spcPts val="300"/>
              </a:spcBef>
              <a:spcAft>
                <a:spcPts val="300"/>
              </a:spcAft>
              <a:buClr>
                <a:srgbClr val="0B263C"/>
              </a:buClr>
              <a:buSzPts val="1400"/>
              <a:buFont typeface="Wingdings" panose="05000000000000000000" pitchFamily="2" charset="2"/>
              <a:buChar char="§"/>
            </a:pPr>
            <a:r>
              <a:rPr lang="en-US" sz="1100">
                <a:solidFill>
                  <a:srgbClr val="164055"/>
                </a:solidFill>
                <a:latin typeface="BDO Grotesk"/>
              </a:rPr>
              <a:t>Regular monthly Support and Maintenance will be charged as mentioned above. Any changes to the requirement will be communicated and any changes mutually agreed by both parties will be billed on actual effort spent @ £30 per hour</a:t>
            </a:r>
          </a:p>
          <a:p>
            <a:pPr marL="95250" fontAlgn="ctr">
              <a:spcBef>
                <a:spcPts val="300"/>
              </a:spcBef>
              <a:spcAft>
                <a:spcPts val="300"/>
              </a:spcAft>
              <a:buClr>
                <a:srgbClr val="0B263C"/>
              </a:buClr>
              <a:buSzPts val="1400"/>
            </a:pPr>
            <a:endParaRPr lang="en-US" sz="1400">
              <a:solidFill>
                <a:srgbClr val="0B263C"/>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C86E2D9-AC93-DB04-EE93-05B88983F9B2}"/>
              </a:ext>
            </a:extLst>
          </p:cNvPr>
          <p:cNvGraphicFramePr>
            <a:graphicFrameLocks noGrp="1"/>
          </p:cNvGraphicFramePr>
          <p:nvPr>
            <p:extLst>
              <p:ext uri="{D42A27DB-BD31-4B8C-83A1-F6EECF244321}">
                <p14:modId xmlns:p14="http://schemas.microsoft.com/office/powerpoint/2010/main" val="990218347"/>
              </p:ext>
            </p:extLst>
          </p:nvPr>
        </p:nvGraphicFramePr>
        <p:xfrm>
          <a:off x="701548" y="976319"/>
          <a:ext cx="5483352" cy="2221992"/>
        </p:xfrm>
        <a:graphic>
          <a:graphicData uri="http://schemas.openxmlformats.org/drawingml/2006/table">
            <a:tbl>
              <a:tblPr/>
              <a:tblGrid>
                <a:gridCol w="633100">
                  <a:extLst>
                    <a:ext uri="{9D8B030D-6E8A-4147-A177-3AD203B41FA5}">
                      <a16:colId xmlns:a16="http://schemas.microsoft.com/office/drawing/2014/main" val="2960711009"/>
                    </a:ext>
                  </a:extLst>
                </a:gridCol>
                <a:gridCol w="3120322">
                  <a:extLst>
                    <a:ext uri="{9D8B030D-6E8A-4147-A177-3AD203B41FA5}">
                      <a16:colId xmlns:a16="http://schemas.microsoft.com/office/drawing/2014/main" val="2130456346"/>
                    </a:ext>
                  </a:extLst>
                </a:gridCol>
                <a:gridCol w="1729930">
                  <a:extLst>
                    <a:ext uri="{9D8B030D-6E8A-4147-A177-3AD203B41FA5}">
                      <a16:colId xmlns:a16="http://schemas.microsoft.com/office/drawing/2014/main" val="20002"/>
                    </a:ext>
                  </a:extLst>
                </a:gridCol>
              </a:tblGrid>
              <a:tr h="0">
                <a:tc gridSpan="3">
                  <a:txBody>
                    <a:bodyPr/>
                    <a:lstStyle/>
                    <a:p>
                      <a:pPr algn="ctr" rtl="0" fontAlgn="ctr"/>
                      <a:r>
                        <a:rPr lang="en-US" sz="1200" b="1" i="0" u="none" strike="noStrike">
                          <a:solidFill>
                            <a:srgbClr val="164055"/>
                          </a:solidFill>
                          <a:effectLst/>
                          <a:latin typeface="BDO Grotesk"/>
                        </a:rPr>
                        <a:t>MONTHLY RECURRING COST – BAU (For</a:t>
                      </a:r>
                      <a:r>
                        <a:rPr lang="en-US" sz="1200" b="1" i="0" u="none" strike="noStrike" baseline="0">
                          <a:solidFill>
                            <a:srgbClr val="164055"/>
                          </a:solidFill>
                          <a:effectLst/>
                          <a:latin typeface="BDO Grotesk"/>
                        </a:rPr>
                        <a:t> Current Volume)</a:t>
                      </a:r>
                      <a:endParaRPr lang="en-US" sz="1200" b="1" i="0" u="none" strike="noStrike">
                        <a:solidFill>
                          <a:srgbClr val="164055"/>
                        </a:solidFill>
                        <a:effectLst/>
                        <a:latin typeface="BDO Grotesk"/>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pPr algn="ctr" rtl="0" fontAlgn="ctr"/>
                      <a:endParaRPr lang="en-GB" sz="1200" b="1" i="0" u="none" strike="noStrike" kern="1200">
                        <a:solidFill>
                          <a:srgbClr val="FFFFFF"/>
                        </a:solidFill>
                        <a:effectLst/>
                        <a:latin typeface="Arial" panose="020B0604020202020204" pitchFamily="34" charset="0"/>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B263C"/>
                    </a:solidFill>
                  </a:tcPr>
                </a:tc>
                <a:tc hMerge="1">
                  <a:txBody>
                    <a:bodyPr/>
                    <a:lstStyle/>
                    <a:p>
                      <a:pPr algn="ctr" rtl="0" fontAlgn="ctr"/>
                      <a:endParaRPr lang="en-US" sz="1200" b="1" i="0" u="none" strike="noStrike">
                        <a:solidFill>
                          <a:srgbClr val="FFFFFF"/>
                        </a:solidFill>
                        <a:effectLst/>
                        <a:latin typeface="Arial" panose="020B06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B263C"/>
                    </a:solidFill>
                  </a:tcPr>
                </a:tc>
                <a:extLst>
                  <a:ext uri="{0D108BD9-81ED-4DB2-BD59-A6C34878D82A}">
                    <a16:rowId xmlns:a16="http://schemas.microsoft.com/office/drawing/2014/main" val="3373968037"/>
                  </a:ext>
                </a:extLst>
              </a:tr>
              <a:tr h="0">
                <a:tc>
                  <a:txBody>
                    <a:bodyPr/>
                    <a:lstStyle/>
                    <a:p>
                      <a:pPr algn="ctr" rtl="0" fontAlgn="ctr"/>
                      <a:r>
                        <a:rPr lang="en-GB" sz="1200" b="1" i="0" u="none" strike="noStrike" err="1">
                          <a:solidFill>
                            <a:srgbClr val="164055"/>
                          </a:solidFill>
                          <a:effectLst/>
                          <a:latin typeface="BDO Grotesk"/>
                        </a:rPr>
                        <a:t>S.No</a:t>
                      </a:r>
                      <a:r>
                        <a:rPr lang="en-GB" sz="1200" b="1" i="0" u="none" strike="noStrike">
                          <a:solidFill>
                            <a:srgbClr val="164055"/>
                          </a:solidFill>
                          <a:effectLst/>
                          <a:latin typeface="BDO Grotesk"/>
                        </a:rPr>
                        <a:t>.</a:t>
                      </a:r>
                    </a:p>
                  </a:txBody>
                  <a:tcPr anchor="ctr">
                    <a:lnL w="6350" cap="flat" cmpd="sng" algn="ctr">
                      <a:solidFill>
                        <a:srgbClr val="0B263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B263C"/>
                      </a:solidFill>
                      <a:prstDash val="solid"/>
                      <a:round/>
                      <a:headEnd type="none" w="med" len="med"/>
                      <a:tailEnd type="none" w="med" len="med"/>
                    </a:lnB>
                    <a:solidFill>
                      <a:schemeClr val="bg2">
                        <a:lumMod val="90000"/>
                      </a:schemeClr>
                    </a:solidFill>
                  </a:tcPr>
                </a:tc>
                <a:tc>
                  <a:txBody>
                    <a:bodyPr/>
                    <a:lstStyle/>
                    <a:p>
                      <a:pPr algn="ctr" rtl="0" fontAlgn="ctr"/>
                      <a:r>
                        <a:rPr lang="en-GB" sz="1200" b="1" i="0" u="none" strike="noStrike">
                          <a:solidFill>
                            <a:srgbClr val="164055"/>
                          </a:solidFill>
                          <a:effectLst/>
                          <a:latin typeface="BDO Grotesk"/>
                        </a:rPr>
                        <a:t>Item </a:t>
                      </a:r>
                      <a:r>
                        <a:rPr lang="en-GB" sz="1200" b="1" i="0" u="none" strike="noStrike" kern="1200">
                          <a:solidFill>
                            <a:srgbClr val="164055"/>
                          </a:solidFill>
                          <a:effectLst/>
                          <a:latin typeface="BDO Grotesk"/>
                          <a:ea typeface="+mn-ea"/>
                          <a:cs typeface="+mn-cs"/>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ctr"/>
                      <a:r>
                        <a:rPr lang="en-US" sz="1200" b="1" i="0" u="none" strike="noStrike">
                          <a:solidFill>
                            <a:srgbClr val="164055"/>
                          </a:solidFill>
                          <a:effectLst/>
                          <a:latin typeface="BDO Grotesk"/>
                        </a:rPr>
                        <a:t>Total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723884254"/>
                  </a:ext>
                </a:extLst>
              </a:tr>
              <a:tr h="0">
                <a:tc>
                  <a:txBody>
                    <a:bodyPr/>
                    <a:lstStyle/>
                    <a:p>
                      <a:pPr algn="ctr" rtl="0" fontAlgn="ctr"/>
                      <a:r>
                        <a:rPr lang="en-GB" sz="1200" b="0" i="0" u="none" strike="noStrike">
                          <a:solidFill>
                            <a:srgbClr val="164055"/>
                          </a:solidFill>
                          <a:effectLst/>
                          <a:latin typeface="BDO Grotesk"/>
                        </a:rPr>
                        <a:t>I.</a:t>
                      </a:r>
                    </a:p>
                  </a:txBody>
                  <a:tcPr anchor="ctr">
                    <a:lnL w="6350" cap="flat" cmpd="sng" algn="ctr">
                      <a:solidFill>
                        <a:srgbClr val="0B263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B263C"/>
                      </a:solidFill>
                      <a:prstDash val="solid"/>
                      <a:round/>
                      <a:headEnd type="none" w="med" len="med"/>
                      <a:tailEnd type="none" w="med" len="med"/>
                    </a:lnT>
                    <a:lnB w="6350" cap="flat" cmpd="sng" algn="ctr">
                      <a:solidFill>
                        <a:srgbClr val="0B263C"/>
                      </a:solidFill>
                      <a:prstDash val="solid"/>
                      <a:round/>
                      <a:headEnd type="none" w="med" len="med"/>
                      <a:tailEnd type="none" w="med" len="med"/>
                    </a:lnB>
                    <a:solidFill>
                      <a:srgbClr val="FFFFFF"/>
                    </a:solidFill>
                  </a:tcPr>
                </a:tc>
                <a:tc>
                  <a:txBody>
                    <a:bodyPr/>
                    <a:lstStyle/>
                    <a:p>
                      <a:pPr algn="l" rtl="0" fontAlgn="ctr"/>
                      <a:r>
                        <a:rPr lang="en-GB" sz="1200" b="0" i="0" u="none" strike="noStrike" kern="1200">
                          <a:solidFill>
                            <a:srgbClr val="164055"/>
                          </a:solidFill>
                          <a:effectLst/>
                          <a:latin typeface="BDO Grotesk"/>
                          <a:ea typeface="+mn-ea"/>
                          <a:cs typeface="+mn-cs"/>
                        </a:rPr>
                        <a:t>Support</a:t>
                      </a:r>
                      <a:r>
                        <a:rPr lang="en-GB" sz="1200" b="0" i="0" u="none" strike="noStrike">
                          <a:solidFill>
                            <a:srgbClr val="164055"/>
                          </a:solidFill>
                          <a:effectLst/>
                          <a:latin typeface="BDO Grotesk"/>
                        </a:rPr>
                        <a:t> and Maintenance </a:t>
                      </a:r>
                    </a:p>
                    <a:p>
                      <a:pPr marL="0" marR="0" lvl="0" indent="0" algn="l" defTabSz="914400" rtl="0" eaLnBrk="1" fontAlgn="ctr" latinLnBrk="0" hangingPunct="1">
                        <a:lnSpc>
                          <a:spcPct val="100000"/>
                        </a:lnSpc>
                        <a:spcBef>
                          <a:spcPts val="0"/>
                        </a:spcBef>
                        <a:spcAft>
                          <a:spcPts val="0"/>
                        </a:spcAft>
                        <a:buClrTx/>
                        <a:buSzTx/>
                        <a:buFontTx/>
                        <a:buNone/>
                        <a:tabLst/>
                        <a:defRPr/>
                      </a:pPr>
                      <a:r>
                        <a:rPr lang="en-GB" sz="1200" b="0" i="0" u="none" strike="noStrike">
                          <a:solidFill>
                            <a:srgbClr val="164055"/>
                          </a:solidFill>
                          <a:effectLst/>
                          <a:latin typeface="BDO Grotesk"/>
                        </a:rPr>
                        <a:t>(Tech Resources – AI/ML Solution</a:t>
                      </a:r>
                      <a:r>
                        <a:rPr lang="en-GB" sz="1200" b="0" i="0" u="none" strike="noStrike" baseline="0">
                          <a:solidFill>
                            <a:srgbClr val="164055"/>
                          </a:solidFill>
                          <a:effectLst/>
                          <a:latin typeface="BDO Grotesk"/>
                        </a:rPr>
                        <a:t> </a:t>
                      </a:r>
                      <a:r>
                        <a:rPr lang="en-GB" sz="1200" b="0" i="0" u="none" strike="noStrike">
                          <a:solidFill>
                            <a:srgbClr val="164055"/>
                          </a:solidFill>
                          <a:effectLst/>
                          <a:latin typeface="BDO Grotesk"/>
                        </a:rPr>
                        <a:t>Maintenance) </a:t>
                      </a:r>
                      <a:r>
                        <a:rPr lang="en-US" sz="1200" b="0" i="0" u="none" strike="noStrike" kern="1200">
                          <a:solidFill>
                            <a:srgbClr val="164055"/>
                          </a:solidFill>
                          <a:effectLst/>
                          <a:latin typeface="BDO Grotesk"/>
                          <a:ea typeface="+mn-ea"/>
                          <a:cs typeface="+mn-cs"/>
                        </a:rPr>
                        <a:t>(0.15 FTE)</a:t>
                      </a:r>
                      <a:endParaRPr lang="en-GB" sz="1200" b="0" i="0" u="none" strike="noStrike" kern="1200">
                        <a:solidFill>
                          <a:srgbClr val="164055"/>
                        </a:solidFill>
                        <a:effectLst/>
                        <a:latin typeface="BDO Grotesk"/>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ctr"/>
                      <a:r>
                        <a:rPr lang="en-GB" sz="1200" b="0" i="0" u="none" strike="noStrike">
                          <a:solidFill>
                            <a:srgbClr val="164055"/>
                          </a:solidFill>
                          <a:effectLst/>
                          <a:latin typeface="BDO Grotesk"/>
                        </a:rPr>
                        <a:t>£</a:t>
                      </a:r>
                      <a:r>
                        <a:rPr lang="en-GB" sz="1200" b="0" i="0" u="none" strike="noStrike" baseline="0">
                          <a:solidFill>
                            <a:srgbClr val="164055"/>
                          </a:solidFill>
                          <a:effectLst/>
                          <a:latin typeface="BDO Grotesk"/>
                        </a:rPr>
                        <a:t>450</a:t>
                      </a:r>
                      <a:endParaRPr lang="en-GB" sz="1200" b="0" i="0" u="none" strike="noStrike">
                        <a:solidFill>
                          <a:srgbClr val="164055"/>
                        </a:solidFill>
                        <a:effectLst/>
                        <a:latin typeface="BDO Grotesk"/>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ctr" rtl="0" fontAlgn="ctr"/>
                      <a:r>
                        <a:rPr lang="en-GB" sz="1200" b="0" i="0" u="none" strike="noStrike">
                          <a:solidFill>
                            <a:srgbClr val="164055"/>
                          </a:solidFill>
                          <a:effectLst/>
                          <a:latin typeface="BDO Grotesk"/>
                        </a:rPr>
                        <a:t>I</a:t>
                      </a:r>
                      <a:r>
                        <a:rPr lang="en-IN" sz="1200" b="0" i="0" u="none" strike="noStrike" kern="1200">
                          <a:solidFill>
                            <a:srgbClr val="164055"/>
                          </a:solidFill>
                          <a:effectLst/>
                          <a:latin typeface="BDO Grotesk"/>
                          <a:ea typeface="+mn-ea"/>
                          <a:cs typeface="Arial" panose="020B0604020202020204" pitchFamily="34" charset="0"/>
                        </a:rPr>
                        <a:t>I</a:t>
                      </a:r>
                      <a:r>
                        <a:rPr lang="en-GB" sz="1200" b="0" i="0" u="none" strike="noStrike">
                          <a:solidFill>
                            <a:srgbClr val="164055"/>
                          </a:solidFill>
                          <a:effectLst/>
                          <a:latin typeface="BDO Grotesk"/>
                        </a:rPr>
                        <a:t>.</a:t>
                      </a:r>
                    </a:p>
                  </a:txBody>
                  <a:tcPr anchor="ctr">
                    <a:lnL w="6350" cap="flat" cmpd="sng" algn="ctr">
                      <a:solidFill>
                        <a:srgbClr val="0B263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B263C"/>
                      </a:solidFill>
                      <a:prstDash val="solid"/>
                      <a:round/>
                      <a:headEnd type="none" w="med" len="med"/>
                      <a:tailEnd type="none" w="med" len="med"/>
                    </a:lnT>
                    <a:lnB w="6350" cap="flat" cmpd="sng" algn="ctr">
                      <a:solidFill>
                        <a:srgbClr val="0B263C"/>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200" b="0" i="0" u="none" strike="noStrike" kern="1200">
                          <a:solidFill>
                            <a:srgbClr val="164055"/>
                          </a:solidFill>
                          <a:effectLst/>
                          <a:latin typeface="BDO Grotesk"/>
                          <a:ea typeface="+mn-ea"/>
                          <a:cs typeface="+mn-cs"/>
                        </a:rPr>
                        <a:t>Support</a:t>
                      </a:r>
                      <a:r>
                        <a:rPr lang="en-GB" sz="1200" b="0" i="0" u="none" strike="noStrike">
                          <a:solidFill>
                            <a:srgbClr val="164055"/>
                          </a:solidFill>
                          <a:effectLst/>
                          <a:latin typeface="BDO Grotesk"/>
                        </a:rPr>
                        <a:t> and Maintenance (Tech Resources - </a:t>
                      </a:r>
                      <a:r>
                        <a:rPr lang="en-GB" sz="1200" b="0" i="0" u="none" strike="noStrike" kern="1200">
                          <a:solidFill>
                            <a:srgbClr val="164055"/>
                          </a:solidFill>
                          <a:effectLst/>
                          <a:latin typeface="BDO Grotesk"/>
                          <a:ea typeface="+mn-ea"/>
                          <a:cs typeface="+mn-cs"/>
                        </a:rPr>
                        <a:t>Scraper</a:t>
                      </a:r>
                      <a:r>
                        <a:rPr lang="en-GB" sz="1200" b="0" i="0" u="none" strike="noStrike" kern="1200" baseline="0">
                          <a:solidFill>
                            <a:srgbClr val="164055"/>
                          </a:solidFill>
                          <a:effectLst/>
                          <a:latin typeface="BDO Grotesk"/>
                          <a:ea typeface="+mn-ea"/>
                          <a:cs typeface="+mn-cs"/>
                        </a:rPr>
                        <a:t> Maintenance</a:t>
                      </a:r>
                      <a:r>
                        <a:rPr lang="en-GB" sz="1200" b="0" i="0" u="none" strike="noStrike" kern="1200">
                          <a:solidFill>
                            <a:srgbClr val="164055"/>
                          </a:solidFill>
                          <a:effectLst/>
                          <a:latin typeface="BDO Grotesk"/>
                          <a:ea typeface="+mn-ea"/>
                          <a:cs typeface="+mn-cs"/>
                        </a:rPr>
                        <a:t>) </a:t>
                      </a:r>
                      <a:r>
                        <a:rPr lang="en-US" sz="1200" b="0" i="0" u="none" strike="noStrike" kern="1200">
                          <a:solidFill>
                            <a:srgbClr val="164055"/>
                          </a:solidFill>
                          <a:effectLst/>
                          <a:latin typeface="BDO Grotesk"/>
                          <a:ea typeface="+mn-ea"/>
                          <a:cs typeface="+mn-cs"/>
                        </a:rPr>
                        <a:t>(0.25 FTE)</a:t>
                      </a:r>
                      <a:endParaRPr lang="en-GB" sz="1200" b="0" i="0" u="none" strike="noStrike" kern="1200">
                        <a:solidFill>
                          <a:srgbClr val="164055"/>
                        </a:solidFill>
                        <a:effectLst/>
                        <a:latin typeface="BDO Grotesk"/>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ctr"/>
                      <a:r>
                        <a:rPr lang="en-GB" sz="1200" b="0" i="0" u="none" strike="noStrike">
                          <a:solidFill>
                            <a:srgbClr val="164055"/>
                          </a:solidFill>
                          <a:effectLst/>
                          <a:latin typeface="BDO Grotesk"/>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72333035"/>
                  </a:ext>
                </a:extLst>
              </a:tr>
              <a:tr h="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200" b="0" i="0" u="none" strike="noStrike" kern="1200">
                          <a:solidFill>
                            <a:srgbClr val="164055"/>
                          </a:solidFill>
                          <a:effectLst/>
                          <a:latin typeface="BDO Grotesk"/>
                          <a:ea typeface="+mn-ea"/>
                          <a:cs typeface="Arial" panose="020B0604020202020204" pitchFamily="34" charset="0"/>
                        </a:rPr>
                        <a:t>III.</a:t>
                      </a:r>
                      <a:endParaRPr lang="en-GB" sz="1200" b="0" i="0" u="none" strike="noStrike">
                        <a:solidFill>
                          <a:srgbClr val="164055"/>
                        </a:solidFill>
                        <a:effectLst/>
                        <a:latin typeface="BDO Grotesk"/>
                      </a:endParaRPr>
                    </a:p>
                  </a:txBody>
                  <a:tcPr anchor="ctr">
                    <a:lnL w="6350" cap="flat" cmpd="sng" algn="ctr">
                      <a:solidFill>
                        <a:srgbClr val="0B263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B263C"/>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200" b="0" i="0" u="none" strike="noStrike">
                          <a:solidFill>
                            <a:srgbClr val="164055"/>
                          </a:solidFill>
                          <a:effectLst/>
                          <a:latin typeface="BDO Grotesk"/>
                        </a:rPr>
                        <a:t>Infrastructure (</a:t>
                      </a:r>
                      <a:r>
                        <a:rPr lang="en-US" sz="1200" b="0" i="0" u="none" strike="noStrike">
                          <a:solidFill>
                            <a:srgbClr val="164055"/>
                          </a:solidFill>
                          <a:effectLst/>
                          <a:latin typeface="BDO Grotesk"/>
                        </a:rPr>
                        <a:t>Will be billed on actuals)</a:t>
                      </a:r>
                      <a:endParaRPr lang="en-GB" sz="1200" b="0" i="0" u="none" strike="noStrike">
                        <a:solidFill>
                          <a:srgbClr val="164055"/>
                        </a:solidFill>
                        <a:effectLst/>
                        <a:latin typeface="BDO Grotesk"/>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ctr"/>
                      <a:r>
                        <a:rPr lang="en-US" sz="1200" b="0" i="0" u="none" strike="noStrike">
                          <a:solidFill>
                            <a:srgbClr val="164055"/>
                          </a:solidFill>
                          <a:effectLst/>
                          <a:latin typeface="BDO Grotesk"/>
                        </a:rPr>
                        <a:t>£815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09331987"/>
                  </a:ext>
                </a:extLst>
              </a:tr>
              <a:tr h="0">
                <a:tc gridSpan="2">
                  <a:txBody>
                    <a:bodyPr/>
                    <a:lstStyle/>
                    <a:p>
                      <a:pPr marL="0" indent="0" algn="ctr" defTabSz="914400" rtl="0" eaLnBrk="1" fontAlgn="ctr" latinLnBrk="0" hangingPunct="1">
                        <a:lnSpc>
                          <a:spcPct val="115000"/>
                        </a:lnSpc>
                        <a:spcAft>
                          <a:spcPts val="0"/>
                        </a:spcAft>
                        <a:buNone/>
                      </a:pPr>
                      <a:r>
                        <a:rPr lang="en-IN" sz="1200" b="1" i="0" u="none" strike="noStrike" kern="1200">
                          <a:solidFill>
                            <a:srgbClr val="164055"/>
                          </a:solidFill>
                          <a:effectLst/>
                          <a:latin typeface="BDO Grotesk"/>
                          <a:ea typeface="+mn-ea"/>
                          <a:cs typeface="Arial" panose="020B0604020202020204" pitchFamily="34" charset="0"/>
                        </a:rPr>
                        <a:t>TOTAL COST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1A178"/>
                    </a:solidFill>
                  </a:tcPr>
                </a:tc>
                <a:tc hMerge="1">
                  <a:txBody>
                    <a:bodyPr/>
                    <a:lstStyle/>
                    <a:p>
                      <a:pPr algn="ctr" fontAlgn="ctr"/>
                      <a:endParaRPr lang="en-IN" sz="1100" b="1" i="0" u="none" strike="noStrike">
                        <a:solidFill>
                          <a:srgbClr val="000000"/>
                        </a:solidFill>
                        <a:effectLst/>
                        <a:latin typeface="Arial" panose="020B0604020202020204" pitchFamily="34" charset="0"/>
                        <a:cs typeface="Arial" panose="020B060402020202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en-GB" sz="1200" b="1" i="0" u="none" strike="noStrike">
                          <a:solidFill>
                            <a:srgbClr val="164055"/>
                          </a:solidFill>
                          <a:effectLst/>
                          <a:latin typeface="BDO Grotesk"/>
                        </a:rPr>
                        <a:t>£2,015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1A178"/>
                    </a:solidFill>
                  </a:tcPr>
                </a:tc>
                <a:extLst>
                  <a:ext uri="{0D108BD9-81ED-4DB2-BD59-A6C34878D82A}">
                    <a16:rowId xmlns:a16="http://schemas.microsoft.com/office/drawing/2014/main" val="353665179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357843679"/>
              </p:ext>
            </p:extLst>
          </p:nvPr>
        </p:nvGraphicFramePr>
        <p:xfrm>
          <a:off x="6533242" y="976319"/>
          <a:ext cx="5138058" cy="3200400"/>
        </p:xfrm>
        <a:graphic>
          <a:graphicData uri="http://schemas.openxmlformats.org/drawingml/2006/table">
            <a:tbl>
              <a:tblPr/>
              <a:tblGrid>
                <a:gridCol w="606576">
                  <a:extLst>
                    <a:ext uri="{9D8B030D-6E8A-4147-A177-3AD203B41FA5}">
                      <a16:colId xmlns:a16="http://schemas.microsoft.com/office/drawing/2014/main" val="2296207151"/>
                    </a:ext>
                  </a:extLst>
                </a:gridCol>
                <a:gridCol w="2866990">
                  <a:extLst>
                    <a:ext uri="{9D8B030D-6E8A-4147-A177-3AD203B41FA5}">
                      <a16:colId xmlns:a16="http://schemas.microsoft.com/office/drawing/2014/main" val="3144708088"/>
                    </a:ext>
                  </a:extLst>
                </a:gridCol>
                <a:gridCol w="1664492">
                  <a:extLst>
                    <a:ext uri="{9D8B030D-6E8A-4147-A177-3AD203B41FA5}">
                      <a16:colId xmlns:a16="http://schemas.microsoft.com/office/drawing/2014/main" val="1196197539"/>
                    </a:ext>
                  </a:extLst>
                </a:gridCol>
              </a:tblGrid>
              <a:tr h="0">
                <a:tc gridSpan="3">
                  <a:txBody>
                    <a:bodyPr/>
                    <a:lstStyle/>
                    <a:p>
                      <a:pPr algn="ctr" rtl="0" fontAlgn="ctr"/>
                      <a:r>
                        <a:rPr lang="en-GB" sz="1200" b="1" i="0" u="none" strike="noStrike">
                          <a:solidFill>
                            <a:srgbClr val="164055"/>
                          </a:solidFill>
                          <a:effectLst/>
                          <a:latin typeface="BDO Grotesk"/>
                        </a:rPr>
                        <a:t> INFRASTRUCTURE COST BREAKUP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732059260"/>
                  </a:ext>
                </a:extLst>
              </a:tr>
              <a:tr h="0">
                <a:tc>
                  <a:txBody>
                    <a:bodyPr/>
                    <a:lstStyle/>
                    <a:p>
                      <a:pPr algn="ctr" rtl="0" fontAlgn="ctr"/>
                      <a:r>
                        <a:rPr lang="en-GB" sz="1200" b="1" i="0" u="none" strike="noStrike" err="1">
                          <a:solidFill>
                            <a:srgbClr val="164055"/>
                          </a:solidFill>
                          <a:effectLst/>
                          <a:latin typeface="BDO Grotesk"/>
                        </a:rPr>
                        <a:t>S.No</a:t>
                      </a:r>
                      <a:r>
                        <a:rPr lang="en-GB" sz="1200" b="1" i="0" u="none" strike="noStrike">
                          <a:solidFill>
                            <a:srgbClr val="164055"/>
                          </a:solidFill>
                          <a:effectLst/>
                          <a:latin typeface="BDO Grotesk"/>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algn="ctr" rtl="0" fontAlgn="ctr"/>
                      <a:r>
                        <a:rPr lang="en-GB" sz="1200" b="1" i="0" u="none" strike="noStrike">
                          <a:solidFill>
                            <a:srgbClr val="164055"/>
                          </a:solidFill>
                          <a:effectLst/>
                          <a:latin typeface="BDO Grotesk"/>
                        </a:rPr>
                        <a:t>Item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algn="ctr" rtl="0" fontAlgn="ctr"/>
                      <a:r>
                        <a:rPr lang="en-GB" sz="1200" b="1" i="0" u="none" strike="noStrike">
                          <a:solidFill>
                            <a:srgbClr val="164055"/>
                          </a:solidFill>
                          <a:effectLst/>
                          <a:latin typeface="BDO Grotesk"/>
                        </a:rPr>
                        <a:t>Total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extLst>
                  <a:ext uri="{0D108BD9-81ED-4DB2-BD59-A6C34878D82A}">
                    <a16:rowId xmlns:a16="http://schemas.microsoft.com/office/drawing/2014/main" val="165892904"/>
                  </a:ext>
                </a:extLst>
              </a:tr>
              <a:tr h="0">
                <a:tc>
                  <a:txBody>
                    <a:bodyPr/>
                    <a:lstStyle/>
                    <a:p>
                      <a:pPr algn="ctr" rtl="0" fontAlgn="ctr"/>
                      <a:r>
                        <a:rPr lang="en-GB" sz="1200" b="0" i="0" u="none" strike="noStrike" kern="1200">
                          <a:solidFill>
                            <a:srgbClr val="164055"/>
                          </a:solidFill>
                          <a:effectLst/>
                          <a:latin typeface="BDO Grotesk"/>
                          <a:ea typeface="+mn-ea"/>
                          <a:cs typeface="+mn-cs"/>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a:solidFill>
                            <a:srgbClr val="164055"/>
                          </a:solidFill>
                          <a:effectLst/>
                          <a:latin typeface="BDO Grotesk"/>
                          <a:ea typeface="+mn-ea"/>
                          <a:cs typeface="+mn-cs"/>
                        </a:rPr>
                        <a:t>Proxy Services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39332539"/>
                  </a:ext>
                </a:extLst>
              </a:tr>
              <a:tr h="0">
                <a:tc>
                  <a:txBody>
                    <a:bodyPr/>
                    <a:lstStyle/>
                    <a:p>
                      <a:pPr algn="ctr" rtl="0" fontAlgn="ctr"/>
                      <a:r>
                        <a:rPr lang="en-GB" sz="1200" b="0" i="0" u="none" strike="noStrike" kern="1200">
                          <a:solidFill>
                            <a:srgbClr val="164055"/>
                          </a:solidFill>
                          <a:effectLst/>
                          <a:latin typeface="BDO Grotesk"/>
                          <a:ea typeface="+mn-ea"/>
                          <a:cs typeface="+mn-cs"/>
                        </a:rPr>
                        <a:t>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a:solidFill>
                            <a:srgbClr val="164055"/>
                          </a:solidFill>
                          <a:effectLst/>
                          <a:latin typeface="BDO Grotesk"/>
                          <a:ea typeface="+mn-ea"/>
                          <a:cs typeface="+mn-cs"/>
                        </a:rPr>
                        <a:t>Virtual Machine(Ubuntu) (For Scraping)</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12738771"/>
                  </a:ext>
                </a:extLst>
              </a:tr>
              <a:tr h="0">
                <a:tc>
                  <a:txBody>
                    <a:bodyPr/>
                    <a:lstStyle/>
                    <a:p>
                      <a:pPr algn="ctr" rtl="0" fontAlgn="ctr"/>
                      <a:r>
                        <a:rPr lang="en-GB" sz="1200" b="0" i="0" u="none" strike="noStrike" kern="1200">
                          <a:solidFill>
                            <a:srgbClr val="164055"/>
                          </a:solidFill>
                          <a:effectLst/>
                          <a:latin typeface="BDO Grotesk"/>
                          <a:ea typeface="+mn-ea"/>
                          <a:cs typeface="+mn-cs"/>
                        </a:rPr>
                        <a:t>III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err="1">
                          <a:solidFill>
                            <a:srgbClr val="164055"/>
                          </a:solidFill>
                          <a:effectLst/>
                          <a:latin typeface="BDO Grotesk"/>
                          <a:ea typeface="+mn-ea"/>
                          <a:cs typeface="+mn-cs"/>
                        </a:rPr>
                        <a:t>DataBase</a:t>
                      </a:r>
                      <a:endParaRPr lang="en-GB" sz="1200" b="0" i="0" u="none" strike="noStrike" kern="1200">
                        <a:solidFill>
                          <a:srgbClr val="164055"/>
                        </a:solidFill>
                        <a:effectLst/>
                        <a:latin typeface="BDO Grotesk"/>
                        <a:ea typeface="+mn-ea"/>
                        <a:cs typeface="+mn-cs"/>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55052400"/>
                  </a:ext>
                </a:extLst>
              </a:tr>
              <a:tr h="0">
                <a:tc>
                  <a:txBody>
                    <a:bodyPr/>
                    <a:lstStyle/>
                    <a:p>
                      <a:pPr algn="ctr" rtl="0" fontAlgn="ctr"/>
                      <a:r>
                        <a:rPr lang="en-GB" sz="1200" b="0" i="0" u="none" strike="noStrike" kern="1200">
                          <a:solidFill>
                            <a:srgbClr val="164055"/>
                          </a:solidFill>
                          <a:effectLst/>
                          <a:latin typeface="BDO Grotesk"/>
                          <a:ea typeface="+mn-ea"/>
                          <a:cs typeface="+mn-cs"/>
                        </a:rPr>
                        <a:t>IV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a:solidFill>
                            <a:srgbClr val="164055"/>
                          </a:solidFill>
                          <a:effectLst/>
                          <a:latin typeface="BDO Grotesk"/>
                          <a:ea typeface="+mn-ea"/>
                          <a:cs typeface="+mn-cs"/>
                        </a:rPr>
                        <a:t>Storage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75974068"/>
                  </a:ext>
                </a:extLst>
              </a:tr>
              <a:tr h="0">
                <a:tc>
                  <a:txBody>
                    <a:bodyPr/>
                    <a:lstStyle/>
                    <a:p>
                      <a:pPr algn="ctr" rtl="0" fontAlgn="ctr"/>
                      <a:r>
                        <a:rPr lang="en-GB" sz="1200" b="0" i="0" u="none" strike="noStrike" kern="1200">
                          <a:solidFill>
                            <a:srgbClr val="164055"/>
                          </a:solidFill>
                          <a:effectLst/>
                          <a:latin typeface="BDO Grotesk"/>
                          <a:ea typeface="+mn-ea"/>
                          <a:cs typeface="+mn-cs"/>
                        </a:rPr>
                        <a: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a:solidFill>
                            <a:srgbClr val="164055"/>
                          </a:solidFill>
                          <a:effectLst/>
                          <a:latin typeface="BDO Grotesk"/>
                          <a:ea typeface="+mn-ea"/>
                          <a:cs typeface="+mn-cs"/>
                        </a:rPr>
                        <a:t>Backup</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19307153"/>
                  </a:ext>
                </a:extLst>
              </a:tr>
              <a:tr h="0">
                <a:tc>
                  <a:txBody>
                    <a:bodyPr/>
                    <a:lstStyle/>
                    <a:p>
                      <a:pPr algn="ctr" rtl="0" fontAlgn="ctr"/>
                      <a:r>
                        <a:rPr lang="en-GB" sz="1200" b="0" i="0" u="none" strike="noStrike" kern="1200">
                          <a:solidFill>
                            <a:srgbClr val="164055"/>
                          </a:solidFill>
                          <a:effectLst/>
                          <a:latin typeface="BDO Grotesk"/>
                          <a:ea typeface="+mn-ea"/>
                          <a:cs typeface="+mn-cs"/>
                        </a:rPr>
                        <a:t>VI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1200" b="0" i="0" u="none" strike="noStrike" kern="1200" err="1">
                          <a:solidFill>
                            <a:srgbClr val="164055"/>
                          </a:solidFill>
                          <a:effectLst/>
                          <a:latin typeface="BDO Grotesk"/>
                          <a:ea typeface="+mn-ea"/>
                          <a:cs typeface="+mn-cs"/>
                        </a:rPr>
                        <a:t>Serper</a:t>
                      </a:r>
                      <a:r>
                        <a:rPr lang="en-GB" sz="1200" b="0" i="0" u="none" strike="noStrike" kern="1200">
                          <a:solidFill>
                            <a:srgbClr val="164055"/>
                          </a:solidFill>
                          <a:effectLst/>
                          <a:latin typeface="BDO Grotesk"/>
                          <a:ea typeface="+mn-ea"/>
                          <a:cs typeface="+mn-cs"/>
                        </a:rPr>
                        <a:t>(Open Search)</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GB" sz="1200" b="0" i="0" u="none" strike="noStrike" kern="1200">
                          <a:solidFill>
                            <a:srgbClr val="164055"/>
                          </a:solidFill>
                          <a:effectLst/>
                          <a:latin typeface="BDO Grotesk"/>
                          <a:ea typeface="+mn-ea"/>
                          <a:cs typeface="+mn-cs"/>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0957948"/>
                  </a:ext>
                </a:extLst>
              </a:tr>
              <a:tr h="0">
                <a:tc>
                  <a:txBody>
                    <a:bodyPr/>
                    <a:lstStyle/>
                    <a:p>
                      <a:pPr algn="ctr" rtl="0" fontAlgn="ctr"/>
                      <a:r>
                        <a:rPr lang="en-GB" sz="1200" b="0" i="0" u="none" strike="noStrike" kern="1200">
                          <a:solidFill>
                            <a:srgbClr val="164055"/>
                          </a:solidFill>
                          <a:effectLst/>
                          <a:latin typeface="BDO Grotesk"/>
                          <a:ea typeface="+mn-ea"/>
                          <a:cs typeface="+mn-cs"/>
                        </a:rPr>
                        <a:t>VII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b="0" i="0" u="none" strike="noStrike" kern="1200">
                          <a:solidFill>
                            <a:srgbClr val="164055"/>
                          </a:solidFill>
                          <a:effectLst/>
                          <a:latin typeface="BDO Grotesk"/>
                          <a:ea typeface="+mn-ea"/>
                          <a:cs typeface="+mn-cs"/>
                        </a:rPr>
                        <a:t>Overall token costs per month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t"/>
                      <a:r>
                        <a:rPr lang="en-GB" sz="1200" b="0" i="0" u="none" strike="noStrike" kern="1200">
                          <a:solidFill>
                            <a:srgbClr val="164055"/>
                          </a:solidFill>
                          <a:effectLst/>
                          <a:latin typeface="BDO Grotesk"/>
                          <a:ea typeface="+mn-ea"/>
                          <a:cs typeface="+mn-cs"/>
                        </a:rPr>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0324919"/>
                  </a:ext>
                </a:extLst>
              </a:tr>
              <a:tr h="0">
                <a:tc>
                  <a:txBody>
                    <a:bodyPr/>
                    <a:lstStyle/>
                    <a:p>
                      <a:pPr algn="ctr" rtl="0" fontAlgn="ctr"/>
                      <a:r>
                        <a:rPr lang="en-GB" sz="1200" b="0" i="0" u="none" strike="noStrike" kern="1200">
                          <a:solidFill>
                            <a:srgbClr val="164055"/>
                          </a:solidFill>
                          <a:effectLst/>
                          <a:latin typeface="BDO Grotesk"/>
                          <a:ea typeface="+mn-ea"/>
                          <a:cs typeface="+mn-cs"/>
                        </a:rPr>
                        <a:t>VIII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b="0" i="0" u="none" strike="noStrike" kern="1200">
                          <a:solidFill>
                            <a:srgbClr val="164055"/>
                          </a:solidFill>
                          <a:effectLst/>
                          <a:latin typeface="BDO Grotesk"/>
                          <a:ea typeface="+mn-ea"/>
                          <a:cs typeface="+mn-cs"/>
                        </a:rPr>
                        <a:t>Virtual Machine(Ubuntu) - AMD EPYC 9554 - CPU-8x-32GB (For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GB" sz="1200" b="0" i="0" u="none" strike="noStrike" kern="1200">
                          <a:solidFill>
                            <a:srgbClr val="164055"/>
                          </a:solidFill>
                          <a:effectLst/>
                          <a:latin typeface="BDO Grotesk"/>
                          <a:ea typeface="+mn-ea"/>
                          <a:cs typeface="+mn-cs"/>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822388"/>
                  </a:ext>
                </a:extLst>
              </a:tr>
              <a:tr h="0">
                <a:tc gridSpan="2">
                  <a:txBody>
                    <a:bodyPr/>
                    <a:lstStyle/>
                    <a:p>
                      <a:pPr algn="ctr" fontAlgn="b"/>
                      <a:r>
                        <a:rPr lang="en-GB" sz="1200" b="1" i="0" u="none" strike="noStrike" kern="1200">
                          <a:solidFill>
                            <a:srgbClr val="164055"/>
                          </a:solidFill>
                          <a:effectLst/>
                          <a:latin typeface="BDO Grotesk"/>
                          <a:ea typeface="+mn-ea"/>
                          <a:cs typeface="+mn-cs"/>
                        </a:rPr>
                        <a:t>Total Estimated Infra Cost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1A178"/>
                    </a:solidFill>
                  </a:tcPr>
                </a:tc>
                <a:tc hMerge="1">
                  <a:txBody>
                    <a:bodyPr/>
                    <a:lstStyle/>
                    <a:p>
                      <a:endParaRPr lang="en-GB"/>
                    </a:p>
                  </a:txBody>
                  <a:tcPr/>
                </a:tc>
                <a:tc>
                  <a:txBody>
                    <a:bodyPr/>
                    <a:lstStyle/>
                    <a:p>
                      <a:pPr algn="r" fontAlgn="t"/>
                      <a:r>
                        <a:rPr lang="en-GB" sz="1200" b="1" i="0" u="none" strike="noStrike" kern="1200">
                          <a:solidFill>
                            <a:srgbClr val="164055"/>
                          </a:solidFill>
                          <a:effectLst/>
                          <a:latin typeface="BDO Grotesk"/>
                          <a:ea typeface="+mn-ea"/>
                          <a:cs typeface="+mn-cs"/>
                        </a:rPr>
                        <a:t>£815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1A178"/>
                    </a:solidFill>
                  </a:tcPr>
                </a:tc>
                <a:extLst>
                  <a:ext uri="{0D108BD9-81ED-4DB2-BD59-A6C34878D82A}">
                    <a16:rowId xmlns:a16="http://schemas.microsoft.com/office/drawing/2014/main" val="3725708547"/>
                  </a:ext>
                </a:extLst>
              </a:tr>
            </a:tbl>
          </a:graphicData>
        </a:graphic>
      </p:graphicFrame>
    </p:spTree>
    <p:extLst>
      <p:ext uri="{BB962C8B-B14F-4D97-AF65-F5344CB8AC3E}">
        <p14:creationId xmlns:p14="http://schemas.microsoft.com/office/powerpoint/2010/main" val="3759894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B29F9-DF57-AF35-DC93-B6747435056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79D2E-2230-7C6F-6A0F-F50654A326B5}"/>
              </a:ext>
            </a:extLst>
          </p:cNvPr>
          <p:cNvSpPr>
            <a:spLocks noGrp="1"/>
          </p:cNvSpPr>
          <p:nvPr>
            <p:ph type="sldNum" sz="quarter" idx="12"/>
          </p:nvPr>
        </p:nvSpPr>
        <p:spPr/>
        <p:txBody>
          <a:bodyPr/>
          <a:lstStyle/>
          <a:p>
            <a:fld id="{B3561BA9-CDCF-4958-B8AB-66F3BF063E13}" type="slidenum">
              <a:rPr lang="en-US" smtClean="0"/>
              <a:t>14</a:t>
            </a:fld>
            <a:endParaRPr lang="en-US"/>
          </a:p>
        </p:txBody>
      </p:sp>
      <p:sp>
        <p:nvSpPr>
          <p:cNvPr id="4" name="Title 3">
            <a:extLst>
              <a:ext uri="{FF2B5EF4-FFF2-40B4-BE49-F238E27FC236}">
                <a16:creationId xmlns:a16="http://schemas.microsoft.com/office/drawing/2014/main" id="{238072B7-08DF-A371-55B5-0FFC02A3D16D}"/>
              </a:ext>
            </a:extLst>
          </p:cNvPr>
          <p:cNvSpPr>
            <a:spLocks noGrp="1"/>
          </p:cNvSpPr>
          <p:nvPr>
            <p:ph type="title"/>
          </p:nvPr>
        </p:nvSpPr>
        <p:spPr>
          <a:xfrm>
            <a:off x="521335" y="374650"/>
            <a:ext cx="9693182" cy="518795"/>
          </a:xfrm>
        </p:spPr>
        <p:txBody>
          <a:bodyPr>
            <a:noAutofit/>
          </a:bodyPr>
          <a:lstStyle/>
          <a:p>
            <a:r>
              <a:rPr lang="en-US" sz="2900" b="1">
                <a:solidFill>
                  <a:srgbClr val="1A3F4E"/>
                </a:solidFill>
                <a:sym typeface="+mn-ea"/>
              </a:rPr>
              <a:t>Key Milestones and Projected Timelines</a:t>
            </a:r>
          </a:p>
        </p:txBody>
      </p:sp>
      <p:graphicFrame>
        <p:nvGraphicFramePr>
          <p:cNvPr id="5" name="Table 4">
            <a:extLst>
              <a:ext uri="{FF2B5EF4-FFF2-40B4-BE49-F238E27FC236}">
                <a16:creationId xmlns:a16="http://schemas.microsoft.com/office/drawing/2014/main" id="{A3983057-F2D8-6CB7-3C5B-5D2D0C773B77}"/>
              </a:ext>
            </a:extLst>
          </p:cNvPr>
          <p:cNvGraphicFramePr>
            <a:graphicFrameLocks noGrp="1"/>
          </p:cNvGraphicFramePr>
          <p:nvPr>
            <p:extLst>
              <p:ext uri="{D42A27DB-BD31-4B8C-83A1-F6EECF244321}">
                <p14:modId xmlns:p14="http://schemas.microsoft.com/office/powerpoint/2010/main" val="851692405"/>
              </p:ext>
            </p:extLst>
          </p:nvPr>
        </p:nvGraphicFramePr>
        <p:xfrm>
          <a:off x="337457" y="1186995"/>
          <a:ext cx="11055067" cy="2966669"/>
        </p:xfrm>
        <a:graphic>
          <a:graphicData uri="http://schemas.openxmlformats.org/drawingml/2006/table">
            <a:tbl>
              <a:tblPr bandRow="1">
                <a:tableStyleId>{5C22544A-7EE6-4342-B048-85BDC9FD1C3A}</a:tableStyleId>
              </a:tblPr>
              <a:tblGrid>
                <a:gridCol w="5214169">
                  <a:extLst>
                    <a:ext uri="{9D8B030D-6E8A-4147-A177-3AD203B41FA5}">
                      <a16:colId xmlns:a16="http://schemas.microsoft.com/office/drawing/2014/main" val="3505383067"/>
                    </a:ext>
                  </a:extLst>
                </a:gridCol>
                <a:gridCol w="1979887">
                  <a:extLst>
                    <a:ext uri="{9D8B030D-6E8A-4147-A177-3AD203B41FA5}">
                      <a16:colId xmlns:a16="http://schemas.microsoft.com/office/drawing/2014/main" val="4199511902"/>
                    </a:ext>
                  </a:extLst>
                </a:gridCol>
                <a:gridCol w="1937041">
                  <a:extLst>
                    <a:ext uri="{9D8B030D-6E8A-4147-A177-3AD203B41FA5}">
                      <a16:colId xmlns:a16="http://schemas.microsoft.com/office/drawing/2014/main" val="2415753506"/>
                    </a:ext>
                  </a:extLst>
                </a:gridCol>
                <a:gridCol w="1923970">
                  <a:extLst>
                    <a:ext uri="{9D8B030D-6E8A-4147-A177-3AD203B41FA5}">
                      <a16:colId xmlns:a16="http://schemas.microsoft.com/office/drawing/2014/main" val="2860393258"/>
                    </a:ext>
                  </a:extLst>
                </a:gridCol>
              </a:tblGrid>
              <a:tr h="318654">
                <a:tc>
                  <a:txBody>
                    <a:bodyPr/>
                    <a:lstStyle/>
                    <a:p>
                      <a:pPr marL="0" algn="ctr" defTabSz="914400" rtl="0" eaLnBrk="1" fontAlgn="b" latinLnBrk="0" hangingPunct="1">
                        <a:buNone/>
                      </a:pPr>
                      <a:r>
                        <a:rPr lang="en-US" sz="1600" b="1" kern="1200">
                          <a:solidFill>
                            <a:srgbClr val="164055"/>
                          </a:solidFill>
                          <a:latin typeface="BDO Grotesk"/>
                          <a:ea typeface="+mn-ea"/>
                          <a:cs typeface="+mn-cs"/>
                        </a:rPr>
                        <a:t>Milestones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Estimated Duration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Planned Start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marL="0" algn="ctr" defTabSz="914400" rtl="0" eaLnBrk="1" fontAlgn="b" latinLnBrk="0" hangingPunct="1">
                        <a:buNone/>
                      </a:pPr>
                      <a:r>
                        <a:rPr lang="en-US" sz="1600" b="1" kern="1200">
                          <a:solidFill>
                            <a:srgbClr val="164055"/>
                          </a:solidFill>
                          <a:latin typeface="BDO Grotesk"/>
                          <a:ea typeface="+mn-ea"/>
                          <a:cs typeface="+mn-cs"/>
                        </a:rPr>
                        <a:t>Planned End Date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2394156481"/>
                  </a:ext>
                </a:extLst>
              </a:tr>
              <a:tr h="361155">
                <a:tc>
                  <a:txBody>
                    <a:bodyPr/>
                    <a:lstStyle/>
                    <a:p>
                      <a:pPr marL="0" algn="ctr" defTabSz="914400" rtl="0" eaLnBrk="1" latinLnBrk="0" hangingPunct="1">
                        <a:buNone/>
                      </a:pPr>
                      <a:r>
                        <a:rPr lang="en-US" sz="1600" b="1" kern="1200">
                          <a:solidFill>
                            <a:srgbClr val="164055"/>
                          </a:solidFill>
                          <a:latin typeface="BDO Grotesk"/>
                          <a:ea typeface="+mn-ea"/>
                          <a:cs typeface="+mn-cs"/>
                        </a:rPr>
                        <a:t>Full Project Milestones and Timelines </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gridSpan="3">
                  <a:txBody>
                    <a:bodyPr/>
                    <a:lstStyle/>
                    <a:p>
                      <a:pPr marL="0" algn="ctr" defTabSz="914400" rtl="0" eaLnBrk="1" latinLnBrk="0" hangingPunct="1">
                        <a:buNone/>
                      </a:pPr>
                      <a:endParaRPr lang="en-US" sz="1400" kern="1200">
                        <a:solidFill>
                          <a:srgbClr val="164055"/>
                        </a:solidFill>
                        <a:latin typeface="BDO Grotesk"/>
                        <a:ea typeface="+mn-ea"/>
                        <a:cs typeface="+mn-cs"/>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pPr marL="0" algn="l" defTabSz="914400" rtl="0" eaLnBrk="1" latinLnBrk="0" hangingPunct="1">
                        <a:buNone/>
                      </a:pPr>
                      <a:endParaRPr lang="en-US" sz="1600" b="1" i="0" u="none" strike="noStrike" kern="1200">
                        <a:solidFill>
                          <a:schemeClr val="tx1"/>
                        </a:solidFill>
                        <a:effectLst/>
                        <a:latin typeface="Aptos Narrow"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pPr marL="0" algn="l" defTabSz="914400" rtl="0" eaLnBrk="1" latinLnBrk="0" hangingPunct="1">
                        <a:buNone/>
                      </a:pPr>
                      <a:endParaRPr lang="en-US" sz="1600" b="1" i="0" u="none" strike="noStrike" kern="1200">
                        <a:solidFill>
                          <a:schemeClr val="tx1"/>
                        </a:solidFill>
                        <a:effectLst/>
                        <a:latin typeface="Aptos Narrow"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29641350"/>
                  </a:ext>
                </a:extLst>
              </a:tr>
              <a:tr h="538849">
                <a:tc>
                  <a:txBody>
                    <a:bodyPr/>
                    <a:lstStyle/>
                    <a:p>
                      <a:pPr algn="ctr">
                        <a:buNone/>
                      </a:pPr>
                      <a:r>
                        <a:rPr lang="en-US" sz="1600" b="0" i="0" u="none" strike="noStrike" kern="1200">
                          <a:solidFill>
                            <a:schemeClr val="bg1"/>
                          </a:solidFill>
                          <a:effectLst/>
                          <a:latin typeface="BDO Grotesk"/>
                          <a:ea typeface="+mn-ea"/>
                          <a:cs typeface="+mn-cs"/>
                        </a:rPr>
                        <a:t>Final Proposal Discussion Cost </a:t>
                      </a:r>
                      <a:r>
                        <a:rPr lang="en-US" sz="1600" b="0" i="0" u="none" strike="noStrike" kern="1200" err="1">
                          <a:solidFill>
                            <a:schemeClr val="bg1"/>
                          </a:solidFill>
                          <a:effectLst/>
                          <a:latin typeface="BDO Grotesk"/>
                          <a:ea typeface="+mn-ea"/>
                          <a:cs typeface="+mn-cs"/>
                        </a:rPr>
                        <a:t>Finalisation</a:t>
                      </a:r>
                      <a:r>
                        <a:rPr lang="en-US" sz="1600" b="0" i="0" u="none" strike="noStrike" kern="1200">
                          <a:solidFill>
                            <a:schemeClr val="bg1"/>
                          </a:solidFill>
                          <a:effectLst/>
                          <a:latin typeface="BDO Grotesk"/>
                          <a:ea typeface="+mn-ea"/>
                          <a:cs typeface="+mn-cs"/>
                        </a:rPr>
                        <a:t> and Contracts Setup</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4 Weeks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13-Jan-26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06-Feb-26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6906915"/>
                  </a:ext>
                </a:extLst>
              </a:tr>
              <a:tr h="366620">
                <a:tc>
                  <a:txBody>
                    <a:bodyPr/>
                    <a:lstStyle/>
                    <a:p>
                      <a:pPr algn="ctr">
                        <a:buNone/>
                      </a:pPr>
                      <a:r>
                        <a:rPr lang="en-US" sz="1600" b="0" i="0" u="none" strike="noStrike" kern="1200">
                          <a:solidFill>
                            <a:schemeClr val="bg1"/>
                          </a:solidFill>
                          <a:effectLst/>
                          <a:latin typeface="BDO Grotesk"/>
                          <a:ea typeface="+mn-ea"/>
                          <a:cs typeface="+mn-cs"/>
                        </a:rPr>
                        <a:t>Full Project Solution </a:t>
                      </a:r>
                      <a:r>
                        <a:rPr lang="en-US" sz="1600" b="0" i="0" u="none" strike="noStrike" kern="1200" err="1">
                          <a:solidFill>
                            <a:schemeClr val="bg1"/>
                          </a:solidFill>
                          <a:effectLst/>
                          <a:latin typeface="BDO Grotesk"/>
                          <a:ea typeface="+mn-ea"/>
                          <a:cs typeface="+mn-cs"/>
                        </a:rPr>
                        <a:t>Customisation</a:t>
                      </a:r>
                      <a:r>
                        <a:rPr lang="en-US" sz="1600" b="0" i="0" u="none" strike="noStrike" kern="1200">
                          <a:solidFill>
                            <a:schemeClr val="bg1"/>
                          </a:solidFill>
                          <a:effectLst/>
                          <a:latin typeface="BDO Grotesk"/>
                          <a:ea typeface="+mn-ea"/>
                          <a:cs typeface="+mn-cs"/>
                        </a:rPr>
                        <a:t> / Configuration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8 Weeks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09-Feb-26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07-Apr-26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98953076"/>
                  </a:ext>
                </a:extLst>
              </a:tr>
              <a:tr h="318654">
                <a:tc>
                  <a:txBody>
                    <a:bodyPr/>
                    <a:lstStyle/>
                    <a:p>
                      <a:pPr algn="ctr">
                        <a:buNone/>
                      </a:pPr>
                      <a:r>
                        <a:rPr lang="en-US" sz="1600" b="0" i="0" u="none" strike="noStrike" kern="1200">
                          <a:solidFill>
                            <a:schemeClr val="bg1"/>
                          </a:solidFill>
                          <a:effectLst/>
                          <a:latin typeface="BDO Grotesk"/>
                          <a:ea typeface="+mn-ea"/>
                          <a:cs typeface="+mn-cs"/>
                        </a:rPr>
                        <a:t>UAT (output checks by RDM)</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2 Weeks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08-Apr-26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22-Apr-26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13032848"/>
                  </a:ext>
                </a:extLst>
              </a:tr>
              <a:tr h="318654">
                <a:tc>
                  <a:txBody>
                    <a:bodyPr/>
                    <a:lstStyle/>
                    <a:p>
                      <a:pPr algn="ctr">
                        <a:buNone/>
                      </a:pPr>
                      <a:r>
                        <a:rPr lang="en-US" sz="1600" b="0" i="0" u="none" strike="noStrike" kern="1200">
                          <a:solidFill>
                            <a:schemeClr val="bg1"/>
                          </a:solidFill>
                          <a:effectLst/>
                          <a:latin typeface="BDO Grotesk"/>
                          <a:ea typeface="+mn-ea"/>
                          <a:cs typeface="+mn-cs"/>
                        </a:rPr>
                        <a:t>UAT Feedback Fixes and Deployment </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1 Week</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23-Apr-26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400" kern="1200">
                          <a:solidFill>
                            <a:srgbClr val="164055"/>
                          </a:solidFill>
                          <a:latin typeface="BDO Grotesk"/>
                          <a:ea typeface="+mn-ea"/>
                          <a:cs typeface="+mn-cs"/>
                        </a:rPr>
                        <a:t>30-Apr-26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65701425"/>
                  </a:ext>
                </a:extLst>
              </a:tr>
              <a:tr h="318654">
                <a:tc>
                  <a:txBody>
                    <a:bodyPr/>
                    <a:lstStyle/>
                    <a:p>
                      <a:pPr marL="0" algn="ctr" defTabSz="914400" rtl="0" eaLnBrk="1" latinLnBrk="0" hangingPunct="1">
                        <a:buNone/>
                      </a:pPr>
                      <a:r>
                        <a:rPr lang="en-US" sz="1600" b="1" kern="1200">
                          <a:solidFill>
                            <a:srgbClr val="164055"/>
                          </a:solidFill>
                          <a:latin typeface="BDO Grotesk"/>
                          <a:ea typeface="+mn-ea"/>
                          <a:cs typeface="+mn-cs"/>
                        </a:rPr>
                        <a:t>BAU Commencement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gridSpan="3">
                  <a:txBody>
                    <a:bodyPr/>
                    <a:lstStyle/>
                    <a:p>
                      <a:pPr algn="ctr">
                        <a:buNone/>
                      </a:pPr>
                      <a:endParaRPr lang="en-US" sz="1400" kern="1200">
                        <a:solidFill>
                          <a:srgbClr val="164055"/>
                        </a:solidFill>
                        <a:latin typeface="BDO Grotesk"/>
                        <a:ea typeface="+mn-ea"/>
                        <a:cs typeface="+mn-cs"/>
                      </a:endParaRPr>
                    </a:p>
                  </a:txBody>
                  <a:tcPr marL="0" marR="0" marT="0" marB="0" anchor="ctr">
                    <a:lnL w="12700" cap="flat" cmpd="sng" algn="ctr">
                      <a:solidFill>
                        <a:schemeClr val="tx1"/>
                      </a:solidFill>
                      <a:prstDash val="solid"/>
                      <a:round/>
                      <a:headEnd type="none" w="med" len="med"/>
                      <a:tailEnd type="none" w="med" len="med"/>
                    </a:lnL>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pPr algn="ctr">
                        <a:buNone/>
                      </a:pPr>
                      <a:endParaRPr lang="en-US" sz="1600" b="0" i="0" u="none" strike="noStrike" kern="1200">
                        <a:solidFill>
                          <a:srgbClr val="000000"/>
                        </a:solidFill>
                        <a:effectLst/>
                        <a:latin typeface="Aptos Narrow"/>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489826057"/>
                  </a:ext>
                </a:extLst>
              </a:tr>
              <a:tr h="318654">
                <a:tc>
                  <a:txBody>
                    <a:bodyPr/>
                    <a:lstStyle/>
                    <a:p>
                      <a:pPr algn="ctr">
                        <a:buNone/>
                      </a:pPr>
                      <a:r>
                        <a:rPr lang="en-US" sz="1600" b="0" i="0" u="none" strike="noStrike" kern="1200">
                          <a:solidFill>
                            <a:schemeClr val="bg1"/>
                          </a:solidFill>
                          <a:effectLst/>
                          <a:latin typeface="BDO Grotesk"/>
                          <a:ea typeface="+mn-ea"/>
                          <a:cs typeface="+mn-cs"/>
                        </a:rPr>
                        <a:t>BAU Start date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71A178"/>
                    </a:solidFill>
                  </a:tcPr>
                </a:tc>
                <a:tc>
                  <a:txBody>
                    <a:bodyPr/>
                    <a:lstStyle/>
                    <a:p>
                      <a:pPr algn="ctr">
                        <a:buNone/>
                      </a:pPr>
                      <a:r>
                        <a:rPr lang="en-US" sz="1400" kern="1200">
                          <a:solidFill>
                            <a:srgbClr val="164055"/>
                          </a:solidFill>
                          <a:latin typeface="BDO Grotesk"/>
                          <a:ea typeface="+mn-ea"/>
                          <a:cs typeface="+mn-cs"/>
                        </a:rPr>
                        <a:t>Ongoing Monthly</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gridSpan="2">
                  <a:txBody>
                    <a:bodyPr/>
                    <a:lstStyle/>
                    <a:p>
                      <a:pPr algn="ctr">
                        <a:buNone/>
                      </a:pPr>
                      <a:r>
                        <a:rPr lang="en-US" sz="1400" kern="1200">
                          <a:solidFill>
                            <a:srgbClr val="164055"/>
                          </a:solidFill>
                          <a:latin typeface="BDO Grotesk"/>
                          <a:ea typeface="+mn-ea"/>
                          <a:cs typeface="+mn-cs"/>
                        </a:rPr>
                        <a:t>01 May 26</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hMerge="1">
                  <a:txBody>
                    <a:bodyPr/>
                    <a:lstStyle/>
                    <a:p>
                      <a:endParaRPr lang="en-US"/>
                    </a:p>
                  </a:txBody>
                  <a:tcPr/>
                </a:tc>
                <a:extLst>
                  <a:ext uri="{0D108BD9-81ED-4DB2-BD59-A6C34878D82A}">
                    <a16:rowId xmlns:a16="http://schemas.microsoft.com/office/drawing/2014/main" val="513481917"/>
                  </a:ext>
                </a:extLst>
              </a:tr>
            </a:tbl>
          </a:graphicData>
        </a:graphic>
      </p:graphicFrame>
    </p:spTree>
    <p:extLst>
      <p:ext uri="{BB962C8B-B14F-4D97-AF65-F5344CB8AC3E}">
        <p14:creationId xmlns:p14="http://schemas.microsoft.com/office/powerpoint/2010/main" val="265512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1335" y="374650"/>
            <a:ext cx="9693182" cy="518795"/>
          </a:xfrm>
        </p:spPr>
        <p:txBody>
          <a:bodyPr>
            <a:noAutofit/>
          </a:bodyPr>
          <a:lstStyle/>
          <a:p>
            <a:r>
              <a:rPr lang="en-US" sz="2900" b="1">
                <a:solidFill>
                  <a:srgbClr val="1A3F4E"/>
                </a:solidFill>
                <a:sym typeface="+mn-ea"/>
              </a:rPr>
              <a:t>Assumptions</a:t>
            </a:r>
          </a:p>
        </p:txBody>
      </p:sp>
      <p:sp>
        <p:nvSpPr>
          <p:cNvPr id="2" name="Slide Number Placeholder 1"/>
          <p:cNvSpPr>
            <a:spLocks noGrp="1"/>
          </p:cNvSpPr>
          <p:nvPr>
            <p:ph type="sldNum" sz="quarter" idx="12"/>
          </p:nvPr>
        </p:nvSpPr>
        <p:spPr/>
        <p:txBody>
          <a:bodyPr/>
          <a:lstStyle/>
          <a:p>
            <a:fld id="{B3561BA9-CDCF-4958-B8AB-66F3BF063E13}" type="slidenum">
              <a:rPr lang="en-US" smtClean="0"/>
              <a:t>15</a:t>
            </a:fld>
            <a:endParaRPr lang="en-US"/>
          </a:p>
        </p:txBody>
      </p:sp>
      <p:sp>
        <p:nvSpPr>
          <p:cNvPr id="13" name="Rectangle 12"/>
          <p:cNvSpPr/>
          <p:nvPr/>
        </p:nvSpPr>
        <p:spPr>
          <a:xfrm>
            <a:off x="521335" y="1110469"/>
            <a:ext cx="3361117" cy="830997"/>
          </a:xfrm>
          <a:prstGeom prst="rect">
            <a:avLst/>
          </a:prstGeom>
        </p:spPr>
        <p:txBody>
          <a:bodyPr wrap="square">
            <a:spAutoFit/>
          </a:bodyPr>
          <a:lstStyle/>
          <a:p>
            <a:endParaRPr lang="en-GB" sz="1400" b="1">
              <a:solidFill>
                <a:srgbClr val="164055"/>
              </a:solidFill>
              <a:latin typeface="BDO Grotesk" charset="0"/>
            </a:endParaRPr>
          </a:p>
          <a:p>
            <a:endParaRPr lang="en-GB" sz="1600">
              <a:solidFill>
                <a:srgbClr val="000000"/>
              </a:solidFill>
              <a:latin typeface="Aptos Narrow" panose="020B0004020202020204" pitchFamily="34" charset="0"/>
            </a:endParaRPr>
          </a:p>
          <a:p>
            <a:endParaRPr lang="en-GB"/>
          </a:p>
        </p:txBody>
      </p:sp>
      <p:sp>
        <p:nvSpPr>
          <p:cNvPr id="5" name="Rectangle 4"/>
          <p:cNvSpPr/>
          <p:nvPr/>
        </p:nvSpPr>
        <p:spPr>
          <a:xfrm>
            <a:off x="521334" y="1110469"/>
            <a:ext cx="11475593" cy="3108543"/>
          </a:xfrm>
          <a:prstGeom prst="rect">
            <a:avLst/>
          </a:prstGeom>
        </p:spPr>
        <p:txBody>
          <a:bodyPr wrap="square" lIns="91440" tIns="45720" rIns="91440" bIns="45720" anchor="t">
            <a:spAutoFit/>
          </a:bodyPr>
          <a:lstStyle/>
          <a:p>
            <a:pPr marL="285750" indent="-285750">
              <a:buFont typeface="Arial" panose="020B0604020202020204" pitchFamily="34" charset="0"/>
              <a:buChar char="•"/>
            </a:pPr>
            <a:r>
              <a:rPr lang="en-US" sz="1400">
                <a:solidFill>
                  <a:srgbClr val="1A3F4E"/>
                </a:solidFill>
                <a:latin typeface="BDO Grotesk"/>
                <a:ea typeface="Calibri"/>
                <a:cs typeface="Times New Roman"/>
              </a:rPr>
              <a:t>The current estimation covers 40 identified sources, subject to confirmation and </a:t>
            </a:r>
            <a:r>
              <a:rPr lang="en-US" sz="1400" err="1">
                <a:solidFill>
                  <a:srgbClr val="1A3F4E"/>
                </a:solidFill>
                <a:latin typeface="BDO Grotesk"/>
                <a:ea typeface="Calibri"/>
                <a:cs typeface="Times New Roman"/>
              </a:rPr>
              <a:t>finalisation</a:t>
            </a:r>
            <a:r>
              <a:rPr lang="en-US" sz="1400">
                <a:solidFill>
                  <a:srgbClr val="1A3F4E"/>
                </a:solidFill>
                <a:latin typeface="BDO Grotesk"/>
                <a:ea typeface="Calibri"/>
                <a:cs typeface="Times New Roman"/>
              </a:rPr>
              <a:t> with RDM</a:t>
            </a:r>
          </a:p>
          <a:p>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The estimations are based on the assumption that deal data will be sourced from publicly available deal announcements, press releases, and updates from company websites and email subscriptions in scope.</a:t>
            </a: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No paywalled or restricted sources are included within the current scope.</a:t>
            </a: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Data collection will also leverage email subscriptions and notifications received from editorial inboxes. (</a:t>
            </a:r>
            <a:r>
              <a:rPr lang="en-US" sz="1400" err="1">
                <a:solidFill>
                  <a:srgbClr val="1A3F4E"/>
                </a:solidFill>
                <a:latin typeface="BDO Grotesk"/>
                <a:ea typeface="Calibri"/>
                <a:cs typeface="Times New Roman"/>
              </a:rPr>
              <a:t>gmail</a:t>
            </a:r>
            <a:r>
              <a:rPr lang="en-US" sz="1400">
                <a:solidFill>
                  <a:srgbClr val="1A3F4E"/>
                </a:solidFill>
                <a:latin typeface="BDO Grotesk"/>
                <a:ea typeface="Calibri"/>
                <a:cs typeface="Times New Roman"/>
              </a:rPr>
              <a:t> and outlook considered)</a:t>
            </a: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Open Search (Google OpenSearch) will be limited to the first 10 result pages to identify relevant base articles or leads.</a:t>
            </a: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err="1">
                <a:solidFill>
                  <a:srgbClr val="1A3F4E"/>
                </a:solidFill>
                <a:latin typeface="BDO Grotesk"/>
                <a:ea typeface="Calibri"/>
                <a:cs typeface="Times New Roman"/>
              </a:rPr>
              <a:t>Organisation</a:t>
            </a:r>
            <a:r>
              <a:rPr lang="en-US" sz="1400">
                <a:solidFill>
                  <a:srgbClr val="1A3F4E"/>
                </a:solidFill>
                <a:latin typeface="BDO Grotesk"/>
                <a:ea typeface="Calibri"/>
                <a:cs typeface="Times New Roman"/>
              </a:rPr>
              <a:t> level details will be extracted where available in web search, including Trade or Registered Company Name, Turnover/Revenue (Profit), Sector, and Deal Region.</a:t>
            </a:r>
          </a:p>
          <a:p>
            <a:endParaRPr lang="en-GB" sz="1400"/>
          </a:p>
        </p:txBody>
      </p:sp>
    </p:spTree>
    <p:extLst>
      <p:ext uri="{BB962C8B-B14F-4D97-AF65-F5344CB8AC3E}">
        <p14:creationId xmlns:p14="http://schemas.microsoft.com/office/powerpoint/2010/main" val="294145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1335" y="374650"/>
            <a:ext cx="9693182" cy="518795"/>
          </a:xfrm>
        </p:spPr>
        <p:txBody>
          <a:bodyPr>
            <a:noAutofit/>
          </a:bodyPr>
          <a:lstStyle/>
          <a:p>
            <a:r>
              <a:rPr lang="en-US" sz="2900" b="1">
                <a:solidFill>
                  <a:srgbClr val="1A3F4E"/>
                </a:solidFill>
                <a:sym typeface="+mn-ea"/>
              </a:rPr>
              <a:t>Benefits</a:t>
            </a:r>
          </a:p>
        </p:txBody>
      </p:sp>
      <p:sp>
        <p:nvSpPr>
          <p:cNvPr id="2" name="Slide Number Placeholder 1"/>
          <p:cNvSpPr>
            <a:spLocks noGrp="1"/>
          </p:cNvSpPr>
          <p:nvPr>
            <p:ph type="sldNum" sz="quarter" idx="12"/>
          </p:nvPr>
        </p:nvSpPr>
        <p:spPr/>
        <p:txBody>
          <a:bodyPr/>
          <a:lstStyle/>
          <a:p>
            <a:fld id="{B3561BA9-CDCF-4958-B8AB-66F3BF063E13}" type="slidenum">
              <a:rPr lang="en-US" smtClean="0"/>
              <a:t>16</a:t>
            </a:fld>
            <a:endParaRPr lang="en-US"/>
          </a:p>
        </p:txBody>
      </p:sp>
      <p:sp>
        <p:nvSpPr>
          <p:cNvPr id="13" name="Rectangle 12"/>
          <p:cNvSpPr/>
          <p:nvPr/>
        </p:nvSpPr>
        <p:spPr>
          <a:xfrm>
            <a:off x="521335" y="1110469"/>
            <a:ext cx="3361117" cy="830997"/>
          </a:xfrm>
          <a:prstGeom prst="rect">
            <a:avLst/>
          </a:prstGeom>
        </p:spPr>
        <p:txBody>
          <a:bodyPr wrap="square">
            <a:spAutoFit/>
          </a:bodyPr>
          <a:lstStyle/>
          <a:p>
            <a:endParaRPr lang="en-GB" sz="1400" b="1">
              <a:solidFill>
                <a:srgbClr val="164055"/>
              </a:solidFill>
              <a:latin typeface="BDO Grotesk" charset="0"/>
            </a:endParaRPr>
          </a:p>
          <a:p>
            <a:endParaRPr lang="en-GB" sz="1600">
              <a:solidFill>
                <a:srgbClr val="000000"/>
              </a:solidFill>
              <a:latin typeface="Aptos Narrow" panose="020B0004020202020204" pitchFamily="34" charset="0"/>
            </a:endParaRPr>
          </a:p>
          <a:p>
            <a:endParaRPr lang="en-GB"/>
          </a:p>
        </p:txBody>
      </p:sp>
      <p:sp>
        <p:nvSpPr>
          <p:cNvPr id="5" name="Rectangle 4"/>
          <p:cNvSpPr/>
          <p:nvPr/>
        </p:nvSpPr>
        <p:spPr>
          <a:xfrm>
            <a:off x="521334" y="1110469"/>
            <a:ext cx="11475593" cy="4616648"/>
          </a:xfrm>
          <a:prstGeom prst="rect">
            <a:avLst/>
          </a:prstGeom>
        </p:spPr>
        <p:txBody>
          <a:bodyPr wrap="square" lIns="91440" tIns="45720" rIns="91440" bIns="45720" anchor="t">
            <a:spAutoFit/>
          </a:bodyPr>
          <a:lstStyle/>
          <a:p>
            <a:pPr marL="285750" indent="-285750">
              <a:buFont typeface="Arial" panose="020B0604020202020204" pitchFamily="34" charset="0"/>
              <a:buChar char="•"/>
            </a:pPr>
            <a:r>
              <a:rPr lang="en-US" sz="1400">
                <a:solidFill>
                  <a:srgbClr val="1A3F4E"/>
                </a:solidFill>
                <a:latin typeface="BDO Grotesk"/>
                <a:ea typeface="Calibri"/>
                <a:cs typeface="Times New Roman"/>
              </a:rPr>
              <a:t>A dedicated Project Manager and Business Analyst will be assigned to oversee the engagement at no additional cost, ensuring smooth delivery and stakeholder alignment throughout the project duration.</a:t>
            </a:r>
            <a:endParaRPr lang="en-US">
              <a:latin typeface="BDO Grotesk"/>
              <a:ea typeface="Calibri"/>
              <a:cs typeface="Times New Roman"/>
            </a:endParaRP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Documentation efforts are also included Free of Cost, in recognition of the long-term partnership Merit anticipates building through this engagement.</a:t>
            </a:r>
          </a:p>
          <a:p>
            <a:pPr marL="285750" indent="-285750">
              <a:buFont typeface="Arial" panose="020B0604020202020204" pitchFamily="34"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By leveraging our proprietary accelerator platforms </a:t>
            </a:r>
            <a:r>
              <a:rPr lang="en-US" sz="1400" err="1">
                <a:solidFill>
                  <a:srgbClr val="1A3F4E"/>
                </a:solidFill>
                <a:latin typeface="BDO Grotesk"/>
                <a:ea typeface="Calibri"/>
                <a:cs typeface="Times New Roman"/>
              </a:rPr>
              <a:t>ScrapeX</a:t>
            </a:r>
            <a:r>
              <a:rPr lang="en-US" sz="1400">
                <a:solidFill>
                  <a:srgbClr val="1A3F4E"/>
                </a:solidFill>
                <a:latin typeface="BDO Grotesk"/>
                <a:ea typeface="Calibri"/>
                <a:cs typeface="Times New Roman"/>
              </a:rPr>
              <a:t> for scraping and KIAA for AI/ML workflows. Merit has achieved significant cost efficiencies across key solution components:</a:t>
            </a:r>
          </a:p>
          <a:p>
            <a:pPr marL="285750" indent="-285750">
              <a:buFont typeface="Arial" panose="02070309020205020404" pitchFamily="49" charset="0"/>
              <a:buChar char="•"/>
            </a:pPr>
            <a:endParaRPr lang="en-US" sz="1400">
              <a:solidFill>
                <a:srgbClr val="1A3F4E"/>
              </a:solidFill>
              <a:latin typeface="BDO Grotesk"/>
              <a:ea typeface="Calibri" panose="020F0502020204030204" charset="0"/>
              <a:cs typeface="Times New Roman" panose="02020603050405020304" pitchFamily="18" charset="0"/>
            </a:endParaRPr>
          </a:p>
          <a:p>
            <a:r>
              <a:rPr lang="en-US" sz="1400">
                <a:solidFill>
                  <a:srgbClr val="1A3F4E"/>
                </a:solidFill>
                <a:latin typeface="BDO Grotesk"/>
                <a:ea typeface="Calibri"/>
                <a:cs typeface="Times New Roman"/>
              </a:rPr>
              <a:t>                       A)  ~40% reduction in scraper </a:t>
            </a:r>
            <a:r>
              <a:rPr lang="en-US" sz="1400" err="1">
                <a:solidFill>
                  <a:srgbClr val="1A3F4E"/>
                </a:solidFill>
                <a:latin typeface="BDO Grotesk"/>
                <a:ea typeface="Calibri"/>
                <a:cs typeface="Times New Roman"/>
              </a:rPr>
              <a:t>customisation</a:t>
            </a:r>
            <a:r>
              <a:rPr lang="en-US" sz="1400">
                <a:solidFill>
                  <a:srgbClr val="1A3F4E"/>
                </a:solidFill>
                <a:latin typeface="BDO Grotesk"/>
                <a:ea typeface="Calibri"/>
                <a:cs typeface="Times New Roman"/>
              </a:rPr>
              <a:t> costs through reusable </a:t>
            </a:r>
            <a:r>
              <a:rPr lang="en-US" sz="1400" err="1">
                <a:solidFill>
                  <a:srgbClr val="1A3F4E"/>
                </a:solidFill>
                <a:latin typeface="BDO Grotesk"/>
                <a:ea typeface="Calibri"/>
                <a:cs typeface="Times New Roman"/>
              </a:rPr>
              <a:t>ScrapeX</a:t>
            </a:r>
            <a:r>
              <a:rPr lang="en-US" sz="1400">
                <a:solidFill>
                  <a:srgbClr val="1A3F4E"/>
                </a:solidFill>
                <a:latin typeface="BDO Grotesk"/>
                <a:ea typeface="Calibri"/>
                <a:cs typeface="Times New Roman"/>
              </a:rPr>
              <a:t> modules and configuration-based development.</a:t>
            </a:r>
          </a:p>
          <a:p>
            <a:r>
              <a:rPr lang="en-US" sz="1400">
                <a:solidFill>
                  <a:srgbClr val="1A3F4E"/>
                </a:solidFill>
                <a:latin typeface="BDO Grotesk"/>
                <a:ea typeface="Calibri"/>
                <a:cs typeface="Times New Roman"/>
              </a:rPr>
              <a:t>                       B) ~35% reduction in AI/ML solution development costs through pre-trained models, reusable pipelines, and scalable infrastructure under the KIAA framework.</a:t>
            </a:r>
          </a:p>
          <a:p>
            <a:pPr marL="285750" indent="-285750">
              <a:buFont typeface="Arial" panose="02070309020205020404" pitchFamily="49" charset="0"/>
              <a:buChar char="•"/>
            </a:pPr>
            <a:endParaRPr lang="en-US" sz="1400">
              <a:solidFill>
                <a:srgbClr val="1A3F4E"/>
              </a:solidFill>
              <a:latin typeface="BDO Grotesk"/>
              <a:ea typeface="Calibri" panose="020F0502020204030204" charset="0"/>
              <a:cs typeface="Times New Roman" panose="02020603050405020304" pitchFamily="18" charset="0"/>
            </a:endParaRPr>
          </a:p>
          <a:p>
            <a:pPr marL="285750" indent="-285750">
              <a:buFont typeface="Arial" panose="020B0604020202020204" pitchFamily="34" charset="0"/>
              <a:buChar char="•"/>
            </a:pPr>
            <a:r>
              <a:rPr lang="en-US" sz="1400">
                <a:solidFill>
                  <a:srgbClr val="1A3F4E"/>
                </a:solidFill>
                <a:latin typeface="BDO Grotesk"/>
                <a:ea typeface="Calibri"/>
                <a:cs typeface="Times New Roman"/>
              </a:rPr>
              <a:t>Also the estimated development timeline reduced from 2.5 months to 1.5 months, enabled by pre-built modules, automation utilities, and </a:t>
            </a:r>
            <a:r>
              <a:rPr lang="en-US" sz="1400" err="1">
                <a:solidFill>
                  <a:srgbClr val="1A3F4E"/>
                </a:solidFill>
                <a:latin typeface="BDO Grotesk"/>
                <a:ea typeface="Calibri"/>
                <a:cs typeface="Times New Roman"/>
              </a:rPr>
              <a:t>optimised</a:t>
            </a:r>
            <a:r>
              <a:rPr lang="en-US" sz="1400">
                <a:solidFill>
                  <a:srgbClr val="1A3F4E"/>
                </a:solidFill>
                <a:latin typeface="BDO Grotesk"/>
                <a:ea typeface="Calibri"/>
                <a:cs typeface="Times New Roman"/>
              </a:rPr>
              <a:t> data processing workflows.</a:t>
            </a:r>
          </a:p>
          <a:p>
            <a:endParaRPr lang="en-US" sz="1400">
              <a:solidFill>
                <a:srgbClr val="1A3F4E"/>
              </a:solidFill>
              <a:latin typeface="BDO Grotesk"/>
              <a:ea typeface="Calibri" panose="020F0502020204030204" charset="0"/>
              <a:cs typeface="Times New Roman" panose="02020603050405020304" pitchFamily="18" charset="0"/>
            </a:endParaRPr>
          </a:p>
          <a:p>
            <a:endParaRPr lang="en-US" sz="1400">
              <a:solidFill>
                <a:srgbClr val="1A3F4E"/>
              </a:solidFill>
              <a:latin typeface="BDO Grotesk"/>
              <a:ea typeface="Calibri" panose="020F0502020204030204" charset="0"/>
              <a:cs typeface="Times New Roman" panose="02020603050405020304" pitchFamily="18" charset="0"/>
            </a:endParaRPr>
          </a:p>
          <a:p>
            <a:r>
              <a:rPr lang="en-US" sz="1400">
                <a:solidFill>
                  <a:srgbClr val="1A3F4E"/>
                </a:solidFill>
                <a:latin typeface="BDO Grotesk"/>
                <a:ea typeface="Calibri"/>
                <a:cs typeface="Times New Roman"/>
              </a:rPr>
              <a:t>Note: Infrastructure costs indicated are provisional estimates and will be billed based on actual usage during implementation.</a:t>
            </a:r>
          </a:p>
          <a:p>
            <a:pPr marL="285750" indent="-285750">
              <a:buFont typeface="Arial" panose="020B0604020202020204" pitchFamily="34" charset="0"/>
              <a:buChar char="•"/>
            </a:pPr>
            <a:endParaRPr lang="en-US" sz="1400">
              <a:solidFill>
                <a:srgbClr val="1A3F4E"/>
              </a:solidFill>
              <a:latin typeface="Arial" panose="020B0604020202020204" pitchFamily="34" charset="0"/>
              <a:ea typeface="Calibri" panose="020F0502020204030204" charset="0"/>
              <a:cs typeface="Times New Roman" panose="02020603050405020304" pitchFamily="18" charset="0"/>
            </a:endParaRPr>
          </a:p>
          <a:p>
            <a:pPr marL="285750" indent="-285750">
              <a:buFont typeface="Arial" panose="020B0604020202020204" pitchFamily="34" charset="0"/>
              <a:buChar char="•"/>
            </a:pPr>
            <a:endParaRPr lang="en-US" sz="1400">
              <a:solidFill>
                <a:srgbClr val="1A3F4E"/>
              </a:solidFill>
              <a:latin typeface="Arial" panose="020B0604020202020204" pitchFamily="34" charset="0"/>
              <a:ea typeface="Calibri" panose="020F0502020204030204" charset="0"/>
              <a:cs typeface="Times New Roman" panose="02020603050405020304" pitchFamily="18" charset="0"/>
            </a:endParaRPr>
          </a:p>
          <a:p>
            <a:pPr marL="285750" indent="-285750">
              <a:buFont typeface="Arial" panose="020B0604020202020204" pitchFamily="34" charset="0"/>
              <a:buChar char="•"/>
            </a:pPr>
            <a:endParaRPr lang="en-US" sz="1400">
              <a:solidFill>
                <a:srgbClr val="1A3F4E"/>
              </a:solidFill>
              <a:latin typeface="Arial" panose="020B0604020202020204" pitchFamily="34" charset="0"/>
              <a:ea typeface="Calibri" panose="020F0502020204030204" charset="0"/>
              <a:cs typeface="Times New Roman" panose="02020603050405020304" pitchFamily="18" charset="0"/>
            </a:endParaRPr>
          </a:p>
          <a:p>
            <a:endParaRPr lang="en-GB" sz="1400"/>
          </a:p>
        </p:txBody>
      </p:sp>
    </p:spTree>
    <p:extLst>
      <p:ext uri="{BB962C8B-B14F-4D97-AF65-F5344CB8AC3E}">
        <p14:creationId xmlns:p14="http://schemas.microsoft.com/office/powerpoint/2010/main" val="2678261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1335" y="374650"/>
            <a:ext cx="9693182" cy="518795"/>
          </a:xfrm>
        </p:spPr>
        <p:txBody>
          <a:bodyPr>
            <a:noAutofit/>
          </a:bodyPr>
          <a:lstStyle/>
          <a:p>
            <a:r>
              <a:rPr lang="en-US" sz="2900" b="1">
                <a:solidFill>
                  <a:srgbClr val="1A3F4E"/>
                </a:solidFill>
                <a:sym typeface="+mn-ea"/>
              </a:rPr>
              <a:t>Appendix I (List of Sources)</a:t>
            </a:r>
          </a:p>
        </p:txBody>
      </p:sp>
      <p:sp>
        <p:nvSpPr>
          <p:cNvPr id="2" name="Slide Number Placeholder 1"/>
          <p:cNvSpPr>
            <a:spLocks noGrp="1"/>
          </p:cNvSpPr>
          <p:nvPr>
            <p:ph type="sldNum" sz="quarter" idx="12"/>
          </p:nvPr>
        </p:nvSpPr>
        <p:spPr/>
        <p:txBody>
          <a:bodyPr/>
          <a:lstStyle/>
          <a:p>
            <a:fld id="{B3561BA9-CDCF-4958-B8AB-66F3BF063E13}" type="slidenum">
              <a:rPr lang="en-US" smtClean="0"/>
              <a:t>17</a:t>
            </a:fld>
            <a:endParaRPr lang="en-US"/>
          </a:p>
        </p:txBody>
      </p:sp>
      <p:sp>
        <p:nvSpPr>
          <p:cNvPr id="13" name="Rectangle 12"/>
          <p:cNvSpPr/>
          <p:nvPr/>
        </p:nvSpPr>
        <p:spPr>
          <a:xfrm>
            <a:off x="521335" y="1110469"/>
            <a:ext cx="3361117" cy="830997"/>
          </a:xfrm>
          <a:prstGeom prst="rect">
            <a:avLst/>
          </a:prstGeom>
        </p:spPr>
        <p:txBody>
          <a:bodyPr wrap="square">
            <a:spAutoFit/>
          </a:bodyPr>
          <a:lstStyle/>
          <a:p>
            <a:r>
              <a:rPr lang="en-IN" sz="1400" b="1">
                <a:solidFill>
                  <a:srgbClr val="FF0000"/>
                </a:solidFill>
                <a:latin typeface="BDO Grotesk" charset="0"/>
              </a:rPr>
              <a:t>Sources to be updated by RDM</a:t>
            </a:r>
            <a:endParaRPr lang="en-GB" sz="1400" b="1">
              <a:solidFill>
                <a:srgbClr val="FF0000"/>
              </a:solidFill>
              <a:latin typeface="BDO Grotesk" charset="0"/>
            </a:endParaRPr>
          </a:p>
          <a:p>
            <a:endParaRPr lang="en-GB" sz="1600">
              <a:solidFill>
                <a:srgbClr val="000000"/>
              </a:solidFill>
              <a:latin typeface="Aptos Narrow" panose="020B0004020202020204" pitchFamily="34" charset="0"/>
            </a:endParaRPr>
          </a:p>
          <a:p>
            <a:endParaRPr lang="en-GB"/>
          </a:p>
        </p:txBody>
      </p:sp>
    </p:spTree>
    <p:extLst>
      <p:ext uri="{BB962C8B-B14F-4D97-AF65-F5344CB8AC3E}">
        <p14:creationId xmlns:p14="http://schemas.microsoft.com/office/powerpoint/2010/main" val="290658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FEFDB-0CCE-E558-3311-6603E834D9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8FE099-8B75-2BA6-F034-2ED0689DDBCE}"/>
              </a:ext>
            </a:extLst>
          </p:cNvPr>
          <p:cNvSpPr>
            <a:spLocks noGrp="1"/>
          </p:cNvSpPr>
          <p:nvPr>
            <p:ph type="title"/>
          </p:nvPr>
        </p:nvSpPr>
        <p:spPr>
          <a:xfrm>
            <a:off x="521335" y="174887"/>
            <a:ext cx="9693182" cy="518795"/>
          </a:xfrm>
        </p:spPr>
        <p:txBody>
          <a:bodyPr>
            <a:noAutofit/>
          </a:bodyPr>
          <a:lstStyle/>
          <a:p>
            <a:r>
              <a:rPr lang="en-US" sz="2900" b="1">
                <a:solidFill>
                  <a:srgbClr val="1A3F4E"/>
                </a:solidFill>
                <a:latin typeface="BDO Grotesk DemiBold"/>
                <a:sym typeface="+mn-ea"/>
              </a:rPr>
              <a:t>Appendix </a:t>
            </a:r>
            <a:r>
              <a:rPr lang="en-US" sz="2900" b="1">
                <a:solidFill>
                  <a:srgbClr val="1A3F4E"/>
                </a:solidFill>
                <a:sym typeface="+mn-ea"/>
              </a:rPr>
              <a:t>II</a:t>
            </a:r>
            <a:r>
              <a:rPr lang="en-US" sz="2900" b="1">
                <a:solidFill>
                  <a:srgbClr val="1A3F4E"/>
                </a:solidFill>
                <a:latin typeface="BDO Grotesk DemiBold"/>
                <a:sym typeface="+mn-ea"/>
              </a:rPr>
              <a:t> – Data Points</a:t>
            </a:r>
          </a:p>
        </p:txBody>
      </p:sp>
      <p:sp>
        <p:nvSpPr>
          <p:cNvPr id="2" name="Slide Number Placeholder 1">
            <a:extLst>
              <a:ext uri="{FF2B5EF4-FFF2-40B4-BE49-F238E27FC236}">
                <a16:creationId xmlns:a16="http://schemas.microsoft.com/office/drawing/2014/main" id="{C2CB673E-A3BC-50E1-3D5B-7930E055D10E}"/>
              </a:ext>
            </a:extLst>
          </p:cNvPr>
          <p:cNvSpPr>
            <a:spLocks noGrp="1"/>
          </p:cNvSpPr>
          <p:nvPr>
            <p:ph type="sldNum" sz="quarter" idx="12"/>
          </p:nvPr>
        </p:nvSpPr>
        <p:spPr/>
        <p:txBody>
          <a:bodyPr/>
          <a:lstStyle/>
          <a:p>
            <a:fld id="{B3561BA9-CDCF-4958-B8AB-66F3BF063E13}" type="slidenum">
              <a:rPr lang="en-US" smtClean="0"/>
              <a:t>18</a:t>
            </a:fld>
            <a:endParaRPr lang="en-US"/>
          </a:p>
        </p:txBody>
      </p:sp>
      <p:sp>
        <p:nvSpPr>
          <p:cNvPr id="3" name="Rectangle 2">
            <a:extLst>
              <a:ext uri="{FF2B5EF4-FFF2-40B4-BE49-F238E27FC236}">
                <a16:creationId xmlns:a16="http://schemas.microsoft.com/office/drawing/2014/main" id="{E57B60B3-CA6E-D06B-2D57-574550A633F4}"/>
              </a:ext>
            </a:extLst>
          </p:cNvPr>
          <p:cNvSpPr/>
          <p:nvPr/>
        </p:nvSpPr>
        <p:spPr>
          <a:xfrm>
            <a:off x="521335" y="1112536"/>
            <a:ext cx="3020151" cy="5262979"/>
          </a:xfrm>
          <a:prstGeom prst="rect">
            <a:avLst/>
          </a:prstGeom>
        </p:spPr>
        <p:txBody>
          <a:bodyPr wrap="square" lIns="91440" tIns="45720" rIns="91440" bIns="45720" anchor="t">
            <a:spAutoFit/>
          </a:bodyPr>
          <a:lstStyle/>
          <a:p>
            <a:pPr marL="342900" indent="-342900">
              <a:buAutoNum type="arabicPeriod"/>
            </a:pPr>
            <a:r>
              <a:rPr lang="en-GB" sz="1200">
                <a:solidFill>
                  <a:srgbClr val="164055"/>
                </a:solidFill>
                <a:latin typeface="BDO Grotesk"/>
              </a:rPr>
              <a:t>Lenders</a:t>
            </a:r>
            <a:endParaRPr lang="en-GB">
              <a:solidFill>
                <a:srgbClr val="000000"/>
              </a:solidFill>
              <a:latin typeface="Calibri"/>
              <a:ea typeface="Calibri"/>
              <a:cs typeface="Calibri"/>
            </a:endParaRPr>
          </a:p>
          <a:p>
            <a:pPr marL="342900" indent="-342900">
              <a:buAutoNum type="arabicPeriod"/>
            </a:pPr>
            <a:r>
              <a:rPr lang="en-GB" sz="1200">
                <a:solidFill>
                  <a:srgbClr val="164055"/>
                </a:solidFill>
                <a:latin typeface="BDO Grotesk"/>
              </a:rPr>
              <a:t>Target</a:t>
            </a:r>
            <a:endParaRPr lang="en-GB"/>
          </a:p>
          <a:p>
            <a:pPr marL="342900" indent="-342900">
              <a:buAutoNum type="arabicPeriod"/>
            </a:pPr>
            <a:r>
              <a:rPr lang="en-GB" sz="1200">
                <a:solidFill>
                  <a:srgbClr val="164055"/>
                </a:solidFill>
                <a:latin typeface="BDO Grotesk"/>
              </a:rPr>
              <a:t>Sponsor(s)</a:t>
            </a:r>
            <a:endParaRPr lang="en-GB"/>
          </a:p>
          <a:p>
            <a:pPr marL="342900" indent="-342900">
              <a:buAutoNum type="arabicPeriod"/>
            </a:pPr>
            <a:r>
              <a:rPr lang="en-GB" sz="1200">
                <a:solidFill>
                  <a:srgbClr val="164055"/>
                </a:solidFill>
                <a:latin typeface="BDO Grotesk"/>
              </a:rPr>
              <a:t>Fund(s)</a:t>
            </a:r>
            <a:endParaRPr lang="en-GB"/>
          </a:p>
          <a:p>
            <a:pPr marL="342900" indent="-342900">
              <a:buAutoNum type="arabicPeriod"/>
            </a:pPr>
            <a:r>
              <a:rPr lang="en-GB" sz="1200">
                <a:solidFill>
                  <a:srgbClr val="164055"/>
                </a:solidFill>
                <a:latin typeface="BDO Grotesk"/>
              </a:rPr>
              <a:t>Estimated?</a:t>
            </a:r>
            <a:endParaRPr lang="en-GB"/>
          </a:p>
          <a:p>
            <a:pPr marL="342900" indent="-342900">
              <a:buAutoNum type="arabicPeriod"/>
            </a:pPr>
            <a:r>
              <a:rPr lang="en-GB" sz="1200">
                <a:solidFill>
                  <a:srgbClr val="164055"/>
                </a:solidFill>
                <a:latin typeface="BDO Grotesk"/>
              </a:rPr>
              <a:t>Deal date</a:t>
            </a:r>
            <a:endParaRPr lang="en-GB"/>
          </a:p>
          <a:p>
            <a:pPr marL="342900" indent="-342900">
              <a:buAutoNum type="arabicPeriod"/>
            </a:pPr>
            <a:r>
              <a:rPr lang="en-GB" sz="1200">
                <a:solidFill>
                  <a:srgbClr val="164055"/>
                </a:solidFill>
                <a:latin typeface="BDO Grotesk"/>
              </a:rPr>
              <a:t>Seller name</a:t>
            </a:r>
            <a:endParaRPr lang="en-GB"/>
          </a:p>
          <a:p>
            <a:pPr marL="342900" indent="-342900">
              <a:buAutoNum type="arabicPeriod"/>
            </a:pPr>
            <a:r>
              <a:rPr lang="en-GB" sz="1200">
                <a:solidFill>
                  <a:srgbClr val="164055"/>
                </a:solidFill>
                <a:latin typeface="BDO Grotesk"/>
              </a:rPr>
              <a:t>Seller type</a:t>
            </a:r>
            <a:endParaRPr lang="en-GB"/>
          </a:p>
          <a:p>
            <a:pPr marL="342900" indent="-342900">
              <a:buAutoNum type="arabicPeriod"/>
            </a:pPr>
            <a:r>
              <a:rPr lang="en-GB" sz="1200">
                <a:solidFill>
                  <a:srgbClr val="164055"/>
                </a:solidFill>
                <a:latin typeface="BDO Grotesk"/>
              </a:rPr>
              <a:t>Basic deal type</a:t>
            </a:r>
            <a:endParaRPr lang="en-GB"/>
          </a:p>
          <a:p>
            <a:pPr marL="342900" indent="-342900">
              <a:buAutoNum type="arabicPeriod"/>
            </a:pPr>
            <a:r>
              <a:rPr lang="en-GB" sz="1200">
                <a:solidFill>
                  <a:srgbClr val="164055"/>
                </a:solidFill>
                <a:latin typeface="BDO Grotesk"/>
              </a:rPr>
              <a:t>Advanced deal type</a:t>
            </a:r>
            <a:endParaRPr lang="en-GB"/>
          </a:p>
          <a:p>
            <a:pPr marL="342900" indent="-342900">
              <a:buAutoNum type="arabicPeriod"/>
            </a:pPr>
            <a:r>
              <a:rPr lang="en-GB" sz="1200" err="1">
                <a:solidFill>
                  <a:srgbClr val="164055"/>
                </a:solidFill>
                <a:latin typeface="BDO Grotesk"/>
              </a:rPr>
              <a:t>DealValueMillion</a:t>
            </a:r>
            <a:endParaRPr lang="en-GB" err="1"/>
          </a:p>
          <a:p>
            <a:pPr marL="342900" indent="-342900">
              <a:buAutoNum type="arabicPeriod"/>
            </a:pPr>
            <a:r>
              <a:rPr lang="en-GB" sz="1200" err="1">
                <a:solidFill>
                  <a:srgbClr val="164055"/>
                </a:solidFill>
                <a:latin typeface="BDO Grotesk"/>
              </a:rPr>
              <a:t>EuroConversion</a:t>
            </a:r>
            <a:endParaRPr lang="en-GB" err="1"/>
          </a:p>
          <a:p>
            <a:pPr marL="342900" indent="-342900">
              <a:buAutoNum type="arabicPeriod"/>
            </a:pPr>
            <a:r>
              <a:rPr lang="en-GB" sz="1200">
                <a:solidFill>
                  <a:srgbClr val="164055"/>
                </a:solidFill>
                <a:latin typeface="BDO Grotesk"/>
              </a:rPr>
              <a:t>Deal value (EURm)</a:t>
            </a:r>
            <a:endParaRPr lang="en-GB"/>
          </a:p>
          <a:p>
            <a:pPr marL="342900" indent="-342900">
              <a:buAutoNum type="arabicPeriod"/>
            </a:pPr>
            <a:r>
              <a:rPr lang="en-GB" sz="1200">
                <a:solidFill>
                  <a:srgbClr val="164055"/>
                </a:solidFill>
                <a:latin typeface="BDO Grotesk"/>
              </a:rPr>
              <a:t>Value range (EURm)</a:t>
            </a:r>
            <a:endParaRPr lang="en-GB"/>
          </a:p>
          <a:p>
            <a:pPr marL="342900" indent="-342900">
              <a:buAutoNum type="arabicPeriod"/>
            </a:pPr>
            <a:r>
              <a:rPr lang="en-GB" sz="1200">
                <a:solidFill>
                  <a:srgbClr val="164055"/>
                </a:solidFill>
                <a:latin typeface="BDO Grotesk"/>
              </a:rPr>
              <a:t>Currency</a:t>
            </a:r>
            <a:endParaRPr lang="en-GB"/>
          </a:p>
          <a:p>
            <a:pPr marL="342900" indent="-342900">
              <a:buAutoNum type="arabicPeriod"/>
            </a:pPr>
            <a:r>
              <a:rPr lang="en-GB" sz="1200">
                <a:solidFill>
                  <a:srgbClr val="164055"/>
                </a:solidFill>
                <a:latin typeface="BDO Grotesk"/>
              </a:rPr>
              <a:t>Turnover (m)</a:t>
            </a:r>
            <a:endParaRPr lang="en-GB"/>
          </a:p>
          <a:p>
            <a:pPr marL="342900" indent="-342900">
              <a:buAutoNum type="arabicPeriod"/>
            </a:pPr>
            <a:r>
              <a:rPr lang="en-GB" sz="1200">
                <a:solidFill>
                  <a:srgbClr val="164055"/>
                </a:solidFill>
                <a:latin typeface="BDO Grotesk"/>
              </a:rPr>
              <a:t>Profit (m)</a:t>
            </a:r>
            <a:endParaRPr lang="en-GB"/>
          </a:p>
          <a:p>
            <a:pPr marL="342900" indent="-342900">
              <a:buAutoNum type="arabicPeriod"/>
            </a:pPr>
            <a:r>
              <a:rPr lang="en-GB" sz="1200">
                <a:solidFill>
                  <a:srgbClr val="164055"/>
                </a:solidFill>
                <a:latin typeface="BDO Grotesk"/>
              </a:rPr>
              <a:t>Country</a:t>
            </a:r>
            <a:endParaRPr lang="en-GB"/>
          </a:p>
          <a:p>
            <a:pPr marL="342900" indent="-342900">
              <a:buAutoNum type="arabicPeriod"/>
            </a:pPr>
            <a:r>
              <a:rPr lang="en-GB" sz="1200">
                <a:solidFill>
                  <a:srgbClr val="164055"/>
                </a:solidFill>
                <a:latin typeface="BDO Grotesk"/>
              </a:rPr>
              <a:t>European region</a:t>
            </a:r>
            <a:endParaRPr lang="en-GB"/>
          </a:p>
          <a:p>
            <a:pPr marL="342900" indent="-342900">
              <a:buAutoNum type="arabicPeriod"/>
            </a:pPr>
            <a:r>
              <a:rPr lang="en-GB" sz="1200">
                <a:solidFill>
                  <a:srgbClr val="164055"/>
                </a:solidFill>
                <a:latin typeface="BDO Grotesk"/>
              </a:rPr>
              <a:t>UK region</a:t>
            </a:r>
            <a:endParaRPr lang="en-GB"/>
          </a:p>
          <a:p>
            <a:pPr marL="342900" indent="-342900">
              <a:buAutoNum type="arabicPeriod"/>
            </a:pPr>
            <a:r>
              <a:rPr lang="en-GB" sz="1200">
                <a:solidFill>
                  <a:srgbClr val="164055"/>
                </a:solidFill>
                <a:latin typeface="BDO Grotesk"/>
              </a:rPr>
              <a:t>Corporate finance (sell-side)</a:t>
            </a:r>
            <a:endParaRPr lang="en-GB"/>
          </a:p>
          <a:p>
            <a:pPr marL="342900" indent="-342900">
              <a:buAutoNum type="arabicPeriod"/>
            </a:pPr>
            <a:r>
              <a:rPr lang="en-GB" sz="1200">
                <a:solidFill>
                  <a:srgbClr val="164055"/>
                </a:solidFill>
                <a:latin typeface="BDO Grotesk"/>
              </a:rPr>
              <a:t>Corporate finance (all)</a:t>
            </a:r>
            <a:endParaRPr lang="en-GB"/>
          </a:p>
          <a:p>
            <a:pPr marL="342900" indent="-342900">
              <a:buAutoNum type="arabicPeriod"/>
            </a:pPr>
            <a:r>
              <a:rPr lang="en-GB" sz="1200">
                <a:solidFill>
                  <a:srgbClr val="164055"/>
                </a:solidFill>
                <a:latin typeface="BDO Grotesk"/>
              </a:rPr>
              <a:t>Legal</a:t>
            </a:r>
            <a:endParaRPr lang="en-GB"/>
          </a:p>
          <a:p>
            <a:pPr marL="342900" indent="-342900">
              <a:buAutoNum type="arabicPeriod"/>
            </a:pPr>
            <a:r>
              <a:rPr lang="en-GB" sz="1200">
                <a:solidFill>
                  <a:srgbClr val="164055"/>
                </a:solidFill>
                <a:latin typeface="BDO Grotesk"/>
              </a:rPr>
              <a:t>Financial/Tax DD</a:t>
            </a:r>
            <a:endParaRPr lang="en-GB"/>
          </a:p>
          <a:p>
            <a:pPr marL="342900" indent="-342900">
              <a:buAutoNum type="arabicPeriod"/>
            </a:pPr>
            <a:r>
              <a:rPr lang="en-GB" sz="1200">
                <a:solidFill>
                  <a:srgbClr val="164055"/>
                </a:solidFill>
                <a:latin typeface="BDO Grotesk"/>
              </a:rPr>
              <a:t>Commercial DD</a:t>
            </a:r>
            <a:endParaRPr lang="en-GB"/>
          </a:p>
          <a:p>
            <a:pPr marL="342900" indent="-342900">
              <a:buAutoNum type="arabicPeriod"/>
            </a:pPr>
            <a:r>
              <a:rPr lang="en-GB" sz="1200">
                <a:solidFill>
                  <a:srgbClr val="164055"/>
                </a:solidFill>
                <a:latin typeface="BDO Grotesk"/>
              </a:rPr>
              <a:t>Other DD</a:t>
            </a:r>
            <a:endParaRPr lang="en-GB"/>
          </a:p>
          <a:p>
            <a:pPr marL="342900" indent="-342900">
              <a:buAutoNum type="arabicPeriod"/>
            </a:pPr>
            <a:r>
              <a:rPr lang="en-GB" sz="1200">
                <a:solidFill>
                  <a:srgbClr val="164055"/>
                </a:solidFill>
                <a:latin typeface="BDO Grotesk"/>
              </a:rPr>
              <a:t>Sector</a:t>
            </a:r>
            <a:endParaRPr lang="en-GB"/>
          </a:p>
          <a:p>
            <a:pPr marL="342900" indent="-342900">
              <a:buAutoNum type="arabicPeriod"/>
            </a:pPr>
            <a:r>
              <a:rPr lang="en-GB" sz="1200">
                <a:solidFill>
                  <a:srgbClr val="164055"/>
                </a:solidFill>
                <a:latin typeface="BDO Grotesk"/>
              </a:rPr>
              <a:t>Sub-sector</a:t>
            </a:r>
            <a:endParaRPr lang="en-GB"/>
          </a:p>
        </p:txBody>
      </p:sp>
      <p:sp>
        <p:nvSpPr>
          <p:cNvPr id="9" name="Rectangle 8"/>
          <p:cNvSpPr/>
          <p:nvPr/>
        </p:nvSpPr>
        <p:spPr>
          <a:xfrm>
            <a:off x="7155132" y="1098158"/>
            <a:ext cx="4165600" cy="4524315"/>
          </a:xfrm>
          <a:prstGeom prst="rect">
            <a:avLst/>
          </a:prstGeom>
        </p:spPr>
        <p:txBody>
          <a:bodyPr wrap="square" lIns="91440" tIns="45720" rIns="91440" bIns="45720" anchor="t">
            <a:spAutoFit/>
          </a:bodyPr>
          <a:lstStyle/>
          <a:p>
            <a:pPr marL="342900" indent="-342900">
              <a:buAutoNum type="arabicPeriod"/>
            </a:pPr>
            <a:r>
              <a:rPr lang="en-GB" sz="1200">
                <a:solidFill>
                  <a:srgbClr val="164055"/>
                </a:solidFill>
                <a:latin typeface="BDO Grotesk"/>
              </a:rPr>
              <a:t>Confidence score</a:t>
            </a:r>
            <a:endParaRPr lang="en-US" sz="1200">
              <a:solidFill>
                <a:srgbClr val="164055"/>
              </a:solidFill>
              <a:latin typeface="BDO Grotesk"/>
            </a:endParaRPr>
          </a:p>
          <a:p>
            <a:pPr marL="342900" indent="-342900">
              <a:buAutoNum type="arabicPeriod"/>
            </a:pPr>
            <a:r>
              <a:rPr lang="en-GB" sz="1200">
                <a:solidFill>
                  <a:srgbClr val="164055"/>
                </a:solidFill>
                <a:latin typeface="BDO Grotesk"/>
              </a:rPr>
              <a:t>Extraction source</a:t>
            </a:r>
          </a:p>
          <a:p>
            <a:pPr marL="342900" indent="-342900">
              <a:buAutoNum type="arabicPeriod"/>
            </a:pPr>
            <a:r>
              <a:rPr lang="en-GB" sz="1200">
                <a:solidFill>
                  <a:srgbClr val="164055"/>
                </a:solidFill>
                <a:latin typeface="BDO Grotesk"/>
              </a:rPr>
              <a:t>Full/Partial</a:t>
            </a:r>
          </a:p>
          <a:p>
            <a:pPr marL="342900" indent="-342900">
              <a:buAutoNum type="arabicPeriod"/>
            </a:pPr>
            <a:r>
              <a:rPr lang="en-GB" sz="1200">
                <a:solidFill>
                  <a:srgbClr val="164055"/>
                </a:solidFill>
                <a:latin typeface="BDO Grotesk"/>
              </a:rPr>
              <a:t>Deal Nature / Context</a:t>
            </a:r>
          </a:p>
          <a:p>
            <a:pPr marL="342900" indent="-342900">
              <a:buAutoNum type="arabicPeriod"/>
            </a:pPr>
            <a:r>
              <a:rPr lang="en-GB" sz="1200">
                <a:solidFill>
                  <a:srgbClr val="164055"/>
                </a:solidFill>
                <a:latin typeface="BDO Grotesk"/>
              </a:rPr>
              <a:t>Transaction Role</a:t>
            </a:r>
          </a:p>
          <a:p>
            <a:pPr marL="342900" indent="-342900">
              <a:buAutoNum type="arabicPeriod"/>
            </a:pPr>
            <a:r>
              <a:rPr lang="en-GB" sz="1200">
                <a:solidFill>
                  <a:srgbClr val="164055"/>
                </a:solidFill>
                <a:latin typeface="BDO Grotesk"/>
              </a:rPr>
              <a:t>Buyer Type</a:t>
            </a:r>
          </a:p>
          <a:p>
            <a:pPr marL="342900" indent="-342900">
              <a:buAutoNum type="arabicPeriod"/>
            </a:pPr>
            <a:r>
              <a:rPr lang="en-GB" sz="1200">
                <a:solidFill>
                  <a:srgbClr val="164055"/>
                </a:solidFill>
                <a:latin typeface="BDO Grotesk"/>
              </a:rPr>
              <a:t>Turnover source</a:t>
            </a:r>
          </a:p>
          <a:p>
            <a:pPr marL="342900" indent="-342900">
              <a:buAutoNum type="arabicPeriod"/>
            </a:pPr>
            <a:r>
              <a:rPr lang="en-GB" sz="1200">
                <a:solidFill>
                  <a:srgbClr val="164055"/>
                </a:solidFill>
                <a:latin typeface="BDO Grotesk"/>
              </a:rPr>
              <a:t>Profit type</a:t>
            </a:r>
          </a:p>
          <a:p>
            <a:pPr marL="342900" indent="-342900">
              <a:buAutoNum type="arabicPeriod"/>
            </a:pPr>
            <a:r>
              <a:rPr lang="en-GB" sz="1200">
                <a:solidFill>
                  <a:srgbClr val="164055"/>
                </a:solidFill>
                <a:latin typeface="BDO Grotesk"/>
              </a:rPr>
              <a:t>Profit source</a:t>
            </a:r>
            <a:endParaRPr lang="en-US" sz="1200">
              <a:solidFill>
                <a:srgbClr val="164055"/>
              </a:solidFill>
              <a:latin typeface="BDO Grotesk"/>
            </a:endParaRPr>
          </a:p>
          <a:p>
            <a:pPr marL="342900" indent="-342900">
              <a:buAutoNum type="arabicPeriod" startAt="57"/>
            </a:pPr>
            <a:endParaRPr lang="en-GB" sz="1200">
              <a:solidFill>
                <a:srgbClr val="164055"/>
              </a:solidFill>
              <a:latin typeface="BDO Grotesk"/>
            </a:endParaRPr>
          </a:p>
          <a:p>
            <a:pPr marL="342900" indent="-342900">
              <a:buAutoNum type="arabicPeriod" startAt="57"/>
            </a:pPr>
            <a:endParaRPr lang="en-GB" sz="1200">
              <a:solidFill>
                <a:srgbClr val="164055"/>
              </a:solidFill>
              <a:latin typeface="BDO Grotesk"/>
            </a:endParaRPr>
          </a:p>
          <a:p>
            <a:pPr marL="342900" indent="-342900">
              <a:buAutoNum type="arabicPeriod" startAt="57"/>
            </a:pPr>
            <a:endParaRPr lang="en-GB" sz="1200">
              <a:solidFill>
                <a:srgbClr val="164055"/>
              </a:solidFill>
              <a:latin typeface="BDO Grotesk"/>
            </a:endParaRPr>
          </a:p>
          <a:p>
            <a:pPr marL="228600" indent="-228600">
              <a:buAutoNum type="arabicPeriod"/>
            </a:pPr>
            <a:r>
              <a:rPr lang="en-GB" sz="1200">
                <a:solidFill>
                  <a:srgbClr val="164055"/>
                </a:solidFill>
                <a:latin typeface="BDO Grotesk"/>
              </a:rPr>
              <a:t>Employee Count</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Customer Count / Reach</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Article Title</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Article Excerpt</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Article Body</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Article Tags</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Categories</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Rationale / Growth Objective</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Post-deal Plans</a:t>
            </a:r>
            <a:endParaRPr lang="en-US" sz="1200">
              <a:solidFill>
                <a:srgbClr val="164055"/>
              </a:solidFill>
              <a:latin typeface="BDO Grotesk"/>
            </a:endParaRPr>
          </a:p>
          <a:p>
            <a:pPr marL="228600" indent="-228600">
              <a:buAutoNum type="arabicPeriod"/>
            </a:pPr>
            <a:r>
              <a:rPr lang="en-GB" sz="1200">
                <a:solidFill>
                  <a:srgbClr val="164055"/>
                </a:solidFill>
                <a:latin typeface="BDO Grotesk"/>
              </a:rPr>
              <a:t>Board / Leadership Changes</a:t>
            </a:r>
            <a:endParaRPr lang="en-US" sz="1200">
              <a:solidFill>
                <a:srgbClr val="164055"/>
              </a:solidFill>
              <a:latin typeface="BDO Grotesk"/>
            </a:endParaRPr>
          </a:p>
          <a:p>
            <a:pPr marL="342900" indent="-342900">
              <a:buFontTx/>
              <a:buAutoNum type="arabicPeriod" startAt="57"/>
            </a:pPr>
            <a:endParaRPr lang="en-GB" sz="1200">
              <a:solidFill>
                <a:srgbClr val="164055"/>
              </a:solidFill>
              <a:latin typeface="BDO Grotesk"/>
            </a:endParaRPr>
          </a:p>
          <a:p>
            <a:pPr marL="342900" indent="-342900">
              <a:buFontTx/>
              <a:buAutoNum type="arabicPeriod" startAt="57"/>
            </a:pPr>
            <a:endParaRPr lang="en-GB" sz="1200">
              <a:solidFill>
                <a:srgbClr val="ED7D31"/>
              </a:solidFill>
              <a:latin typeface="BDO Grotesk"/>
            </a:endParaRPr>
          </a:p>
        </p:txBody>
      </p:sp>
      <p:sp>
        <p:nvSpPr>
          <p:cNvPr id="10" name="Rectangle 9"/>
          <p:cNvSpPr/>
          <p:nvPr/>
        </p:nvSpPr>
        <p:spPr>
          <a:xfrm>
            <a:off x="3542992" y="1112535"/>
            <a:ext cx="3251200" cy="5447645"/>
          </a:xfrm>
          <a:prstGeom prst="rect">
            <a:avLst/>
          </a:prstGeom>
        </p:spPr>
        <p:txBody>
          <a:bodyPr wrap="square" lIns="91440" tIns="45720" rIns="91440" bIns="45720" anchor="t">
            <a:spAutoFit/>
          </a:bodyPr>
          <a:lstStyle/>
          <a:p>
            <a:pPr marL="342900" indent="-342900">
              <a:buFont typeface="+mj-lt"/>
              <a:buAutoNum type="arabicPeriod" startAt="29"/>
            </a:pPr>
            <a:r>
              <a:rPr lang="en-US" sz="1200">
                <a:solidFill>
                  <a:srgbClr val="164055"/>
                </a:solidFill>
                <a:latin typeface="BDO Grotesk"/>
              </a:rPr>
              <a:t>Holding Period / Investment Duration</a:t>
            </a:r>
            <a:endParaRPr lang="en-US"/>
          </a:p>
          <a:p>
            <a:pPr marL="342900" indent="-342900">
              <a:buAutoNum type="arabicPeriod" startAt="29"/>
            </a:pPr>
            <a:r>
              <a:rPr lang="en-US" sz="1200">
                <a:solidFill>
                  <a:srgbClr val="164055"/>
                </a:solidFill>
                <a:latin typeface="BDO Grotesk"/>
              </a:rPr>
              <a:t>Fund size category</a:t>
            </a:r>
            <a:endParaRPr lang="en-US"/>
          </a:p>
          <a:p>
            <a:pPr marL="342900" indent="-342900">
              <a:buAutoNum type="arabicPeriod" startAt="29"/>
            </a:pPr>
            <a:r>
              <a:rPr lang="en-US" sz="1200">
                <a:solidFill>
                  <a:srgbClr val="164055"/>
                </a:solidFill>
                <a:latin typeface="BDO Grotesk"/>
              </a:rPr>
              <a:t>Region (derived)</a:t>
            </a:r>
            <a:endParaRPr lang="en-US"/>
          </a:p>
          <a:p>
            <a:pPr marL="342900" indent="-342900">
              <a:buAutoNum type="arabicPeriod" startAt="29"/>
            </a:pPr>
            <a:r>
              <a:rPr lang="en-US" sz="1200">
                <a:solidFill>
                  <a:srgbClr val="164055"/>
                </a:solidFill>
                <a:latin typeface="BDO Grotesk"/>
              </a:rPr>
              <a:t>Exit Rationale / </a:t>
            </a:r>
            <a:r>
              <a:rPr lang="en-US" sz="1200" err="1">
                <a:solidFill>
                  <a:srgbClr val="164055"/>
                </a:solidFill>
                <a:latin typeface="BDO Grotesk"/>
              </a:rPr>
              <a:t>Realisation</a:t>
            </a:r>
            <a:r>
              <a:rPr lang="en-US" sz="1200">
                <a:solidFill>
                  <a:srgbClr val="164055"/>
                </a:solidFill>
                <a:latin typeface="BDO Grotesk"/>
              </a:rPr>
              <a:t> Notes</a:t>
            </a:r>
            <a:endParaRPr lang="en-US"/>
          </a:p>
          <a:p>
            <a:pPr marL="342900" indent="-342900">
              <a:buAutoNum type="arabicPeriod" startAt="29"/>
            </a:pPr>
            <a:r>
              <a:rPr lang="en-US" sz="1200">
                <a:solidFill>
                  <a:srgbClr val="164055"/>
                </a:solidFill>
                <a:latin typeface="BDO Grotesk"/>
              </a:rPr>
              <a:t>Debt Adviser / Financing Source</a:t>
            </a:r>
            <a:endParaRPr lang="en-US"/>
          </a:p>
          <a:p>
            <a:pPr marL="342900" indent="-342900">
              <a:buAutoNum type="arabicPeriod" startAt="29"/>
            </a:pPr>
            <a:r>
              <a:rPr lang="en-US" sz="1200">
                <a:solidFill>
                  <a:srgbClr val="164055"/>
                </a:solidFill>
                <a:latin typeface="BDO Grotesk"/>
              </a:rPr>
              <a:t>Deal size bucket (derived)</a:t>
            </a:r>
            <a:endParaRPr lang="en-US"/>
          </a:p>
          <a:p>
            <a:pPr marL="342900" indent="-342900">
              <a:buAutoNum type="arabicPeriod" startAt="29"/>
            </a:pPr>
            <a:r>
              <a:rPr lang="en-US" sz="1200">
                <a:solidFill>
                  <a:srgbClr val="164055"/>
                </a:solidFill>
                <a:latin typeface="BDO Grotesk"/>
              </a:rPr>
              <a:t>Target Description</a:t>
            </a:r>
            <a:endParaRPr lang="en-US"/>
          </a:p>
          <a:p>
            <a:pPr marL="342900" indent="-342900">
              <a:buAutoNum type="arabicPeriod" startAt="29"/>
            </a:pPr>
            <a:r>
              <a:rPr lang="en-US" sz="1200">
                <a:solidFill>
                  <a:srgbClr val="164055"/>
                </a:solidFill>
                <a:latin typeface="BDO Grotesk"/>
              </a:rPr>
              <a:t>Founded Year</a:t>
            </a:r>
            <a:endParaRPr lang="en-US"/>
          </a:p>
          <a:p>
            <a:pPr marL="342900" indent="-342900">
              <a:buAutoNum type="arabicPeriod" startAt="29"/>
            </a:pPr>
            <a:r>
              <a:rPr lang="en-US" sz="1200">
                <a:solidFill>
                  <a:srgbClr val="164055"/>
                </a:solidFill>
                <a:latin typeface="BDO Grotesk"/>
              </a:rPr>
              <a:t>Headquarters City</a:t>
            </a:r>
            <a:endParaRPr lang="en-US"/>
          </a:p>
          <a:p>
            <a:pPr marL="342900" indent="-342900">
              <a:buAutoNum type="arabicPeriod" startAt="29"/>
            </a:pPr>
            <a:r>
              <a:rPr lang="en-US" sz="1200">
                <a:solidFill>
                  <a:srgbClr val="164055"/>
                </a:solidFill>
                <a:latin typeface="BDO Grotesk"/>
              </a:rPr>
              <a:t>Article Type</a:t>
            </a:r>
            <a:endParaRPr lang="en-US"/>
          </a:p>
          <a:p>
            <a:pPr marL="342900" indent="-342900">
              <a:buAutoNum type="arabicPeriod" startAt="29"/>
            </a:pPr>
            <a:r>
              <a:rPr lang="en-US" sz="1200">
                <a:solidFill>
                  <a:srgbClr val="164055"/>
                </a:solidFill>
                <a:latin typeface="BDO Grotesk"/>
              </a:rPr>
              <a:t>Author / Contributor</a:t>
            </a:r>
            <a:endParaRPr lang="en-US"/>
          </a:p>
          <a:p>
            <a:pPr marL="342900" indent="-342900">
              <a:buAutoNum type="arabicPeriod" startAt="29"/>
            </a:pPr>
            <a:r>
              <a:rPr lang="en-US" sz="1200">
                <a:solidFill>
                  <a:srgbClr val="164055"/>
                </a:solidFill>
                <a:latin typeface="BDO Grotesk"/>
              </a:rPr>
              <a:t>Publish Date</a:t>
            </a:r>
            <a:endParaRPr lang="en-US"/>
          </a:p>
          <a:p>
            <a:pPr marL="342900" indent="-342900">
              <a:buAutoNum type="arabicPeriod" startAt="29"/>
            </a:pPr>
            <a:r>
              <a:rPr lang="en-US" sz="1200">
                <a:solidFill>
                  <a:srgbClr val="164055"/>
                </a:solidFill>
                <a:latin typeface="BDO Grotesk"/>
              </a:rPr>
              <a:t>Headline Style Variant</a:t>
            </a:r>
            <a:endParaRPr lang="en-US"/>
          </a:p>
          <a:p>
            <a:pPr marL="342900" indent="-342900">
              <a:buAutoNum type="arabicPeriod" startAt="29"/>
            </a:pPr>
            <a:r>
              <a:rPr lang="en-US" sz="1200">
                <a:solidFill>
                  <a:srgbClr val="164055"/>
                </a:solidFill>
                <a:latin typeface="BDO Grotesk"/>
              </a:rPr>
              <a:t>Oil &amp; Gas</a:t>
            </a:r>
            <a:endParaRPr lang="en-US"/>
          </a:p>
          <a:p>
            <a:pPr marL="342900" indent="-342900">
              <a:buAutoNum type="arabicPeriod" startAt="29"/>
            </a:pPr>
            <a:r>
              <a:rPr lang="en-US" sz="1200">
                <a:solidFill>
                  <a:srgbClr val="164055"/>
                </a:solidFill>
                <a:latin typeface="BDO Grotesk"/>
              </a:rPr>
              <a:t>Industrials &amp; Basic Materials</a:t>
            </a:r>
            <a:endParaRPr lang="en-US"/>
          </a:p>
          <a:p>
            <a:pPr marL="342900" indent="-342900">
              <a:buAutoNum type="arabicPeriod" startAt="29"/>
            </a:pPr>
            <a:r>
              <a:rPr lang="en-US" sz="1200">
                <a:solidFill>
                  <a:srgbClr val="164055"/>
                </a:solidFill>
                <a:latin typeface="BDO Grotesk"/>
              </a:rPr>
              <a:t>Utilities</a:t>
            </a:r>
            <a:endParaRPr lang="en-US"/>
          </a:p>
          <a:p>
            <a:pPr marL="342900" indent="-342900">
              <a:buAutoNum type="arabicPeriod" startAt="29"/>
            </a:pPr>
            <a:r>
              <a:rPr lang="en-US" sz="1200">
                <a:solidFill>
                  <a:srgbClr val="164055"/>
                </a:solidFill>
                <a:latin typeface="BDO Grotesk"/>
              </a:rPr>
              <a:t>Consumer Goods &amp; Services</a:t>
            </a:r>
            <a:endParaRPr lang="en-US"/>
          </a:p>
          <a:p>
            <a:pPr marL="342900" indent="-342900">
              <a:buAutoNum type="arabicPeriod" startAt="29"/>
            </a:pPr>
            <a:r>
              <a:rPr lang="en-US" sz="1200">
                <a:solidFill>
                  <a:srgbClr val="164055"/>
                </a:solidFill>
                <a:latin typeface="BDO Grotesk"/>
              </a:rPr>
              <a:t>Business Services</a:t>
            </a:r>
            <a:endParaRPr lang="en-US"/>
          </a:p>
          <a:p>
            <a:pPr marL="342900" indent="-342900">
              <a:buAutoNum type="arabicPeriod" startAt="29"/>
            </a:pPr>
            <a:r>
              <a:rPr lang="en-US" sz="1200">
                <a:solidFill>
                  <a:srgbClr val="164055"/>
                </a:solidFill>
                <a:latin typeface="BDO Grotesk"/>
              </a:rPr>
              <a:t>Healthcare</a:t>
            </a:r>
            <a:endParaRPr lang="en-US"/>
          </a:p>
          <a:p>
            <a:pPr marL="342900" indent="-342900">
              <a:buAutoNum type="arabicPeriod" startAt="29"/>
            </a:pPr>
            <a:r>
              <a:rPr lang="en-US" sz="1200">
                <a:solidFill>
                  <a:srgbClr val="164055"/>
                </a:solidFill>
                <a:latin typeface="BDO Grotesk"/>
              </a:rPr>
              <a:t>Financials</a:t>
            </a:r>
            <a:endParaRPr lang="en-US"/>
          </a:p>
          <a:p>
            <a:pPr marL="342900" indent="-342900">
              <a:buAutoNum type="arabicPeriod" startAt="29"/>
            </a:pPr>
            <a:r>
              <a:rPr lang="en-US" sz="1200">
                <a:solidFill>
                  <a:srgbClr val="164055"/>
                </a:solidFill>
                <a:latin typeface="BDO Grotesk"/>
              </a:rPr>
              <a:t>Telecommunications</a:t>
            </a:r>
            <a:endParaRPr lang="en-US"/>
          </a:p>
          <a:p>
            <a:pPr marL="342900" indent="-342900">
              <a:buAutoNum type="arabicPeriod" startAt="29"/>
            </a:pPr>
            <a:r>
              <a:rPr lang="en-US" sz="1200">
                <a:solidFill>
                  <a:srgbClr val="164055"/>
                </a:solidFill>
                <a:latin typeface="BDO Grotesk"/>
              </a:rPr>
              <a:t>Technology</a:t>
            </a:r>
            <a:endParaRPr lang="en-US"/>
          </a:p>
          <a:p>
            <a:pPr marL="342900" indent="-342900">
              <a:buAutoNum type="arabicPeriod" startAt="29"/>
            </a:pPr>
            <a:r>
              <a:rPr lang="en-US" sz="1200">
                <a:solidFill>
                  <a:srgbClr val="164055"/>
                </a:solidFill>
                <a:latin typeface="BDO Grotesk"/>
              </a:rPr>
              <a:t>Energy &amp; Environment</a:t>
            </a:r>
            <a:endParaRPr lang="en-US"/>
          </a:p>
          <a:p>
            <a:pPr marL="342900" indent="-342900">
              <a:buAutoNum type="arabicPeriod" startAt="29"/>
            </a:pPr>
            <a:endParaRPr lang="en-US" sz="1200">
              <a:solidFill>
                <a:srgbClr val="164055"/>
              </a:solidFill>
              <a:latin typeface="BDO Grotesk"/>
            </a:endParaRPr>
          </a:p>
          <a:p>
            <a:pPr marL="342900" indent="-342900">
              <a:buAutoNum type="arabicPeriod" startAt="29"/>
            </a:pPr>
            <a:endParaRPr lang="en-US" sz="1200">
              <a:solidFill>
                <a:srgbClr val="164055"/>
              </a:solidFill>
              <a:latin typeface="BDO Grotesk"/>
            </a:endParaRPr>
          </a:p>
          <a:p>
            <a:pPr marL="342900" indent="-342900">
              <a:buAutoNum type="arabicPeriod" startAt="29"/>
            </a:pPr>
            <a:endParaRPr lang="en-US" sz="1200">
              <a:solidFill>
                <a:srgbClr val="164055"/>
              </a:solidFill>
              <a:latin typeface="BDO Grotesk"/>
            </a:endParaRPr>
          </a:p>
          <a:p>
            <a:pPr marL="342900" indent="-342900">
              <a:buAutoNum type="arabicPeriod" startAt="29"/>
            </a:pPr>
            <a:endParaRPr lang="en-US" sz="1200">
              <a:solidFill>
                <a:srgbClr val="164055"/>
              </a:solidFill>
              <a:latin typeface="BDO Grotesk"/>
            </a:endParaRPr>
          </a:p>
          <a:p>
            <a:endParaRPr lang="en-US" sz="1200">
              <a:solidFill>
                <a:srgbClr val="164055"/>
              </a:solidFill>
              <a:latin typeface="BDO Grotesk"/>
            </a:endParaRPr>
          </a:p>
          <a:p>
            <a:endParaRPr lang="en-GB" sz="1200">
              <a:solidFill>
                <a:srgbClr val="164055"/>
              </a:solidFill>
              <a:latin typeface="BDO Grotesk"/>
            </a:endParaRPr>
          </a:p>
        </p:txBody>
      </p:sp>
      <p:sp>
        <p:nvSpPr>
          <p:cNvPr id="8" name="TextBox 7">
            <a:extLst>
              <a:ext uri="{FF2B5EF4-FFF2-40B4-BE49-F238E27FC236}">
                <a16:creationId xmlns:a16="http://schemas.microsoft.com/office/drawing/2014/main" id="{B1107B64-F769-5DFA-3CA0-F406D9C00106}"/>
              </a:ext>
            </a:extLst>
          </p:cNvPr>
          <p:cNvSpPr txBox="1"/>
          <p:nvPr/>
        </p:nvSpPr>
        <p:spPr>
          <a:xfrm>
            <a:off x="517585" y="812321"/>
            <a:ext cx="217098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769467"/>
                </a:solidFill>
                <a:latin typeface="BDO Grotesk"/>
              </a:rPr>
              <a:t>From RDM Data Sample</a:t>
            </a:r>
            <a:r>
              <a:rPr sz="1400" b="1">
                <a:solidFill>
                  <a:srgbClr val="769467"/>
                </a:solidFill>
                <a:latin typeface="BDO Grotesk"/>
              </a:rPr>
              <a:t>​</a:t>
            </a:r>
            <a:endParaRPr lang="en-US" sz="1400" b="1">
              <a:solidFill>
                <a:srgbClr val="769467"/>
              </a:solidFill>
              <a:latin typeface="BDO Grotesk"/>
            </a:endParaRPr>
          </a:p>
          <a:p>
            <a:pPr algn="ctr"/>
            <a:endParaRPr lang="en-US"/>
          </a:p>
        </p:txBody>
      </p:sp>
      <p:sp>
        <p:nvSpPr>
          <p:cNvPr id="11" name="TextBox 10">
            <a:extLst>
              <a:ext uri="{FF2B5EF4-FFF2-40B4-BE49-F238E27FC236}">
                <a16:creationId xmlns:a16="http://schemas.microsoft.com/office/drawing/2014/main" id="{CDFF4AC1-8B42-B487-075B-9DB1B9B4C37A}"/>
              </a:ext>
            </a:extLst>
          </p:cNvPr>
          <p:cNvSpPr txBox="1"/>
          <p:nvPr/>
        </p:nvSpPr>
        <p:spPr>
          <a:xfrm>
            <a:off x="3536830" y="812320"/>
            <a:ext cx="21709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769467"/>
                </a:solidFill>
                <a:latin typeface="BDO Grotesk"/>
              </a:rPr>
              <a:t>From Screenshots Shared</a:t>
            </a:r>
            <a:endParaRPr lang="en-US" sz="1400" b="1">
              <a:solidFill>
                <a:srgbClr val="769467"/>
              </a:solidFill>
              <a:latin typeface="BDO Grotesk"/>
            </a:endParaRPr>
          </a:p>
          <a:p>
            <a:endParaRPr lang="en-US" sz="1400" b="1">
              <a:solidFill>
                <a:srgbClr val="769467"/>
              </a:solidFill>
              <a:latin typeface="BDO Grotesk"/>
            </a:endParaRPr>
          </a:p>
        </p:txBody>
      </p:sp>
      <p:sp>
        <p:nvSpPr>
          <p:cNvPr id="12" name="TextBox 11">
            <a:extLst>
              <a:ext uri="{FF2B5EF4-FFF2-40B4-BE49-F238E27FC236}">
                <a16:creationId xmlns:a16="http://schemas.microsoft.com/office/drawing/2014/main" id="{BF121C6B-2AE6-B60F-5AB1-DE8CA53CF5F2}"/>
              </a:ext>
            </a:extLst>
          </p:cNvPr>
          <p:cNvSpPr txBox="1"/>
          <p:nvPr/>
        </p:nvSpPr>
        <p:spPr>
          <a:xfrm>
            <a:off x="7159923" y="812319"/>
            <a:ext cx="34936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769467"/>
                </a:solidFill>
                <a:latin typeface="BDO Grotesk"/>
              </a:rPr>
              <a:t>Merit Suggested Fields for Deals Data</a:t>
            </a:r>
            <a:endParaRPr lang="en-US" sz="1400" b="1">
              <a:solidFill>
                <a:srgbClr val="769467"/>
              </a:solidFill>
              <a:latin typeface="BDO Grotesk"/>
            </a:endParaRPr>
          </a:p>
          <a:p>
            <a:pPr algn="ctr"/>
            <a:endParaRPr lang="en-US"/>
          </a:p>
        </p:txBody>
      </p:sp>
      <p:sp>
        <p:nvSpPr>
          <p:cNvPr id="15" name="Rectangle 14">
            <a:extLst>
              <a:ext uri="{FF2B5EF4-FFF2-40B4-BE49-F238E27FC236}">
                <a16:creationId xmlns:a16="http://schemas.microsoft.com/office/drawing/2014/main" id="{5F7A3ABF-64C6-4DAE-C903-5D77614A343F}"/>
              </a:ext>
            </a:extLst>
          </p:cNvPr>
          <p:cNvSpPr/>
          <p:nvPr/>
        </p:nvSpPr>
        <p:spPr>
          <a:xfrm>
            <a:off x="7155131" y="3168497"/>
            <a:ext cx="4165600" cy="276999"/>
          </a:xfrm>
          <a:prstGeom prst="rect">
            <a:avLst/>
          </a:prstGeom>
        </p:spPr>
        <p:txBody>
          <a:bodyPr wrap="square" lIns="91440" tIns="45720" rIns="91440" bIns="45720" anchor="t">
            <a:spAutoFit/>
          </a:bodyPr>
          <a:lstStyle/>
          <a:p>
            <a:pPr marL="342900" indent="-342900">
              <a:buAutoNum type="arabicPeriod" startAt="57"/>
            </a:pPr>
            <a:endParaRPr lang="en-GB" sz="1200">
              <a:solidFill>
                <a:srgbClr val="ED7D31"/>
              </a:solidFill>
              <a:latin typeface="BDO Grotesk"/>
            </a:endParaRPr>
          </a:p>
        </p:txBody>
      </p:sp>
      <p:sp>
        <p:nvSpPr>
          <p:cNvPr id="16" name="TextBox 15">
            <a:extLst>
              <a:ext uri="{FF2B5EF4-FFF2-40B4-BE49-F238E27FC236}">
                <a16:creationId xmlns:a16="http://schemas.microsoft.com/office/drawing/2014/main" id="{31A2653F-DB86-E3AA-0D38-759A37D141AB}"/>
              </a:ext>
            </a:extLst>
          </p:cNvPr>
          <p:cNvSpPr txBox="1"/>
          <p:nvPr/>
        </p:nvSpPr>
        <p:spPr>
          <a:xfrm>
            <a:off x="7159922" y="3012054"/>
            <a:ext cx="34936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769467"/>
                </a:solidFill>
                <a:latin typeface="BDO Grotesk"/>
              </a:rPr>
              <a:t>Merit Suggested Fields for Narrative</a:t>
            </a:r>
            <a:endParaRPr lang="en-US" sz="1400" b="1">
              <a:solidFill>
                <a:srgbClr val="769467"/>
              </a:solidFill>
              <a:latin typeface="BDO Grotesk"/>
            </a:endParaRPr>
          </a:p>
          <a:p>
            <a:pPr algn="ctr"/>
            <a:endParaRPr lang="en-US"/>
          </a:p>
        </p:txBody>
      </p:sp>
    </p:spTree>
    <p:extLst>
      <p:ext uri="{BB962C8B-B14F-4D97-AF65-F5344CB8AC3E}">
        <p14:creationId xmlns:p14="http://schemas.microsoft.com/office/powerpoint/2010/main" val="1178360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72FC-AE33-D1CF-B05C-02C6C6A434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01453B-B928-1926-9248-246E6BFF7704}"/>
              </a:ext>
            </a:extLst>
          </p:cNvPr>
          <p:cNvSpPr>
            <a:spLocks noGrp="1"/>
          </p:cNvSpPr>
          <p:nvPr>
            <p:ph type="title"/>
          </p:nvPr>
        </p:nvSpPr>
        <p:spPr>
          <a:xfrm>
            <a:off x="521335" y="374650"/>
            <a:ext cx="9693182" cy="518795"/>
          </a:xfrm>
        </p:spPr>
        <p:txBody>
          <a:bodyPr>
            <a:noAutofit/>
          </a:bodyPr>
          <a:lstStyle/>
          <a:p>
            <a:r>
              <a:rPr lang="en-US" sz="2900" b="1">
                <a:solidFill>
                  <a:srgbClr val="1A3F4E"/>
                </a:solidFill>
                <a:sym typeface="+mn-ea"/>
              </a:rPr>
              <a:t>Appendix III – Infrastructure Details During Setup</a:t>
            </a:r>
          </a:p>
        </p:txBody>
      </p:sp>
      <p:sp>
        <p:nvSpPr>
          <p:cNvPr id="2" name="Slide Number Placeholder 1">
            <a:extLst>
              <a:ext uri="{FF2B5EF4-FFF2-40B4-BE49-F238E27FC236}">
                <a16:creationId xmlns:a16="http://schemas.microsoft.com/office/drawing/2014/main" id="{427C2F86-BEBF-4E06-0FA5-DC5A2691BDC0}"/>
              </a:ext>
            </a:extLst>
          </p:cNvPr>
          <p:cNvSpPr>
            <a:spLocks noGrp="1"/>
          </p:cNvSpPr>
          <p:nvPr>
            <p:ph type="sldNum" sz="quarter" idx="12"/>
          </p:nvPr>
        </p:nvSpPr>
        <p:spPr/>
        <p:txBody>
          <a:bodyPr/>
          <a:lstStyle/>
          <a:p>
            <a:fld id="{B3561BA9-CDCF-4958-B8AB-66F3BF063E13}" type="slidenum">
              <a:rPr lang="en-US" smtClean="0"/>
              <a:t>19</a:t>
            </a:fld>
            <a:endParaRPr lang="en-US"/>
          </a:p>
        </p:txBody>
      </p:sp>
      <p:graphicFrame>
        <p:nvGraphicFramePr>
          <p:cNvPr id="5" name="Table 4">
            <a:extLst>
              <a:ext uri="{FF2B5EF4-FFF2-40B4-BE49-F238E27FC236}">
                <a16:creationId xmlns:a16="http://schemas.microsoft.com/office/drawing/2014/main" id="{BF70C33A-8D8B-21F7-B3BB-944745B7344A}"/>
              </a:ext>
            </a:extLst>
          </p:cNvPr>
          <p:cNvGraphicFramePr>
            <a:graphicFrameLocks noGrp="1"/>
          </p:cNvGraphicFramePr>
          <p:nvPr/>
        </p:nvGraphicFramePr>
        <p:xfrm>
          <a:off x="640828" y="1182081"/>
          <a:ext cx="10265230" cy="2438400"/>
        </p:xfrm>
        <a:graphic>
          <a:graphicData uri="http://schemas.openxmlformats.org/drawingml/2006/table">
            <a:tbl>
              <a:tblPr/>
              <a:tblGrid>
                <a:gridCol w="771795">
                  <a:extLst>
                    <a:ext uri="{9D8B030D-6E8A-4147-A177-3AD203B41FA5}">
                      <a16:colId xmlns:a16="http://schemas.microsoft.com/office/drawing/2014/main" val="348761346"/>
                    </a:ext>
                  </a:extLst>
                </a:gridCol>
                <a:gridCol w="3930835">
                  <a:extLst>
                    <a:ext uri="{9D8B030D-6E8A-4147-A177-3AD203B41FA5}">
                      <a16:colId xmlns:a16="http://schemas.microsoft.com/office/drawing/2014/main" val="3502354054"/>
                    </a:ext>
                  </a:extLst>
                </a:gridCol>
                <a:gridCol w="5562600">
                  <a:extLst>
                    <a:ext uri="{9D8B030D-6E8A-4147-A177-3AD203B41FA5}">
                      <a16:colId xmlns:a16="http://schemas.microsoft.com/office/drawing/2014/main" val="3639573486"/>
                    </a:ext>
                  </a:extLst>
                </a:gridCol>
              </a:tblGrid>
              <a:tr h="0">
                <a:tc>
                  <a:txBody>
                    <a:bodyPr/>
                    <a:lstStyle/>
                    <a:p>
                      <a:pPr marL="0" algn="l" defTabSz="914400" rtl="0" eaLnBrk="1" fontAlgn="b" latinLnBrk="0" hangingPunct="1"/>
                      <a:r>
                        <a:rPr lang="en-GB" sz="1400" b="1" kern="1200" err="1">
                          <a:solidFill>
                            <a:srgbClr val="164055"/>
                          </a:solidFill>
                          <a:latin typeface="BDO Grotesk" charset="0"/>
                          <a:ea typeface="+mn-ea"/>
                          <a:cs typeface="+mn-cs"/>
                        </a:rPr>
                        <a:t>S.No</a:t>
                      </a:r>
                      <a:endParaRPr lang="en-GB" sz="1400" b="1" kern="1200">
                        <a:solidFill>
                          <a:srgbClr val="164055"/>
                        </a:solidFill>
                        <a:latin typeface="BDO Grotesk"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algn="l" defTabSz="914400" rtl="0" eaLnBrk="1" fontAlgn="b" latinLnBrk="0" hangingPunct="1"/>
                      <a:r>
                        <a:rPr lang="en-GB" sz="1400" b="1" kern="1200">
                          <a:solidFill>
                            <a:srgbClr val="164055"/>
                          </a:solidFill>
                          <a:latin typeface="BDO Grotesk" charset="0"/>
                          <a:ea typeface="+mn-ea"/>
                          <a:cs typeface="+mn-cs"/>
                        </a:rPr>
                        <a:t>Infrastructure Used During POC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algn="l" defTabSz="914400" rtl="0" eaLnBrk="1" fontAlgn="b" latinLnBrk="0" hangingPunct="1"/>
                      <a:r>
                        <a:rPr lang="en-IN" sz="1400" b="1" kern="1200">
                          <a:solidFill>
                            <a:srgbClr val="164055"/>
                          </a:solidFill>
                          <a:latin typeface="BDO Grotesk" charset="0"/>
                          <a:ea typeface="+mn-ea"/>
                          <a:cs typeface="+mn-cs"/>
                        </a:rPr>
                        <a:t>Comments</a:t>
                      </a:r>
                      <a:endParaRPr lang="en-GB" sz="1400" b="1" kern="1200">
                        <a:solidFill>
                          <a:srgbClr val="164055"/>
                        </a:solidFill>
                        <a:latin typeface="BDO Grotesk"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1992036"/>
                  </a:ext>
                </a:extLst>
              </a:tr>
              <a:tr h="0">
                <a:tc>
                  <a:txBody>
                    <a:bodyPr/>
                    <a:lstStyle/>
                    <a:p>
                      <a:pPr algn="ctr" fontAlgn="ctr"/>
                      <a:r>
                        <a:rPr lang="en-GB" sz="1400" kern="1200">
                          <a:solidFill>
                            <a:srgbClr val="164055"/>
                          </a:solidFill>
                          <a:latin typeface="BDO Grotesk" charset="0"/>
                          <a:ea typeface="+mn-ea"/>
                          <a:cs typeface="+mn-cs"/>
                        </a:rPr>
                        <a:t>1</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Proxy Services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Region specific proxies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6417757"/>
                  </a:ext>
                </a:extLst>
              </a:tr>
              <a:tr h="0">
                <a:tc>
                  <a:txBody>
                    <a:bodyPr/>
                    <a:lstStyle/>
                    <a:p>
                      <a:pPr algn="ctr" fontAlgn="ctr"/>
                      <a:r>
                        <a:rPr lang="en-GB" sz="1400" kern="1200">
                          <a:solidFill>
                            <a:srgbClr val="164055"/>
                          </a:solidFill>
                          <a:latin typeface="BDO Grotesk" charset="0"/>
                          <a:ea typeface="+mn-ea"/>
                          <a:cs typeface="+mn-cs"/>
                        </a:rPr>
                        <a:t>2</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Virtual Machines(Ubuntu)</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B4as v2: 4 vCPUs, 16 GB RAM, 0 GB Temporary storage, £0.127/hour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683301"/>
                  </a:ext>
                </a:extLst>
              </a:tr>
              <a:tr h="0">
                <a:tc>
                  <a:txBody>
                    <a:bodyPr/>
                    <a:lstStyle/>
                    <a:p>
                      <a:pPr algn="ctr" fontAlgn="ctr"/>
                      <a:r>
                        <a:rPr lang="en-GB" sz="1400" kern="1200">
                          <a:solidFill>
                            <a:srgbClr val="164055"/>
                          </a:solidFill>
                          <a:latin typeface="BDO Grotesk" charset="0"/>
                          <a:ea typeface="+mn-ea"/>
                          <a:cs typeface="+mn-cs"/>
                        </a:rPr>
                        <a:t>3</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DB Server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D Series, 4 </a:t>
                      </a:r>
                      <a:r>
                        <a:rPr lang="en-GB" sz="1400" kern="1200" err="1">
                          <a:solidFill>
                            <a:srgbClr val="164055"/>
                          </a:solidFill>
                          <a:latin typeface="BDO Grotesk" charset="0"/>
                          <a:ea typeface="+mn-ea"/>
                          <a:cs typeface="+mn-cs"/>
                        </a:rPr>
                        <a:t>vCore</a:t>
                      </a:r>
                      <a:r>
                        <a:rPr lang="en-GB" sz="1400" kern="1200">
                          <a:solidFill>
                            <a:srgbClr val="164055"/>
                          </a:solidFill>
                          <a:latin typeface="BDO Grotesk" charset="0"/>
                          <a:ea typeface="+mn-ea"/>
                          <a:cs typeface="+mn-cs"/>
                        </a:rPr>
                        <a:t>, £0.2955/hour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327897"/>
                  </a:ext>
                </a:extLst>
              </a:tr>
              <a:tr h="0">
                <a:tc>
                  <a:txBody>
                    <a:bodyPr/>
                    <a:lstStyle/>
                    <a:p>
                      <a:pPr algn="ctr" fontAlgn="ctr"/>
                      <a:r>
                        <a:rPr lang="en-GB" sz="1400" kern="1200">
                          <a:solidFill>
                            <a:srgbClr val="164055"/>
                          </a:solidFill>
                          <a:latin typeface="BDO Grotesk" charset="0"/>
                          <a:ea typeface="+mn-ea"/>
                          <a:cs typeface="+mn-cs"/>
                        </a:rPr>
                        <a:t>4</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Storage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9780412"/>
                  </a:ext>
                </a:extLst>
              </a:tr>
              <a:tr h="0">
                <a:tc>
                  <a:txBody>
                    <a:bodyPr/>
                    <a:lstStyle/>
                    <a:p>
                      <a:pPr algn="ctr" fontAlgn="ctr"/>
                      <a:r>
                        <a:rPr lang="en-GB" sz="1400" kern="1200">
                          <a:solidFill>
                            <a:srgbClr val="164055"/>
                          </a:solidFill>
                          <a:latin typeface="BDO Grotesk" charset="0"/>
                          <a:ea typeface="+mn-ea"/>
                          <a:cs typeface="+mn-cs"/>
                        </a:rPr>
                        <a:t>5</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Backup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GB" sz="1400" kern="1200">
                        <a:solidFill>
                          <a:srgbClr val="164055"/>
                        </a:solidFill>
                        <a:latin typeface="BDO Grotesk"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3986032"/>
                  </a:ext>
                </a:extLst>
              </a:tr>
              <a:tr h="0">
                <a:tc>
                  <a:txBody>
                    <a:bodyPr/>
                    <a:lstStyle/>
                    <a:p>
                      <a:pPr algn="ctr" fontAlgn="ctr"/>
                      <a:r>
                        <a:rPr lang="en-GB" sz="1400" kern="1200">
                          <a:solidFill>
                            <a:srgbClr val="164055"/>
                          </a:solidFill>
                          <a:latin typeface="BDO Grotesk" charset="0"/>
                          <a:ea typeface="+mn-ea"/>
                          <a:cs typeface="+mn-cs"/>
                        </a:rPr>
                        <a:t>6</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err="1">
                          <a:solidFill>
                            <a:srgbClr val="164055"/>
                          </a:solidFill>
                          <a:latin typeface="BDO Grotesk" charset="0"/>
                          <a:ea typeface="+mn-ea"/>
                          <a:cs typeface="+mn-cs"/>
                        </a:rPr>
                        <a:t>Serper</a:t>
                      </a:r>
                      <a:r>
                        <a:rPr lang="en-GB" sz="1400" kern="1200">
                          <a:solidFill>
                            <a:srgbClr val="164055"/>
                          </a:solidFill>
                          <a:latin typeface="BDO Grotesk" charset="0"/>
                          <a:ea typeface="+mn-ea"/>
                          <a:cs typeface="+mn-cs"/>
                        </a:rPr>
                        <a:t>(Open Search) API</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GB" sz="1400" kern="1200">
                        <a:solidFill>
                          <a:srgbClr val="164055"/>
                        </a:solidFill>
                        <a:latin typeface="BDO Grotesk" charset="0"/>
                        <a:ea typeface="+mn-ea"/>
                        <a:cs typeface="+mn-cs"/>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5035577"/>
                  </a:ext>
                </a:extLst>
              </a:tr>
              <a:tr h="0">
                <a:tc>
                  <a:txBody>
                    <a:bodyPr/>
                    <a:lstStyle/>
                    <a:p>
                      <a:pPr algn="ctr" fontAlgn="ctr"/>
                      <a:r>
                        <a:rPr lang="en-IN" sz="1400" kern="1200">
                          <a:solidFill>
                            <a:srgbClr val="164055"/>
                          </a:solidFill>
                          <a:latin typeface="BDO Grotesk" charset="0"/>
                          <a:ea typeface="+mn-ea"/>
                          <a:cs typeface="+mn-cs"/>
                        </a:rPr>
                        <a:t>7</a:t>
                      </a:r>
                    </a:p>
                  </a:txBody>
                  <a:tcPr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Open AI Key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400" kern="1200">
                          <a:solidFill>
                            <a:srgbClr val="164055"/>
                          </a:solidFill>
                          <a:latin typeface="BDO Grotesk" charset="0"/>
                          <a:ea typeface="+mn-ea"/>
                          <a:cs typeface="+mn-cs"/>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6367259"/>
                  </a:ext>
                </a:extLst>
              </a:tr>
            </a:tbl>
          </a:graphicData>
        </a:graphic>
      </p:graphicFrame>
    </p:spTree>
    <p:extLst>
      <p:ext uri="{BB962C8B-B14F-4D97-AF65-F5344CB8AC3E}">
        <p14:creationId xmlns:p14="http://schemas.microsoft.com/office/powerpoint/2010/main" val="2670219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1_Office Theme</vt:lpstr>
      <vt:lpstr>PowerPoint Presentation</vt:lpstr>
      <vt:lpstr>Introduction</vt:lpstr>
      <vt:lpstr>Data Extraction Workflow</vt:lpstr>
      <vt:lpstr>End-to-End AI-Enabled Deal Data Processing Workflow</vt:lpstr>
      <vt:lpstr>Detailed Data Extraction Workflow</vt:lpstr>
      <vt:lpstr>PowerPoint Presentation</vt:lpstr>
      <vt:lpstr>POC Objectives</vt:lpstr>
      <vt:lpstr>POC Scope and Data Source Categories</vt:lpstr>
      <vt:lpstr>POC Steps and Estimates </vt:lpstr>
      <vt:lpstr>POC Key Milestones and Projected Timelines</vt:lpstr>
      <vt:lpstr>Scope and Data Source Categories For Full Phase</vt:lpstr>
      <vt:lpstr>Estimated Full Project Costs – High Level </vt:lpstr>
      <vt:lpstr>Estimated Recurring BAU Costs (Monthly) – High Level </vt:lpstr>
      <vt:lpstr>Key Milestones and Projected Timelines</vt:lpstr>
      <vt:lpstr>Assumptions</vt:lpstr>
      <vt:lpstr>Benefits</vt:lpstr>
      <vt:lpstr>Appendix I (List of Sources)</vt:lpstr>
      <vt:lpstr>Appendix II – Data Points</vt:lpstr>
      <vt:lpstr>Appendix III – Infrastructure Details During Setup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shubhampawar</dc:creator>
  <cp:revision>8</cp:revision>
  <dcterms:created xsi:type="dcterms:W3CDTF">2025-08-26T09:59:00Z</dcterms:created>
  <dcterms:modified xsi:type="dcterms:W3CDTF">2025-11-17T13:22:27Z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1033-10.2.0.5820</vt:lpwstr>
  </property>
</Properties>
</file>