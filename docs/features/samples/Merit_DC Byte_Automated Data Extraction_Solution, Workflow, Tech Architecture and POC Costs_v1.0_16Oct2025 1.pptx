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456" r:id="rId3"/>
    <p:sldId id="973" r:id="rId4"/>
    <p:sldId id="960" r:id="rId5"/>
    <p:sldId id="405" r:id="rId6"/>
    <p:sldId id="894" r:id="rId7"/>
    <p:sldId id="950" r:id="rId8"/>
    <p:sldId id="959" r:id="rId9"/>
    <p:sldId id="964" r:id="rId10"/>
    <p:sldId id="966" r:id="rId11"/>
    <p:sldId id="967" r:id="rId12"/>
    <p:sldId id="969" r:id="rId13"/>
    <p:sldId id="970" r:id="rId14"/>
    <p:sldId id="971" r:id="rId15"/>
    <p:sldId id="972" r:id="rId16"/>
    <p:sldId id="974" r:id="rId17"/>
    <p:sldId id="975" r:id="rId18"/>
    <p:sldId id="976" r:id="rId19"/>
    <p:sldId id="965" r:id="rId20"/>
    <p:sldId id="902" r:id="rId21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9467"/>
    <a:srgbClr val="71A178"/>
    <a:srgbClr val="164055"/>
    <a:srgbClr val="052F47"/>
    <a:srgbClr val="95BB81"/>
    <a:srgbClr val="023047"/>
    <a:srgbClr val="FFC000"/>
    <a:srgbClr val="C99906"/>
    <a:srgbClr val="567C63"/>
    <a:srgbClr val="E0AB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5AD64C-B452-6912-1F92-3DB0A215E13C}" v="507" dt="2025-10-15T16:09:06.446"/>
    <p1510:client id="{B5F769F0-24DC-8EFF-F44B-34D56677B144}" v="601" dt="2025-10-15T17:02:32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12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73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21" Type="http://schemas.openxmlformats.org/officeDocument/2006/relationships/image" Target="../media/image33.png"/><Relationship Id="rId34" Type="http://schemas.openxmlformats.org/officeDocument/2006/relationships/image" Target="../media/image4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32" Type="http://schemas.openxmlformats.org/officeDocument/2006/relationships/image" Target="../media/image44.png"/><Relationship Id="rId37" Type="http://schemas.openxmlformats.org/officeDocument/2006/relationships/image" Target="../media/image49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31" Type="http://schemas.openxmlformats.org/officeDocument/2006/relationships/image" Target="../media/image4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Relationship Id="rId35" Type="http://schemas.openxmlformats.org/officeDocument/2006/relationships/image" Target="../media/image47.png"/><Relationship Id="rId8" Type="http://schemas.openxmlformats.org/officeDocument/2006/relationships/image" Target="../media/image20.png"/><Relationship Id="rId3" Type="http://schemas.openxmlformats.org/officeDocument/2006/relationships/image" Target="../media/image15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8200" y="2047240"/>
            <a:ext cx="6230620" cy="424815"/>
          </a:xfrm>
        </p:spPr>
        <p:txBody>
          <a:bodyPr anchor="b">
            <a:noAutofit/>
          </a:bodyPr>
          <a:lstStyle>
            <a:lvl1pPr algn="l">
              <a:defRPr sz="2000" b="0">
                <a:solidFill>
                  <a:schemeClr val="bg1"/>
                </a:solidFill>
                <a:latin typeface="BDO Grotesk DemiBold" charset="0"/>
              </a:defRPr>
            </a:lvl1pPr>
          </a:lstStyle>
          <a:p>
            <a:r>
              <a:rPr lang="en-US"/>
              <a:t>Document Type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38200" y="2472055"/>
            <a:ext cx="7774940" cy="911860"/>
          </a:xfrm>
        </p:spPr>
        <p:txBody>
          <a:bodyPr>
            <a:noAutofit/>
          </a:bodyPr>
          <a:lstStyle>
            <a:lvl1pPr marL="0" indent="0" algn="l">
              <a:buNone/>
              <a:defRPr sz="4800" b="1">
                <a:solidFill>
                  <a:schemeClr val="bg1"/>
                </a:solidFill>
                <a:latin typeface="BDO Grotesk DemiBold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04825" y="51816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1335" y="374650"/>
            <a:ext cx="255651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dership bg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truction Cov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91160" y="41529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tomtive Cover">
    <p:bg>
      <p:bgPr>
        <a:blipFill rotWithShape="1">
          <a:blip r:embed="rId2"/>
          <a:stretch>
            <a:fillRect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1160" y="41529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y Cover">
    <p:bg>
      <p:bgPr>
        <a:blipFill rotWithShape="1">
          <a:blip r:embed="rId2"/>
          <a:stretch>
            <a:fillRect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466725" y="247396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Cover">
    <p:bg>
      <p:bgPr>
        <a:blipFill rotWithShape="1">
          <a:blip r:embed="rId2"/>
          <a:stretch>
            <a:fillRect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466725" y="247396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blish Cover">
    <p:bg>
      <p:bgPr>
        <a:blipFill rotWithShape="1">
          <a:blip r:embed="rId2"/>
          <a:stretch>
            <a:fillRect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466725" y="247396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1160" y="41529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17745" y="844550"/>
            <a:ext cx="255651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truction 1_Custom Layout">
    <p:bg>
      <p:bgPr>
        <a:blipFill rotWithShape="1">
          <a:blip r:embed="rId2"/>
          <a:stretch>
            <a:fillRect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03445" y="1974850"/>
            <a:ext cx="255651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rotWithShape="1">
          <a:blip r:embed="rId2"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9745" y="679450"/>
            <a:ext cx="255651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ster slide 1">
    <p:bg>
      <p:bgPr>
        <a:blipFill rotWithShape="1">
          <a:blip r:embed="rId2"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DO Grotesk" charset="0"/>
              </a:defRPr>
            </a:lvl1pPr>
            <a:lvl2pPr>
              <a:defRPr>
                <a:latin typeface="BDO Grotesk" charset="0"/>
              </a:defRPr>
            </a:lvl2pPr>
            <a:lvl3pPr>
              <a:defRPr>
                <a:latin typeface="BDO Grotesk" charset="0"/>
              </a:defRPr>
            </a:lvl3pPr>
            <a:lvl4pPr>
              <a:defRPr>
                <a:latin typeface="BDO Grotesk" charset="0"/>
              </a:defRPr>
            </a:lvl4pPr>
            <a:lvl5pPr>
              <a:defRPr>
                <a:latin typeface="BDO Grotes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2166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3">
    <p:bg>
      <p:bgPr>
        <a:blipFill rotWithShape="1">
          <a:blip r:embed="rId2"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7718612" y="1255712"/>
            <a:ext cx="4138426" cy="4346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Content</a:t>
            </a:r>
            <a:endParaRPr lang="en-GB"/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391160" y="41529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18907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BDO Grotesk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dership BG">
    <p:bg>
      <p:bgPr>
        <a:blipFill rotWithShape="1">
          <a:blip r:embed="rId2"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MAster Slide 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DO Grotesk" charset="0"/>
              </a:defRPr>
            </a:lvl1pPr>
            <a:lvl2pPr>
              <a:defRPr>
                <a:latin typeface="BDO Grotesk" charset="0"/>
              </a:defRPr>
            </a:lvl2pPr>
            <a:lvl3pPr>
              <a:defRPr>
                <a:latin typeface="BDO Grotesk" charset="0"/>
              </a:defRPr>
            </a:lvl3pPr>
            <a:lvl4pPr>
              <a:defRPr>
                <a:latin typeface="BDO Grotesk" charset="0"/>
              </a:defRPr>
            </a:lvl4pPr>
            <a:lvl5pPr>
              <a:defRPr>
                <a:latin typeface="BDO Grotes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BDO Grotesk" charset="0"/>
              </a:defRPr>
            </a:lvl1pPr>
            <a:lvl2pPr>
              <a:defRPr>
                <a:latin typeface="BDO Grotesk" charset="0"/>
              </a:defRPr>
            </a:lvl2pPr>
            <a:lvl3pPr>
              <a:defRPr>
                <a:latin typeface="BDO Grotesk" charset="0"/>
              </a:defRPr>
            </a:lvl3pPr>
            <a:lvl4pPr>
              <a:defRPr>
                <a:latin typeface="BDO Grotesk" charset="0"/>
              </a:defRPr>
            </a:lvl4pPr>
            <a:lvl5pPr>
              <a:defRPr>
                <a:latin typeface="BDO Grotes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Master slide  4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105" y="1861820"/>
            <a:ext cx="3931920" cy="980440"/>
          </a:xfrm>
        </p:spPr>
        <p:txBody>
          <a:bodyPr anchor="b"/>
          <a:lstStyle>
            <a:lvl1pPr>
              <a:defRPr sz="3200">
                <a:latin typeface="BDO Grotesk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505" y="1861820"/>
            <a:ext cx="6172200" cy="3999230"/>
          </a:xfrm>
        </p:spPr>
        <p:txBody>
          <a:bodyPr/>
          <a:lstStyle>
            <a:lvl1pPr marL="0" indent="0">
              <a:buNone/>
              <a:defRPr sz="3200">
                <a:latin typeface="BDO Grotesk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105" y="2842260"/>
            <a:ext cx="3931920" cy="3027045"/>
          </a:xfrm>
        </p:spPr>
        <p:txBody>
          <a:bodyPr/>
          <a:lstStyle>
            <a:lvl1pPr marL="0" indent="0">
              <a:buNone/>
              <a:defRPr sz="1600">
                <a:latin typeface="BDO Grotesk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it Line Arts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 userDrawn="1"/>
        </p:nvSpPr>
        <p:spPr>
          <a:xfrm>
            <a:off x="5196205" y="640080"/>
            <a:ext cx="1799590" cy="503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bg1"/>
                </a:solidFill>
                <a:latin typeface="BDO Grotesk DemiBold" charset="0"/>
                <a:ea typeface="+mj-ea"/>
                <a:cs typeface="+mj-cs"/>
              </a:defRPr>
            </a:lvl1pPr>
          </a:lstStyle>
          <a:p>
            <a:pPr algn="ctr"/>
            <a:r>
              <a:rPr lang="en-IN" altLang="en-US" sz="2900"/>
              <a:t>Line Arts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4490" y="1809115"/>
            <a:ext cx="1360805" cy="9709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09090" y="1856740"/>
            <a:ext cx="1226820" cy="8750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835910" y="1991995"/>
            <a:ext cx="1036320" cy="7397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975100" y="1856740"/>
            <a:ext cx="1077595" cy="7689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532120" y="1661795"/>
            <a:ext cx="1127760" cy="8045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453755" y="1991995"/>
            <a:ext cx="1209675" cy="7581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053320" y="2012950"/>
            <a:ext cx="977265" cy="69786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682105" y="2078990"/>
            <a:ext cx="1537970" cy="96710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28650" y="3046095"/>
            <a:ext cx="1096645" cy="78232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857375" y="2877185"/>
            <a:ext cx="1199515" cy="85598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109595" y="3128645"/>
            <a:ext cx="865505" cy="61722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879215" y="2877185"/>
            <a:ext cx="1270000" cy="90614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5149215" y="3077210"/>
            <a:ext cx="1009650" cy="72009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356350" y="3169285"/>
            <a:ext cx="808355" cy="57658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444105" y="3025775"/>
            <a:ext cx="1009650" cy="72009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8453755" y="3129280"/>
            <a:ext cx="935990" cy="66802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488170" y="3025775"/>
            <a:ext cx="1130300" cy="80645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787380" y="3165475"/>
            <a:ext cx="813435" cy="58039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780415" y="4105275"/>
            <a:ext cx="793750" cy="5664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948815" y="3945890"/>
            <a:ext cx="1016635" cy="72580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39160" y="3724275"/>
            <a:ext cx="1327785" cy="94742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5088890" y="3985260"/>
            <a:ext cx="1130300" cy="80645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6342380" y="4105275"/>
            <a:ext cx="822325" cy="58674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538085" y="4204970"/>
            <a:ext cx="822325" cy="58674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8639175" y="4256405"/>
            <a:ext cx="750570" cy="53530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9648825" y="4204970"/>
            <a:ext cx="808355" cy="57658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787380" y="4108450"/>
            <a:ext cx="813435" cy="58039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671830" y="4888865"/>
            <a:ext cx="1009650" cy="72009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1948815" y="4986655"/>
            <a:ext cx="735965" cy="525145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2979420" y="4801235"/>
            <a:ext cx="995680" cy="710565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4258310" y="4986655"/>
            <a:ext cx="794385" cy="56705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5422900" y="5083810"/>
            <a:ext cx="735965" cy="52514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6589395" y="4855210"/>
            <a:ext cx="1056005" cy="75374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972425" y="4966335"/>
            <a:ext cx="851535" cy="607695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9011920" y="4855210"/>
            <a:ext cx="889000" cy="634365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296525" y="4847590"/>
            <a:ext cx="866140" cy="617855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270" y="1905"/>
            <a:ext cx="12190095" cy="6868795"/>
          </a:xfrm>
          <a:prstGeom prst="rect">
            <a:avLst/>
          </a:prstGeom>
          <a:solidFill>
            <a:srgbClr val="16405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ormal Slid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9725" y="302260"/>
            <a:ext cx="729234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4369435" y="857250"/>
            <a:ext cx="2556510" cy="518795"/>
          </a:xfrm>
        </p:spPr>
        <p:txBody>
          <a:bodyPr>
            <a:noAutofit/>
          </a:bodyPr>
          <a:lstStyle/>
          <a:p>
            <a:r>
              <a:rPr lang="en-US" sz="2900">
                <a:solidFill>
                  <a:srgbClr val="1A3F4E"/>
                </a:solidFill>
                <a:sym typeface="+mn-ea"/>
              </a:rPr>
              <a:t>Title Header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rgbClr val="023047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1475740"/>
            <a:ext cx="10515600" cy="47015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37540" y="222250"/>
            <a:ext cx="9635490" cy="907415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DO Grotesk DemiBold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DO Grotesk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DO Grotesk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DO Grotesk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DO Grotesk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DO Grotesk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arcelsearch.org/virginia/?utm_source=chatgpt.com" TargetMode="External"/><Relationship Id="rId3" Type="http://schemas.openxmlformats.org/officeDocument/2006/relationships/hyperlink" Target="https://www.essexva.gov/clerk-circuit-court/page/land-records?utm_source=chatgpt.com" TargetMode="External"/><Relationship Id="rId7" Type="http://schemas.openxmlformats.org/officeDocument/2006/relationships/hyperlink" Target="https://www.registryofdeeds.org/virginia/?utm_source=chatgpt.com" TargetMode="External"/><Relationship Id="rId2" Type="http://schemas.openxmlformats.org/officeDocument/2006/relationships/hyperlink" Target="https://henrico.gov/services/recording-land-records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kwc.gov/361/Land-Records?utm_source=chatgpt.com" TargetMode="External"/><Relationship Id="rId5" Type="http://schemas.openxmlformats.org/officeDocument/2006/relationships/hyperlink" Target="https://www.roanokecountyva.gov/425/Real-Estate-Records?utm_source=chatgpt.com" TargetMode="External"/><Relationship Id="rId4" Type="http://schemas.openxmlformats.org/officeDocument/2006/relationships/hyperlink" Target="https://sussexcountyva.gov/department/clerk-of-circuit-court/online-access-to-land-records/?utm_source=chatgpt.com" TargetMode="External"/><Relationship Id="rId9" Type="http://schemas.openxmlformats.org/officeDocument/2006/relationships/hyperlink" Target="https://comptroller.texas.gov/taxes/data-centers/data-center-lists.php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82038" y="1676603"/>
            <a:ext cx="10271762" cy="133794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3000" b="0">
                <a:solidFill>
                  <a:srgbClr val="1A3F4E"/>
                </a:solidFill>
                <a:latin typeface="BDO Grotesk Black"/>
                <a:ea typeface="Calibri"/>
                <a:cs typeface="Times New Roman"/>
                <a:sym typeface="+mn-ea"/>
              </a:rPr>
              <a:t>Automated Data Extraction Solution for Real Estate Transactions </a:t>
            </a:r>
            <a:r>
              <a:rPr lang="en-IN" sz="2800" b="0">
                <a:solidFill>
                  <a:srgbClr val="769467"/>
                </a:solidFill>
                <a:latin typeface="BDO Grotesk" charset="0"/>
                <a:sym typeface="+mn-ea"/>
              </a:rPr>
              <a:t>Solution Workflow, Architecture &amp; POC Costs </a:t>
            </a:r>
            <a:endParaRPr lang="en-US" sz="2800" b="0">
              <a:solidFill>
                <a:srgbClr val="769467"/>
              </a:solidFill>
              <a:latin typeface="BDO Grotesk" charset="0"/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1186969" y="3001083"/>
            <a:ext cx="1957705" cy="3778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latin typeface="BDO Grotesk DemiBold" charset="0"/>
              </a:defRPr>
            </a:lvl1pPr>
          </a:lstStyle>
          <a:p>
            <a:r>
              <a:rPr lang="en-IN" altLang="en-US" sz="1800" dirty="0">
                <a:solidFill>
                  <a:srgbClr val="1A3F4E"/>
                </a:solidFill>
                <a:latin typeface="BDO Grotesk Black"/>
                <a:cs typeface="Times New Roman"/>
              </a:rPr>
              <a:t>For DC Byte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74DF7-1B76-957E-43F6-B1F0ED75A7B8}"/>
              </a:ext>
            </a:extLst>
          </p:cNvPr>
          <p:cNvSpPr>
            <a:spLocks noGrp="1"/>
          </p:cNvSpPr>
          <p:nvPr/>
        </p:nvSpPr>
        <p:spPr>
          <a:xfrm>
            <a:off x="10446756" y="6480175"/>
            <a:ext cx="3700168" cy="3778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latin typeface="BDO Grotesk DemiBold" charset="0"/>
              </a:defRPr>
            </a:lvl1pPr>
          </a:lstStyle>
          <a:p>
            <a:r>
              <a:rPr lang="en-IN" altLang="en-US" sz="1200" dirty="0">
                <a:solidFill>
                  <a:srgbClr val="1A3F4E"/>
                </a:solidFill>
                <a:latin typeface="BDO Grotesk Black" charset="0"/>
                <a:cs typeface="Times New Roman" panose="02020603050405020304" pitchFamily="18" charset="0"/>
              </a:rPr>
              <a:t>Version 1.0 </a:t>
            </a:r>
            <a:r>
              <a:rPr lang="en-IN" altLang="en-US" sz="1200" dirty="0" smtClean="0">
                <a:solidFill>
                  <a:srgbClr val="1A3F4E"/>
                </a:solidFill>
                <a:latin typeface="BDO Grotesk Black" charset="0"/>
                <a:cs typeface="Times New Roman" panose="02020603050405020304" pitchFamily="18" charset="0"/>
              </a:rPr>
              <a:t>16Oct2025</a:t>
            </a:r>
            <a:endParaRPr lang="en-IN" altLang="en-US" sz="1200" dirty="0">
              <a:solidFill>
                <a:srgbClr val="1A3F4E"/>
              </a:solidFill>
              <a:latin typeface="BDO Grotesk Black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639261" y="1324882"/>
            <a:ext cx="10913478" cy="4237718"/>
          </a:xfrm>
        </p:spPr>
        <p:txBody>
          <a:bodyPr>
            <a:noAutofit/>
          </a:bodyPr>
          <a:lstStyle/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GB" sz="1600">
                <a:solidFill>
                  <a:srgbClr val="052F47"/>
                </a:solidFill>
              </a:rPr>
              <a:t>To demonstrate Merit capabilities to automate the end-to-end data collection and extraction process from various online sources and enrichment of data through primary and secondary manual research: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endParaRPr lang="en-GB" sz="1600">
              <a:solidFill>
                <a:srgbClr val="052F47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400">
              <a:solidFill>
                <a:srgbClr val="052F47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3"/>
              </a:buBlip>
            </a:pPr>
            <a:endParaRPr lang="en-IN" sz="1400" b="0">
              <a:solidFill>
                <a:srgbClr val="1A3F4E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3"/>
              </a:buBlip>
            </a:pPr>
            <a:endParaRPr lang="en-IN" sz="1400" b="0">
              <a:solidFill>
                <a:srgbClr val="1A3F4E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4700" y="443900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>
                <a:solidFill>
                  <a:srgbClr val="1A3F4E"/>
                </a:solidFill>
                <a:sym typeface="+mn-ea"/>
              </a:rPr>
              <a:t>POC Objectives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2</a:t>
            </a:fld>
            <a:endParaRPr lang="en-US"/>
          </a:p>
        </p:txBody>
      </p:sp>
      <p:sp>
        <p:nvSpPr>
          <p:cNvPr id="7" name="Text Placeholder 2"/>
          <p:cNvSpPr>
            <a:spLocks noGrp="1"/>
          </p:cNvSpPr>
          <p:nvPr/>
        </p:nvSpPr>
        <p:spPr>
          <a:xfrm>
            <a:off x="639261" y="2238058"/>
            <a:ext cx="10913478" cy="35534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55650" indent="-347663">
              <a:lnSpc>
                <a:spcPts val="2100"/>
              </a:lnSpc>
              <a:spcBef>
                <a:spcPts val="0"/>
              </a:spcBef>
              <a:buBlip>
                <a:blip r:embed="rId4"/>
              </a:buBlip>
            </a:pPr>
            <a:r>
              <a:rPr lang="en-GB" sz="1600" b="1">
                <a:solidFill>
                  <a:srgbClr val="769467"/>
                </a:solidFill>
              </a:rPr>
              <a:t>Monitor sources and aggregate data at scale </a:t>
            </a:r>
            <a:r>
              <a:rPr lang="en-GB" sz="1600">
                <a:solidFill>
                  <a:srgbClr val="164055"/>
                </a:solidFill>
              </a:rPr>
              <a:t>from diverse global online and offline sources</a:t>
            </a:r>
          </a:p>
          <a:p>
            <a:pPr marL="407987" indent="0">
              <a:lnSpc>
                <a:spcPts val="2100"/>
              </a:lnSpc>
              <a:spcBef>
                <a:spcPts val="0"/>
              </a:spcBef>
              <a:buNone/>
            </a:pPr>
            <a:endParaRPr lang="en-IN" sz="1600" b="0">
              <a:solidFill>
                <a:srgbClr val="164055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 marL="755650" indent="-347663">
              <a:lnSpc>
                <a:spcPts val="2100"/>
              </a:lnSpc>
              <a:spcBef>
                <a:spcPts val="0"/>
              </a:spcBef>
              <a:buBlip>
                <a:blip r:embed="rId4"/>
              </a:buBlip>
            </a:pPr>
            <a:r>
              <a:rPr lang="en-GB" sz="1600" b="1">
                <a:solidFill>
                  <a:srgbClr val="769467"/>
                </a:solidFill>
              </a:rPr>
              <a:t>Ensures completeness </a:t>
            </a:r>
            <a:r>
              <a:rPr lang="en-GB" sz="1600">
                <a:solidFill>
                  <a:srgbClr val="164055"/>
                </a:solidFill>
              </a:rPr>
              <a:t>by covering both public and private sources</a:t>
            </a:r>
            <a:endParaRPr lang="en-IN" sz="1600">
              <a:solidFill>
                <a:srgbClr val="164055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 marL="755650" marR="0" indent="-347663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IN" sz="1600" b="0">
              <a:solidFill>
                <a:srgbClr val="164055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 marL="755650" indent="-347663">
              <a:lnSpc>
                <a:spcPts val="2100"/>
              </a:lnSpc>
              <a:spcBef>
                <a:spcPts val="0"/>
              </a:spcBef>
              <a:buBlip>
                <a:blip r:embed="rId4"/>
              </a:buBlip>
            </a:pPr>
            <a:r>
              <a:rPr lang="en-GB" sz="1600" b="1">
                <a:solidFill>
                  <a:srgbClr val="769467"/>
                </a:solidFill>
              </a:rPr>
              <a:t>Guarantees accuracy </a:t>
            </a:r>
            <a:r>
              <a:rPr lang="en-GB" sz="1600">
                <a:solidFill>
                  <a:srgbClr val="164055"/>
                </a:solidFill>
              </a:rPr>
              <a:t>through de-duplication and normalisation using automated validation checks and manual QC</a:t>
            </a:r>
            <a:endParaRPr lang="en-IN" sz="1600">
              <a:solidFill>
                <a:srgbClr val="164055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 marL="407987" indent="0">
              <a:lnSpc>
                <a:spcPts val="2100"/>
              </a:lnSpc>
              <a:spcBef>
                <a:spcPts val="0"/>
              </a:spcBef>
              <a:buNone/>
            </a:pPr>
            <a:endParaRPr lang="en-IN" sz="1600">
              <a:solidFill>
                <a:srgbClr val="164055"/>
              </a:solidFill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 marL="755650" indent="-347663">
              <a:lnSpc>
                <a:spcPts val="2100"/>
              </a:lnSpc>
              <a:spcBef>
                <a:spcPts val="0"/>
              </a:spcBef>
              <a:buBlip>
                <a:blip r:embed="rId4"/>
              </a:buBlip>
            </a:pPr>
            <a:r>
              <a:rPr lang="en-US" sz="1600" b="1">
                <a:solidFill>
                  <a:srgbClr val="769467"/>
                </a:solidFill>
              </a:rPr>
              <a:t>Enriches content through multi-lingual discovery </a:t>
            </a:r>
            <a:r>
              <a:rPr lang="en-US" sz="1600">
                <a:solidFill>
                  <a:srgbClr val="164055"/>
                </a:solidFill>
              </a:rPr>
              <a:t>using geo-specific keywords and native languages</a:t>
            </a:r>
          </a:p>
          <a:p>
            <a:pPr marL="407987" indent="0">
              <a:lnSpc>
                <a:spcPts val="2100"/>
              </a:lnSpc>
              <a:spcBef>
                <a:spcPts val="0"/>
              </a:spcBef>
              <a:buNone/>
            </a:pPr>
            <a:endParaRPr lang="en-US" sz="1600">
              <a:solidFill>
                <a:srgbClr val="164055"/>
              </a:solidFill>
            </a:endParaRPr>
          </a:p>
          <a:p>
            <a:pPr marL="755650" indent="-347663">
              <a:lnSpc>
                <a:spcPts val="2100"/>
              </a:lnSpc>
              <a:spcBef>
                <a:spcPts val="0"/>
              </a:spcBef>
              <a:buBlip>
                <a:blip r:embed="rId4"/>
              </a:buBlip>
            </a:pPr>
            <a:r>
              <a:rPr lang="en-US" sz="1600" b="1">
                <a:solidFill>
                  <a:srgbClr val="769467"/>
                </a:solidFill>
              </a:rPr>
              <a:t>Value added content </a:t>
            </a:r>
            <a:r>
              <a:rPr lang="en-US" sz="1600">
                <a:solidFill>
                  <a:srgbClr val="164055"/>
                </a:solidFill>
              </a:rPr>
              <a:t>through additional manual research (primary and secondary) for missing details </a:t>
            </a:r>
          </a:p>
          <a:p>
            <a:pPr marL="755650" indent="-347663">
              <a:lnSpc>
                <a:spcPts val="2100"/>
              </a:lnSpc>
              <a:spcBef>
                <a:spcPts val="0"/>
              </a:spcBef>
              <a:buBlip>
                <a:blip r:embed="rId4"/>
              </a:buBlip>
            </a:pPr>
            <a:endParaRPr lang="en-US" sz="1600">
              <a:solidFill>
                <a:srgbClr val="164055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 marL="755650" indent="-347663">
              <a:lnSpc>
                <a:spcPts val="2100"/>
              </a:lnSpc>
              <a:spcBef>
                <a:spcPts val="0"/>
              </a:spcBef>
              <a:buBlip>
                <a:blip r:embed="rId4"/>
              </a:buBlip>
            </a:pPr>
            <a:r>
              <a:rPr lang="en-US" sz="1600" b="1">
                <a:solidFill>
                  <a:srgbClr val="769467"/>
                </a:solidFill>
              </a:rPr>
              <a:t>Consistently delivers a structured dataset </a:t>
            </a:r>
            <a:r>
              <a:rPr lang="en-US" sz="1600">
                <a:solidFill>
                  <a:srgbClr val="164055"/>
                </a:solidFill>
              </a:rPr>
              <a:t>enriched with metadata, which can be queried</a:t>
            </a:r>
            <a:endParaRPr lang="en-IN" sz="1600">
              <a:solidFill>
                <a:srgbClr val="164055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3"/>
              </a:buBlip>
            </a:pPr>
            <a:endParaRPr lang="en-IN" sz="1600" b="0">
              <a:solidFill>
                <a:srgbClr val="1A3F4E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3"/>
              </a:buBlip>
            </a:pPr>
            <a:endParaRPr lang="en-IN" sz="1400" b="0">
              <a:solidFill>
                <a:srgbClr val="1A3F4E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335" y="241843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A3F4E"/>
                </a:solidFill>
                <a:sym typeface="+mn-ea"/>
              </a:rPr>
              <a:t>POC Scope and Data Source Categories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3</a:t>
            </a:fld>
            <a:endParaRPr lang="en-US"/>
          </a:p>
        </p:txBody>
      </p:sp>
      <p:sp>
        <p:nvSpPr>
          <p:cNvPr id="7" name="Text Placeholder 2"/>
          <p:cNvSpPr>
            <a:spLocks noGrp="1"/>
          </p:cNvSpPr>
          <p:nvPr/>
        </p:nvSpPr>
        <p:spPr>
          <a:xfrm>
            <a:off x="386118" y="1745505"/>
            <a:ext cx="11625411" cy="42390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spcBef>
                <a:spcPts val="0"/>
              </a:spcBef>
              <a:buBlip>
                <a:blip r:embed="rId2"/>
              </a:buBlip>
            </a:pPr>
            <a:r>
              <a:rPr lang="en-GB" sz="1400" b="1" dirty="0">
                <a:solidFill>
                  <a:srgbClr val="769467"/>
                </a:solidFill>
                <a:latin typeface="BDO Grotesk"/>
              </a:rPr>
              <a:t>Search &amp; Discovery Methods:</a:t>
            </a:r>
            <a:r>
              <a:rPr lang="en-GB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BDO Grotesk"/>
              </a:rPr>
              <a:t>  </a:t>
            </a:r>
            <a:r>
              <a:rPr lang="en-GB" sz="1400" b="1" dirty="0">
                <a:solidFill>
                  <a:srgbClr val="164055"/>
                </a:solidFill>
                <a:latin typeface="BDO Grotesk"/>
              </a:rPr>
              <a:t>SERP API (Google/Bing), OpenSearch</a:t>
            </a:r>
            <a:r>
              <a:rPr lang="en-GB" sz="1400" dirty="0">
                <a:solidFill>
                  <a:srgbClr val="164055"/>
                </a:solidFill>
                <a:latin typeface="BDO Grotesk"/>
              </a:rPr>
              <a:t>, </a:t>
            </a:r>
            <a:r>
              <a:rPr lang="en-IN" sz="1400" dirty="0">
                <a:solidFill>
                  <a:srgbClr val="164055"/>
                </a:solidFill>
                <a:latin typeface="BDO Grotesk"/>
                <a:cs typeface="Times New Roman"/>
                <a:sym typeface="+mn-ea"/>
              </a:rPr>
              <a:t>manual primary and secondary research (non-public sources</a:t>
            </a:r>
            <a:r>
              <a:rPr lang="en-IN" sz="1400" dirty="0" smtClean="0">
                <a:solidFill>
                  <a:srgbClr val="164055"/>
                </a:solidFill>
                <a:latin typeface="BDO Grotesk"/>
                <a:cs typeface="Times New Roman"/>
                <a:sym typeface="+mn-ea"/>
              </a:rPr>
              <a:t>) – up to 20 </a:t>
            </a:r>
            <a:r>
              <a:rPr lang="en-IN" sz="1400" dirty="0">
                <a:solidFill>
                  <a:srgbClr val="164055"/>
                </a:solidFill>
                <a:latin typeface="BDO Grotesk"/>
                <a:cs typeface="Times New Roman"/>
                <a:sym typeface="+mn-ea"/>
              </a:rPr>
              <a:t>pages</a:t>
            </a:r>
            <a:endParaRPr lang="en-IN" sz="1400" dirty="0">
              <a:solidFill>
                <a:srgbClr val="164055"/>
              </a:solidFill>
              <a:effectLst/>
              <a:ea typeface="Calibri" panose="020F0502020204030204" charset="0"/>
              <a:cs typeface="Times New Roman"/>
              <a:sym typeface="+mn-ea"/>
            </a:endParaRPr>
          </a:p>
          <a:p>
            <a:pPr>
              <a:lnSpc>
                <a:spcPts val="1800"/>
              </a:lnSpc>
              <a:spcBef>
                <a:spcPts val="0"/>
              </a:spcBef>
              <a:buBlip>
                <a:blip r:embed="rId2"/>
              </a:buBlip>
            </a:pPr>
            <a:endParaRPr lang="en-GB" sz="1400" b="1" dirty="0" smtClean="0">
              <a:solidFill>
                <a:srgbClr val="769467"/>
              </a:solidFill>
              <a:latin typeface="BDO Grotesk"/>
              <a:ea typeface="Times New Roman" panose="02020603050405020304" pitchFamily="18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  <a:buBlip>
                <a:blip r:embed="rId2"/>
              </a:buBlip>
            </a:pPr>
            <a:r>
              <a:rPr lang="en-GB" sz="1400" b="1" dirty="0" smtClean="0">
                <a:solidFill>
                  <a:srgbClr val="769467"/>
                </a:solidFill>
                <a:latin typeface="BDO Grotesk"/>
                <a:ea typeface="Times New Roman" panose="02020603050405020304" pitchFamily="18" charset="0"/>
              </a:rPr>
              <a:t>LinkedIn</a:t>
            </a:r>
            <a:r>
              <a:rPr lang="en-GB" sz="1400" b="1" dirty="0">
                <a:solidFill>
                  <a:srgbClr val="769467"/>
                </a:solidFill>
                <a:latin typeface="BDO Grotesk"/>
                <a:ea typeface="Times New Roman" panose="02020603050405020304" pitchFamily="18" charset="0"/>
              </a:rPr>
              <a:t>:</a:t>
            </a:r>
            <a:r>
              <a:rPr lang="en-GB" sz="1400" dirty="0">
                <a:solidFill>
                  <a:srgbClr val="164055"/>
                </a:solidFill>
                <a:latin typeface="BDO Grotesk"/>
                <a:ea typeface="Times New Roman" panose="02020603050405020304" pitchFamily="18" charset="0"/>
              </a:rPr>
              <a:t>   </a:t>
            </a:r>
            <a:r>
              <a:rPr lang="en-GB" sz="1400" b="1" dirty="0" smtClean="0">
                <a:solidFill>
                  <a:srgbClr val="164055"/>
                </a:solidFill>
                <a:latin typeface="BDO Grotesk"/>
                <a:ea typeface="Times New Roman" panose="02020603050405020304" pitchFamily="18" charset="0"/>
              </a:rPr>
              <a:t>LinkedIn </a:t>
            </a:r>
            <a:r>
              <a:rPr lang="en-GB" sz="1400" b="1" dirty="0">
                <a:solidFill>
                  <a:srgbClr val="164055"/>
                </a:solidFill>
                <a:latin typeface="BDO Grotesk"/>
                <a:ea typeface="Times New Roman" panose="02020603050405020304" pitchFamily="18" charset="0"/>
              </a:rPr>
              <a:t>Open Search </a:t>
            </a:r>
            <a:r>
              <a:rPr lang="en-GB" sz="1400" dirty="0">
                <a:solidFill>
                  <a:srgbClr val="164055"/>
                </a:solidFill>
                <a:latin typeface="BDO Grotesk"/>
                <a:ea typeface="Times New Roman" panose="02020603050405020304" pitchFamily="18" charset="0"/>
              </a:rPr>
              <a:t>results page, </a:t>
            </a:r>
            <a:r>
              <a:rPr lang="en-GB" sz="1400" b="1" dirty="0">
                <a:solidFill>
                  <a:srgbClr val="164055"/>
                </a:solidFill>
                <a:latin typeface="BDO Grotesk"/>
                <a:ea typeface="Times New Roman" panose="02020603050405020304" pitchFamily="18" charset="0"/>
              </a:rPr>
              <a:t>20 SMEs </a:t>
            </a:r>
            <a:r>
              <a:rPr lang="en-US" sz="1400" dirty="0" smtClean="0">
                <a:solidFill>
                  <a:srgbClr val="1A3F4E"/>
                </a:solidFill>
                <a:cs typeface="Times New Roman" panose="02020603050405020304" pitchFamily="18" charset="0"/>
                <a:sym typeface="+mn-ea"/>
              </a:rPr>
              <a:t>and </a:t>
            </a:r>
            <a:r>
              <a:rPr lang="en-US" sz="1400" dirty="0">
                <a:solidFill>
                  <a:srgbClr val="1A3F4E"/>
                </a:solidFill>
                <a:cs typeface="Times New Roman" panose="02020603050405020304" pitchFamily="18" charset="0"/>
                <a:sym typeface="+mn-ea"/>
              </a:rPr>
              <a:t>key companies’ links </a:t>
            </a:r>
            <a:r>
              <a:rPr lang="en-GB" sz="1400" dirty="0" smtClean="0">
                <a:solidFill>
                  <a:srgbClr val="164055"/>
                </a:solidFill>
                <a:latin typeface="BDO Grotesk"/>
                <a:ea typeface="Times New Roman" panose="02020603050405020304" pitchFamily="18" charset="0"/>
              </a:rPr>
              <a:t>- </a:t>
            </a:r>
            <a:r>
              <a:rPr lang="en-GB" sz="1400" dirty="0">
                <a:solidFill>
                  <a:srgbClr val="164055"/>
                </a:solidFill>
                <a:latin typeface="BDO Grotesk"/>
                <a:ea typeface="Times New Roman" panose="02020603050405020304" pitchFamily="18" charset="0"/>
              </a:rPr>
              <a:t>R</a:t>
            </a:r>
            <a:r>
              <a:rPr lang="en-GB" sz="1400" dirty="0">
                <a:solidFill>
                  <a:srgbClr val="164055"/>
                </a:solidFill>
                <a:latin typeface="BDO Grotesk"/>
              </a:rPr>
              <a:t>efer </a:t>
            </a:r>
            <a:r>
              <a:rPr lang="en-GB" sz="1400" b="1" dirty="0">
                <a:solidFill>
                  <a:srgbClr val="164055"/>
                </a:solidFill>
                <a:latin typeface="BDO Grotesk"/>
              </a:rPr>
              <a:t>Appendix I </a:t>
            </a:r>
            <a:r>
              <a:rPr lang="en-GB" sz="1400" dirty="0" smtClean="0">
                <a:solidFill>
                  <a:srgbClr val="164055"/>
                </a:solidFill>
                <a:latin typeface="BDO Grotesk"/>
              </a:rPr>
              <a:t>for list of </a:t>
            </a:r>
            <a:r>
              <a:rPr lang="en-GB" sz="1400" dirty="0" smtClean="0">
                <a:solidFill>
                  <a:srgbClr val="164055"/>
                </a:solidFill>
                <a:latin typeface="BDO Grotesk"/>
                <a:ea typeface="Times New Roman" panose="02020603050405020304" pitchFamily="18" charset="0"/>
              </a:rPr>
              <a:t>20 SME’s</a:t>
            </a:r>
            <a:r>
              <a:rPr lang="en-GB" sz="1400" b="1" dirty="0" smtClean="0">
                <a:solidFill>
                  <a:srgbClr val="164055"/>
                </a:solidFill>
                <a:latin typeface="BDO Grotesk"/>
                <a:ea typeface="Times New Roman" panose="02020603050405020304" pitchFamily="18" charset="0"/>
              </a:rPr>
              <a:t> </a:t>
            </a:r>
            <a:endParaRPr lang="en-GB" sz="1400" b="1" dirty="0">
              <a:solidFill>
                <a:srgbClr val="FF0000"/>
              </a:solidFill>
              <a:latin typeface="BDO Grotesk"/>
            </a:endParaRPr>
          </a:p>
          <a:p>
            <a:pPr>
              <a:lnSpc>
                <a:spcPts val="1800"/>
              </a:lnSpc>
              <a:spcBef>
                <a:spcPts val="0"/>
              </a:spcBef>
              <a:buBlip>
                <a:blip r:embed="rId2"/>
              </a:buBlip>
            </a:pPr>
            <a:endParaRPr lang="en-US" sz="1400" dirty="0">
              <a:solidFill>
                <a:srgbClr val="FF0000"/>
              </a:solidFill>
              <a:latin typeface="BDO Grotesk"/>
            </a:endParaRPr>
          </a:p>
          <a:p>
            <a:pPr>
              <a:lnSpc>
                <a:spcPts val="1800"/>
              </a:lnSpc>
              <a:spcBef>
                <a:spcPts val="0"/>
              </a:spcBef>
              <a:buBlip>
                <a:blip r:embed="rId2"/>
              </a:buBlip>
            </a:pPr>
            <a:r>
              <a:rPr lang="en-GB" sz="1400" b="1" dirty="0">
                <a:solidFill>
                  <a:srgbClr val="769467"/>
                </a:solidFill>
                <a:latin typeface="BDO Grotesk"/>
              </a:rPr>
              <a:t>News &amp; Media Outlets:</a:t>
            </a:r>
            <a:r>
              <a:rPr lang="en-GB" sz="1400" dirty="0">
                <a:solidFill>
                  <a:srgbClr val="769467"/>
                </a:solidFill>
                <a:latin typeface="BDO Grotesk"/>
              </a:rPr>
              <a:t>  </a:t>
            </a:r>
            <a:r>
              <a:rPr lang="en-GB" sz="1400" b="1" dirty="0" smtClean="0">
                <a:solidFill>
                  <a:srgbClr val="164055"/>
                </a:solidFill>
                <a:latin typeface="BDO Grotesk"/>
              </a:rPr>
              <a:t>15 </a:t>
            </a:r>
            <a:r>
              <a:rPr lang="en-GB" sz="1400" b="1" dirty="0">
                <a:solidFill>
                  <a:srgbClr val="164055"/>
                </a:solidFill>
                <a:latin typeface="BDO Grotesk"/>
              </a:rPr>
              <a:t>sources </a:t>
            </a:r>
            <a:r>
              <a:rPr lang="en-GB" sz="1400" b="1" dirty="0" smtClean="0">
                <a:solidFill>
                  <a:srgbClr val="164055"/>
                </a:solidFill>
                <a:latin typeface="BDO Grotesk"/>
              </a:rPr>
              <a:t>- </a:t>
            </a:r>
            <a:r>
              <a:rPr lang="en-GB" sz="1400" dirty="0">
                <a:solidFill>
                  <a:srgbClr val="164055"/>
                </a:solidFill>
                <a:latin typeface="BDO Grotesk"/>
              </a:rPr>
              <a:t>Refer</a:t>
            </a:r>
            <a:r>
              <a:rPr lang="en-GB" sz="1400" b="1" dirty="0">
                <a:solidFill>
                  <a:srgbClr val="164055"/>
                </a:solidFill>
                <a:latin typeface="BDO Grotesk"/>
              </a:rPr>
              <a:t> Appendix </a:t>
            </a:r>
            <a:r>
              <a:rPr lang="en-GB" sz="1400" b="1" dirty="0" smtClean="0">
                <a:solidFill>
                  <a:srgbClr val="164055"/>
                </a:solidFill>
                <a:latin typeface="BDO Grotesk"/>
              </a:rPr>
              <a:t>II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endParaRPr lang="en-GB" sz="1400" b="1" dirty="0">
              <a:solidFill>
                <a:srgbClr val="164055"/>
              </a:solidFill>
              <a:latin typeface="BDO Grotesk"/>
            </a:endParaRPr>
          </a:p>
          <a:p>
            <a:pPr>
              <a:lnSpc>
                <a:spcPts val="1800"/>
              </a:lnSpc>
              <a:spcBef>
                <a:spcPts val="0"/>
              </a:spcBef>
              <a:buBlip>
                <a:blip r:embed="rId2"/>
              </a:buBlip>
            </a:pPr>
            <a:r>
              <a:rPr lang="en-GB" sz="1400" b="1" dirty="0">
                <a:solidFill>
                  <a:srgbClr val="769467"/>
                </a:solidFill>
                <a:latin typeface="BDO Grotesk"/>
              </a:rPr>
              <a:t>Key Organisation websites:</a:t>
            </a:r>
            <a:r>
              <a:rPr lang="en-GB" sz="1400" dirty="0">
                <a:solidFill>
                  <a:srgbClr val="769467"/>
                </a:solidFill>
                <a:latin typeface="BDO Grotesk"/>
              </a:rPr>
              <a:t> </a:t>
            </a:r>
            <a:r>
              <a:rPr lang="en-GB" sz="1400" dirty="0" smtClean="0">
                <a:solidFill>
                  <a:srgbClr val="769467"/>
                </a:solidFill>
                <a:latin typeface="BDO Grotesk"/>
              </a:rPr>
              <a:t> </a:t>
            </a:r>
            <a:r>
              <a:rPr lang="en-GB" sz="1400" b="1" dirty="0" smtClean="0">
                <a:solidFill>
                  <a:srgbClr val="164055"/>
                </a:solidFill>
                <a:latin typeface="BDO Grotesk"/>
              </a:rPr>
              <a:t>10 </a:t>
            </a:r>
            <a:r>
              <a:rPr lang="en-GB" sz="1400" b="1" dirty="0">
                <a:solidFill>
                  <a:srgbClr val="164055"/>
                </a:solidFill>
                <a:latin typeface="BDO Grotesk"/>
              </a:rPr>
              <a:t>org </a:t>
            </a:r>
            <a:r>
              <a:rPr lang="en-GB" sz="1400" b="1" dirty="0" smtClean="0">
                <a:solidFill>
                  <a:srgbClr val="164055"/>
                </a:solidFill>
                <a:latin typeface="BDO Grotesk"/>
              </a:rPr>
              <a:t>websites -</a:t>
            </a:r>
            <a:r>
              <a:rPr lang="en-GB" sz="1400" dirty="0" smtClean="0">
                <a:solidFill>
                  <a:srgbClr val="164055"/>
                </a:solidFill>
                <a:latin typeface="BDO Grotesk"/>
              </a:rPr>
              <a:t> </a:t>
            </a:r>
            <a:r>
              <a:rPr lang="en-GB" sz="1400" dirty="0">
                <a:solidFill>
                  <a:srgbClr val="164055"/>
                </a:solidFill>
                <a:latin typeface="BDO Grotesk"/>
              </a:rPr>
              <a:t>Refer </a:t>
            </a:r>
            <a:r>
              <a:rPr lang="en-GB" sz="1400" b="1" dirty="0">
                <a:solidFill>
                  <a:srgbClr val="164055"/>
                </a:solidFill>
                <a:latin typeface="BDO Grotesk"/>
              </a:rPr>
              <a:t>Appendix </a:t>
            </a:r>
            <a:r>
              <a:rPr lang="en-GB" sz="1400" b="1" dirty="0" smtClean="0">
                <a:solidFill>
                  <a:srgbClr val="164055"/>
                </a:solidFill>
                <a:latin typeface="BDO Grotesk"/>
              </a:rPr>
              <a:t>III </a:t>
            </a:r>
            <a:r>
              <a:rPr lang="en-GB" sz="1400" dirty="0" smtClean="0">
                <a:solidFill>
                  <a:srgbClr val="164055"/>
                </a:solidFill>
                <a:latin typeface="BDO Grotesk"/>
              </a:rPr>
              <a:t>and </a:t>
            </a:r>
            <a:r>
              <a:rPr lang="en-GB" sz="1400" dirty="0">
                <a:solidFill>
                  <a:srgbClr val="164055"/>
                </a:solidFill>
                <a:latin typeface="BDO Grotesk"/>
              </a:rPr>
              <a:t>websites of </a:t>
            </a:r>
            <a:r>
              <a:rPr lang="en-GB" sz="1400" b="1" dirty="0">
                <a:solidFill>
                  <a:srgbClr val="164055"/>
                </a:solidFill>
                <a:latin typeface="BDO Grotesk"/>
              </a:rPr>
              <a:t>new companies uncovered </a:t>
            </a:r>
            <a:r>
              <a:rPr lang="en-GB" sz="1400" dirty="0">
                <a:solidFill>
                  <a:srgbClr val="164055"/>
                </a:solidFill>
                <a:latin typeface="BDO Grotesk"/>
              </a:rPr>
              <a:t>(unknown at this stage)</a:t>
            </a:r>
            <a:endParaRPr lang="en-US" sz="1400" dirty="0">
              <a:solidFill>
                <a:srgbClr val="FF0000"/>
              </a:solidFill>
              <a:latin typeface="BDO Grotesk"/>
            </a:endParaRP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endParaRPr lang="en-US" sz="1400" dirty="0">
              <a:solidFill>
                <a:srgbClr val="FF0000"/>
              </a:solidFill>
              <a:latin typeface="BDO Grotesk"/>
            </a:endParaRPr>
          </a:p>
          <a:p>
            <a:pPr>
              <a:lnSpc>
                <a:spcPts val="1800"/>
              </a:lnSpc>
              <a:spcBef>
                <a:spcPts val="0"/>
              </a:spcBef>
              <a:buBlip>
                <a:blip r:embed="rId2"/>
              </a:buBlip>
            </a:pPr>
            <a:r>
              <a:rPr lang="en-GB" sz="1400" b="1" dirty="0">
                <a:solidFill>
                  <a:srgbClr val="769467"/>
                </a:solidFill>
                <a:latin typeface="BDO Grotesk"/>
              </a:rPr>
              <a:t>Commercial Data Providers (Enrichment):</a:t>
            </a:r>
            <a:r>
              <a:rPr lang="en-GB" sz="1400" dirty="0">
                <a:solidFill>
                  <a:srgbClr val="769467"/>
                </a:solidFill>
                <a:latin typeface="BDO Grotesk"/>
              </a:rPr>
              <a:t>   </a:t>
            </a:r>
            <a:r>
              <a:rPr lang="en-GB" sz="1400" b="1" dirty="0">
                <a:solidFill>
                  <a:srgbClr val="164055"/>
                </a:solidFill>
                <a:latin typeface="BDO Grotesk"/>
              </a:rPr>
              <a:t>2</a:t>
            </a:r>
            <a:r>
              <a:rPr lang="en-GB" sz="1400" b="1" dirty="0" smtClean="0">
                <a:solidFill>
                  <a:srgbClr val="164055"/>
                </a:solidFill>
                <a:latin typeface="BDO Grotesk"/>
              </a:rPr>
              <a:t>0 </a:t>
            </a:r>
            <a:r>
              <a:rPr lang="en-GB" sz="1400" b="1" dirty="0">
                <a:solidFill>
                  <a:srgbClr val="164055"/>
                </a:solidFill>
                <a:latin typeface="BDO Grotesk"/>
              </a:rPr>
              <a:t>organisation </a:t>
            </a:r>
            <a:r>
              <a:rPr lang="en-GB" sz="1400" b="1" dirty="0" smtClean="0">
                <a:solidFill>
                  <a:srgbClr val="164055"/>
                </a:solidFill>
                <a:latin typeface="BDO Grotesk"/>
              </a:rPr>
              <a:t>URLs – </a:t>
            </a:r>
            <a:r>
              <a:rPr lang="en-GB" sz="1400" dirty="0">
                <a:solidFill>
                  <a:srgbClr val="164055"/>
                </a:solidFill>
                <a:latin typeface="BDO Grotesk"/>
              </a:rPr>
              <a:t>Refer</a:t>
            </a:r>
            <a:r>
              <a:rPr lang="en-GB" sz="1400" b="1" dirty="0">
                <a:solidFill>
                  <a:srgbClr val="164055"/>
                </a:solidFill>
                <a:latin typeface="BDO Grotesk"/>
              </a:rPr>
              <a:t> Appendix </a:t>
            </a:r>
            <a:r>
              <a:rPr lang="en-GB" sz="1400" b="1" dirty="0" smtClean="0">
                <a:solidFill>
                  <a:srgbClr val="164055"/>
                </a:solidFill>
                <a:latin typeface="BDO Grotesk"/>
              </a:rPr>
              <a:t>IV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endParaRPr lang="en-GB" sz="1400" dirty="0" smtClean="0">
              <a:solidFill>
                <a:srgbClr val="164055"/>
              </a:solidFill>
              <a:latin typeface="BDO Grotesk"/>
            </a:endParaRPr>
          </a:p>
          <a:p>
            <a:pPr>
              <a:lnSpc>
                <a:spcPts val="1800"/>
              </a:lnSpc>
              <a:spcBef>
                <a:spcPts val="0"/>
              </a:spcBef>
              <a:buBlip>
                <a:blip r:embed="rId2"/>
              </a:buBlip>
            </a:pPr>
            <a:r>
              <a:rPr lang="en-GB" sz="1400" b="1" dirty="0" smtClean="0">
                <a:solidFill>
                  <a:srgbClr val="769467"/>
                </a:solidFill>
                <a:latin typeface="BDO Grotesk"/>
              </a:rPr>
              <a:t>Competitors Website:</a:t>
            </a:r>
            <a:r>
              <a:rPr lang="en-GB" sz="1400" dirty="0" smtClean="0">
                <a:solidFill>
                  <a:srgbClr val="769467"/>
                </a:solidFill>
                <a:latin typeface="BDO Grotesk"/>
              </a:rPr>
              <a:t> </a:t>
            </a:r>
            <a:r>
              <a:rPr lang="en-US" sz="1400" dirty="0">
                <a:solidFill>
                  <a:srgbClr val="164055"/>
                </a:solidFill>
                <a:latin typeface="BDO Grotesk"/>
                <a:ea typeface="Times New Roman" panose="02020603050405020304" pitchFamily="18" charset="0"/>
              </a:rPr>
              <a:t>Data Center Hawk, Data Center Knowledge, Dodge, </a:t>
            </a:r>
            <a:r>
              <a:rPr lang="en-US" sz="1400" dirty="0" err="1">
                <a:solidFill>
                  <a:srgbClr val="164055"/>
                </a:solidFill>
                <a:latin typeface="BDO Grotesk"/>
                <a:ea typeface="Times New Roman" panose="02020603050405020304" pitchFamily="18" charset="0"/>
              </a:rPr>
              <a:t>Baxtel</a:t>
            </a:r>
            <a:r>
              <a:rPr lang="en-US" sz="1400" dirty="0">
                <a:solidFill>
                  <a:srgbClr val="164055"/>
                </a:solidFill>
                <a:latin typeface="BDO Grotesk"/>
                <a:ea typeface="Times New Roman" panose="02020603050405020304" pitchFamily="18" charset="0"/>
              </a:rPr>
              <a:t>, Data Center Dynamics</a:t>
            </a:r>
            <a:r>
              <a:rPr lang="en-GB" sz="1400" dirty="0">
                <a:solidFill>
                  <a:srgbClr val="164055"/>
                </a:solidFill>
                <a:latin typeface="BDO Grotesk"/>
                <a:ea typeface="Times New Roman" panose="02020603050405020304" pitchFamily="18" charset="0"/>
              </a:rPr>
              <a:t> 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endParaRPr lang="en-US" sz="1400" dirty="0" smtClean="0">
              <a:solidFill>
                <a:srgbClr val="164055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ts val="1800"/>
              </a:lnSpc>
              <a:spcBef>
                <a:spcPts val="0"/>
              </a:spcBef>
              <a:buBlip>
                <a:blip r:embed="rId2"/>
              </a:buBlip>
            </a:pPr>
            <a:r>
              <a:rPr lang="en-GB" sz="1400" b="1" dirty="0" smtClean="0">
                <a:solidFill>
                  <a:srgbClr val="769467"/>
                </a:solidFill>
                <a:latin typeface="BDO Grotesk"/>
              </a:rPr>
              <a:t>Government </a:t>
            </a:r>
            <a:r>
              <a:rPr lang="en-GB" sz="1400" b="1" dirty="0">
                <a:solidFill>
                  <a:srgbClr val="769467"/>
                </a:solidFill>
                <a:latin typeface="BDO Grotesk"/>
              </a:rPr>
              <a:t>&amp; Registry Sources: </a:t>
            </a:r>
            <a:r>
              <a:rPr lang="en-GB" sz="1400" b="1" dirty="0">
                <a:solidFill>
                  <a:srgbClr val="164055"/>
                </a:solidFill>
                <a:latin typeface="BDO Grotesk"/>
              </a:rPr>
              <a:t>County level </a:t>
            </a:r>
            <a:r>
              <a:rPr lang="en-GB" sz="1400" dirty="0">
                <a:solidFill>
                  <a:srgbClr val="164055"/>
                </a:solidFill>
                <a:latin typeface="BDO Grotesk"/>
              </a:rPr>
              <a:t>and </a:t>
            </a:r>
            <a:r>
              <a:rPr lang="en-GB" sz="1400" b="1" dirty="0">
                <a:solidFill>
                  <a:srgbClr val="164055"/>
                </a:solidFill>
                <a:latin typeface="BDO Grotesk"/>
              </a:rPr>
              <a:t>state level land registries</a:t>
            </a:r>
            <a:r>
              <a:rPr lang="en-GB" sz="1400" dirty="0">
                <a:solidFill>
                  <a:srgbClr val="164055"/>
                </a:solidFill>
                <a:latin typeface="BDO Grotesk"/>
              </a:rPr>
              <a:t> of 5 </a:t>
            </a:r>
            <a:r>
              <a:rPr lang="en-GB" sz="1400" dirty="0" smtClean="0">
                <a:solidFill>
                  <a:srgbClr val="164055"/>
                </a:solidFill>
                <a:latin typeface="BDO Grotesk"/>
              </a:rPr>
              <a:t>states listed above - </a:t>
            </a:r>
            <a:r>
              <a:rPr lang="en-GB" sz="1400" dirty="0">
                <a:solidFill>
                  <a:srgbClr val="164055"/>
                </a:solidFill>
                <a:latin typeface="BDO Grotesk"/>
              </a:rPr>
              <a:t>Refer </a:t>
            </a:r>
            <a:r>
              <a:rPr lang="en-GB" sz="1400" b="1" dirty="0">
                <a:solidFill>
                  <a:srgbClr val="164055"/>
                </a:solidFill>
                <a:latin typeface="BDO Grotesk"/>
              </a:rPr>
              <a:t>Appendix V</a:t>
            </a:r>
            <a:endParaRPr lang="en-US" sz="1400" b="1" dirty="0">
              <a:solidFill>
                <a:srgbClr val="164055"/>
              </a:solidFill>
              <a:latin typeface="BDO Grotesk"/>
            </a:endParaRP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endParaRPr lang="en-GB" sz="1400" dirty="0">
              <a:solidFill>
                <a:srgbClr val="164055"/>
              </a:solidFill>
              <a:latin typeface="BDO Grotesk"/>
              <a:ea typeface="Calibri" panose="020F050202020403020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Bef>
                <a:spcPts val="0"/>
              </a:spcBef>
              <a:buBlip>
                <a:blip r:embed="rId2"/>
              </a:buBlip>
            </a:pPr>
            <a:r>
              <a:rPr lang="en-GB" sz="1400" b="1" dirty="0">
                <a:solidFill>
                  <a:srgbClr val="769467"/>
                </a:solidFill>
                <a:latin typeface="BDO Grotesk"/>
              </a:rPr>
              <a:t>Other Social Media: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  <a:ea typeface="Calibri"/>
                <a:cs typeface="Times New Roman"/>
              </a:rPr>
              <a:t>Twitter </a:t>
            </a:r>
            <a:r>
              <a:rPr lang="en-US" sz="1400" dirty="0">
                <a:solidFill>
                  <a:srgbClr val="164055"/>
                </a:solidFill>
                <a:latin typeface="BDO Grotesk"/>
                <a:ea typeface="Calibri"/>
                <a:cs typeface="Times New Roman"/>
              </a:rPr>
              <a:t>handles – </a:t>
            </a:r>
            <a:r>
              <a:rPr lang="en-US" sz="1400" b="1" dirty="0" smtClean="0">
                <a:solidFill>
                  <a:srgbClr val="164055"/>
                </a:solidFill>
                <a:latin typeface="BDO Grotesk"/>
                <a:ea typeface="Calibri"/>
                <a:cs typeface="Times New Roman"/>
              </a:rPr>
              <a:t>20 handles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  <a:ea typeface="Calibri"/>
                <a:cs typeface="Times New Roman"/>
              </a:rPr>
              <a:t>mentioned in </a:t>
            </a:r>
            <a:r>
              <a:rPr lang="en-US" sz="1400" b="1" dirty="0" smtClean="0">
                <a:solidFill>
                  <a:srgbClr val="164055"/>
                </a:solidFill>
                <a:latin typeface="BDO Grotesk"/>
                <a:ea typeface="Calibri"/>
                <a:cs typeface="Times New Roman"/>
              </a:rPr>
              <a:t>Appendix ​</a:t>
            </a:r>
            <a:r>
              <a:rPr lang="en-GB" sz="1400" b="1" dirty="0" smtClean="0">
                <a:solidFill>
                  <a:srgbClr val="164055"/>
                </a:solidFill>
                <a:latin typeface="BDO Grotesk"/>
              </a:rPr>
              <a:t>VI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endParaRPr lang="en-IN" sz="1400" b="1" dirty="0">
              <a:solidFill>
                <a:srgbClr val="164055"/>
              </a:solidFill>
              <a:latin typeface="BDO Grotesk"/>
            </a:endParaRPr>
          </a:p>
          <a:p>
            <a:pPr>
              <a:lnSpc>
                <a:spcPts val="1800"/>
              </a:lnSpc>
              <a:spcBef>
                <a:spcPts val="0"/>
              </a:spcBef>
              <a:buBlip>
                <a:blip r:embed="rId2"/>
              </a:buBlip>
            </a:pPr>
            <a:r>
              <a:rPr lang="en-IN" sz="1400" b="1" dirty="0">
                <a:solidFill>
                  <a:srgbClr val="769467"/>
                </a:solidFill>
                <a:latin typeface="BDO Grotesk"/>
              </a:rPr>
              <a:t>Data Points : </a:t>
            </a:r>
            <a:r>
              <a:rPr lang="en-IN" sz="1400" dirty="0">
                <a:solidFill>
                  <a:srgbClr val="164055"/>
                </a:solidFill>
                <a:latin typeface="BDO Grotesk"/>
              </a:rPr>
              <a:t>List of </a:t>
            </a:r>
            <a:r>
              <a:rPr lang="en-IN" sz="1400" b="1" dirty="0" smtClean="0">
                <a:solidFill>
                  <a:srgbClr val="164055"/>
                </a:solidFill>
                <a:latin typeface="BDO Grotesk"/>
              </a:rPr>
              <a:t>data points </a:t>
            </a:r>
            <a:r>
              <a:rPr lang="en-IN" sz="1400" dirty="0">
                <a:solidFill>
                  <a:srgbClr val="164055"/>
                </a:solidFill>
                <a:latin typeface="BDO Grotesk"/>
              </a:rPr>
              <a:t>mentioned in</a:t>
            </a:r>
            <a:r>
              <a:rPr lang="en-IN" sz="1400" b="1" dirty="0" smtClean="0">
                <a:solidFill>
                  <a:srgbClr val="164055"/>
                </a:solidFill>
                <a:latin typeface="BDO Grotesk"/>
              </a:rPr>
              <a:t> Appendix </a:t>
            </a:r>
            <a:r>
              <a:rPr lang="en-GB" sz="1400" b="1" dirty="0" smtClean="0">
                <a:solidFill>
                  <a:srgbClr val="164055"/>
                </a:solidFill>
                <a:latin typeface="BDO Grotesk"/>
              </a:rPr>
              <a:t>VI</a:t>
            </a:r>
            <a:r>
              <a:rPr lang="en-GB" sz="1400" b="1" dirty="0">
                <a:solidFill>
                  <a:srgbClr val="164055"/>
                </a:solidFill>
                <a:latin typeface="BDO Grotesk"/>
              </a:rPr>
              <a:t>I</a:t>
            </a:r>
          </a:p>
          <a:p>
            <a:pPr>
              <a:lnSpc>
                <a:spcPts val="1800"/>
              </a:lnSpc>
              <a:spcBef>
                <a:spcPts val="0"/>
              </a:spcBef>
              <a:buBlip>
                <a:blip r:embed="rId2"/>
              </a:buBlip>
            </a:pPr>
            <a:endParaRPr lang="en-US" sz="1400" dirty="0" smtClean="0">
              <a:solidFill>
                <a:srgbClr val="164055"/>
              </a:solidFill>
              <a:latin typeface="BDO Grotesk"/>
              <a:ea typeface="Calibri"/>
              <a:cs typeface="Times New Roman"/>
            </a:endParaRP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IN" sz="1400" b="1" dirty="0" smtClean="0">
                <a:solidFill>
                  <a:srgbClr val="769467"/>
                </a:solidFill>
                <a:latin typeface="BDO Grotesk"/>
              </a:rPr>
              <a:t>Out </a:t>
            </a:r>
            <a:r>
              <a:rPr lang="en-IN" sz="1400" b="1" dirty="0">
                <a:solidFill>
                  <a:srgbClr val="769467"/>
                </a:solidFill>
                <a:latin typeface="BDO Grotesk"/>
              </a:rPr>
              <a:t>Of Scope: </a:t>
            </a:r>
            <a:r>
              <a:rPr lang="en-US" sz="1400" dirty="0">
                <a:solidFill>
                  <a:srgbClr val="164055"/>
                </a:solidFill>
                <a:latin typeface="BDO Grotesk"/>
                <a:ea typeface="Calibri"/>
                <a:cs typeface="Times New Roman"/>
              </a:rPr>
              <a:t>Crypto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  <a:ea typeface="Calibri"/>
                <a:cs typeface="Times New Roman"/>
              </a:rPr>
              <a:t>mining, </a:t>
            </a:r>
            <a:r>
              <a:rPr lang="en-US" sz="1400" dirty="0">
                <a:solidFill>
                  <a:srgbClr val="164055"/>
                </a:solidFill>
                <a:latin typeface="BDO Grotesk"/>
                <a:ea typeface="Calibri"/>
                <a:cs typeface="Times New Roman"/>
              </a:rPr>
              <a:t>data to be flagged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  <a:ea typeface="Calibri"/>
                <a:cs typeface="Times New Roman"/>
              </a:rPr>
              <a:t>as exclude and supplied</a:t>
            </a:r>
            <a:endParaRPr lang="en-IN" sz="1400" dirty="0">
              <a:solidFill>
                <a:srgbClr val="164055"/>
              </a:solidFill>
              <a:latin typeface="BDO Grotesk"/>
              <a:ea typeface="Calibri"/>
              <a:cs typeface="Times New Roman"/>
              <a:sym typeface="+mn-ea"/>
            </a:endParaRPr>
          </a:p>
          <a:p>
            <a:pPr marR="0" algn="l" defTabSz="91440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IN" sz="1400" dirty="0">
              <a:solidFill>
                <a:srgbClr val="164055"/>
              </a:solidFill>
              <a:latin typeface="BDO Grotesk"/>
              <a:ea typeface="Calibri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AF7C8-A262-6BEA-E885-F1ED508B1601}"/>
              </a:ext>
            </a:extLst>
          </p:cNvPr>
          <p:cNvSpPr txBox="1"/>
          <p:nvPr/>
        </p:nvSpPr>
        <p:spPr>
          <a:xfrm>
            <a:off x="386118" y="971922"/>
            <a:ext cx="1135497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 dirty="0">
                <a:solidFill>
                  <a:srgbClr val="769467"/>
                </a:solidFill>
                <a:latin typeface="BDO Grotesk"/>
              </a:rPr>
              <a:t>Scope: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Automated data extraction of real estate or land transactions including expansions in the following US states </a:t>
            </a:r>
            <a:r>
              <a:rPr lang="en-US" sz="1400" b="1" u="sng" dirty="0">
                <a:solidFill>
                  <a:srgbClr val="164055"/>
                </a:solidFill>
                <a:latin typeface="BDO Grotesk"/>
                <a:sym typeface="+mn-ea"/>
              </a:rPr>
              <a:t>Virginia, Texas, Arizona, Georgia, </a:t>
            </a:r>
            <a:r>
              <a:rPr lang="en-US" sz="1400" b="1" u="sng" dirty="0" smtClean="0">
                <a:solidFill>
                  <a:srgbClr val="164055"/>
                </a:solidFill>
                <a:latin typeface="BDO Grotesk"/>
                <a:sym typeface="+mn-ea"/>
              </a:rPr>
              <a:t>Ohio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  <a:sym typeface="+mn-ea"/>
              </a:rPr>
              <a:t> </a:t>
            </a:r>
            <a:r>
              <a:rPr lang="en-US" sz="1400" dirty="0">
                <a:solidFill>
                  <a:srgbClr val="164055"/>
                </a:solidFill>
                <a:latin typeface="BDO Grotesk"/>
              </a:rPr>
              <a:t>from online sources as shown below, subsequent data enrichment through manual research of non-public sources and the resultant data sets delivered as CSV file uploaded to a SFTP </a:t>
            </a:r>
            <a:r>
              <a:rPr lang="en-US" sz="1400" dirty="0" smtClean="0">
                <a:solidFill>
                  <a:srgbClr val="164055"/>
                </a:solidFill>
                <a:latin typeface="BDO Grotesk"/>
              </a:rPr>
              <a:t>location. </a:t>
            </a:r>
            <a:endParaRPr lang="en-GB" sz="1400" b="1" dirty="0">
              <a:solidFill>
                <a:srgbClr val="164055"/>
              </a:solidFill>
              <a:latin typeface="BDO Grotesk"/>
            </a:endParaRPr>
          </a:p>
          <a:p>
            <a:endParaRPr lang="en-US" sz="1400" dirty="0">
              <a:solidFill>
                <a:srgbClr val="164055"/>
              </a:solidFill>
              <a:latin typeface="BDO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94926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ntent Placeholder 20" descr="Asset 105@300x-copy"/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168394" y="3971987"/>
            <a:ext cx="19050" cy="600075"/>
          </a:xfrm>
          <a:prstGeom prst="rect">
            <a:avLst/>
          </a:prstGeom>
        </p:spPr>
      </p:pic>
      <p:pic>
        <p:nvPicPr>
          <p:cNvPr id="24" name="Content Placeholder 20" descr="Asset 105@300x-cop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454" y="3971987"/>
            <a:ext cx="19050" cy="600075"/>
          </a:xfrm>
          <a:prstGeom prst="rect">
            <a:avLst/>
          </a:prstGeom>
        </p:spPr>
      </p:pic>
      <p:pic>
        <p:nvPicPr>
          <p:cNvPr id="22" name="Content Placeholder 20" descr="Asset 105@300x-cop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169" y="2773742"/>
            <a:ext cx="19050" cy="600075"/>
          </a:xfrm>
          <a:prstGeom prst="rect">
            <a:avLst/>
          </a:prstGeom>
        </p:spPr>
      </p:pic>
      <p:pic>
        <p:nvPicPr>
          <p:cNvPr id="23" name="Content Placeholder 20" descr="Asset 105@300x-cop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316" y="2735642"/>
            <a:ext cx="19050" cy="600075"/>
          </a:xfrm>
          <a:prstGeom prst="rect">
            <a:avLst/>
          </a:prstGeom>
        </p:spPr>
      </p:pic>
      <p:pic>
        <p:nvPicPr>
          <p:cNvPr id="3" name="Picture 2" descr="Asset 103@300x-cop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6" y="3565485"/>
            <a:ext cx="11709998" cy="299297"/>
          </a:xfrm>
          <a:prstGeom prst="rect">
            <a:avLst/>
          </a:prstGeom>
        </p:spPr>
      </p:pic>
      <p:pic>
        <p:nvPicPr>
          <p:cNvPr id="4" name="Picture 3" descr="Asset 111@300x-cop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151" y="3150297"/>
            <a:ext cx="1135380" cy="1122045"/>
          </a:xfrm>
          <a:prstGeom prst="rect">
            <a:avLst/>
          </a:prstGeom>
        </p:spPr>
      </p:pic>
      <p:pic>
        <p:nvPicPr>
          <p:cNvPr id="5" name="Picture 4" descr="Asset 112@300x-cop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181" y="3152837"/>
            <a:ext cx="1133475" cy="1116965"/>
          </a:xfrm>
          <a:prstGeom prst="rect">
            <a:avLst/>
          </a:prstGeom>
        </p:spPr>
      </p:pic>
      <p:pic>
        <p:nvPicPr>
          <p:cNvPr id="7" name="Picture 6" descr="Asset 113@300x-cop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0306" y="3149662"/>
            <a:ext cx="1136015" cy="1123315"/>
          </a:xfrm>
          <a:prstGeom prst="rect">
            <a:avLst/>
          </a:prstGeom>
        </p:spPr>
      </p:pic>
      <p:pic>
        <p:nvPicPr>
          <p:cNvPr id="8" name="Picture 7" descr="Asset 114@300x-cop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971" y="3149662"/>
            <a:ext cx="1136015" cy="1123315"/>
          </a:xfrm>
          <a:prstGeom prst="rect">
            <a:avLst/>
          </a:prstGeom>
        </p:spPr>
      </p:pic>
      <p:sp>
        <p:nvSpPr>
          <p:cNvPr id="53" name="TextBox 30"/>
          <p:cNvSpPr txBox="1"/>
          <p:nvPr/>
        </p:nvSpPr>
        <p:spPr>
          <a:xfrm>
            <a:off x="2227875" y="4665241"/>
            <a:ext cx="1919137" cy="30777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IN" sz="1400" b="1">
                <a:solidFill>
                  <a:srgbClr val="1A3F4E"/>
                </a:solidFill>
                <a:latin typeface="BDO Grotesk DemiBold" charset="0"/>
                <a:ea typeface="Calibri" panose="020F0502020204030204" charset="0"/>
                <a:cs typeface="Times New Roman" panose="02020603050405020304" pitchFamily="18" charset="0"/>
                <a:sym typeface="+mn-ea"/>
              </a:rPr>
              <a:t>Collect.</a:t>
            </a:r>
            <a:endParaRPr lang="en-US" sz="1400" b="1">
              <a:solidFill>
                <a:srgbClr val="0B263C"/>
              </a:solidFill>
              <a:latin typeface="Arial" panose="020B0604020202020204" pitchFamily="34" charset="0"/>
              <a:ea typeface="Open Sans" pitchFamily="34" charset="-122"/>
              <a:cs typeface="Arial" panose="020B0604020202020204" pitchFamily="34" charset="0"/>
            </a:endParaRPr>
          </a:p>
        </p:txBody>
      </p:sp>
      <p:sp>
        <p:nvSpPr>
          <p:cNvPr id="56" name="TextBox 33"/>
          <p:cNvSpPr txBox="1"/>
          <p:nvPr/>
        </p:nvSpPr>
        <p:spPr>
          <a:xfrm>
            <a:off x="4043433" y="1870703"/>
            <a:ext cx="2049759" cy="30777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IN" sz="1400" b="1">
                <a:solidFill>
                  <a:srgbClr val="1A3F4E"/>
                </a:solidFill>
                <a:latin typeface="BDO Grotesk DemiBold" charset="0"/>
                <a:ea typeface="Calibri" panose="020F0502020204030204" charset="0"/>
                <a:cs typeface="Times New Roman" panose="02020603050405020304" pitchFamily="18" charset="0"/>
                <a:sym typeface="+mn-ea"/>
              </a:rPr>
              <a:t>Process.</a:t>
            </a:r>
            <a:endParaRPr lang="en-US" sz="1400" b="1">
              <a:solidFill>
                <a:srgbClr val="0B263C"/>
              </a:solidFill>
              <a:latin typeface="Arial" panose="020B0604020202020204" pitchFamily="34" charset="0"/>
              <a:ea typeface="Open Sans" pitchFamily="34" charset="-122"/>
              <a:cs typeface="Arial" panose="020B0604020202020204" pitchFamily="34" charset="0"/>
            </a:endParaRPr>
          </a:p>
        </p:txBody>
      </p:sp>
      <p:sp>
        <p:nvSpPr>
          <p:cNvPr id="57" name="TextBox 36"/>
          <p:cNvSpPr txBox="1"/>
          <p:nvPr/>
        </p:nvSpPr>
        <p:spPr>
          <a:xfrm>
            <a:off x="9668866" y="4604184"/>
            <a:ext cx="1939879" cy="30777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IN" sz="1400" b="1">
                <a:solidFill>
                  <a:srgbClr val="1A3F4E"/>
                </a:solidFill>
                <a:latin typeface="BDO Grotesk DemiBold" charset="0"/>
                <a:ea typeface="Calibri" panose="020F0502020204030204" charset="0"/>
                <a:cs typeface="Times New Roman" panose="02020603050405020304" pitchFamily="18" charset="0"/>
                <a:sym typeface="+mn-ea"/>
              </a:rPr>
              <a:t>Output.</a:t>
            </a:r>
            <a:endParaRPr lang="en-US" sz="1400" b="1">
              <a:solidFill>
                <a:srgbClr val="0B263C"/>
              </a:solidFill>
              <a:latin typeface="Arial" panose="020B0604020202020204" pitchFamily="34" charset="0"/>
              <a:ea typeface="Open Sans" pitchFamily="34" charset="-122"/>
              <a:cs typeface="Arial" panose="020B0604020202020204" pitchFamily="34" charset="0"/>
            </a:endParaRPr>
          </a:p>
        </p:txBody>
      </p:sp>
      <p:sp>
        <p:nvSpPr>
          <p:cNvPr id="59" name="TextBox 51"/>
          <p:cNvSpPr txBox="1"/>
          <p:nvPr/>
        </p:nvSpPr>
        <p:spPr>
          <a:xfrm>
            <a:off x="1861991" y="4929986"/>
            <a:ext cx="2631853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/>
            <a:r>
              <a:rPr lang="en-GB" sz="1200">
                <a:solidFill>
                  <a:srgbClr val="164055"/>
                </a:solidFill>
                <a:latin typeface="BDO Grotesk"/>
              </a:rPr>
              <a:t>Scrape relevant sources using </a:t>
            </a:r>
            <a:r>
              <a:rPr lang="en-GB" sz="1200" err="1">
                <a:solidFill>
                  <a:srgbClr val="164055"/>
                </a:solidFill>
                <a:latin typeface="BDO Grotesk"/>
              </a:rPr>
              <a:t>ScrapeX</a:t>
            </a:r>
            <a:r>
              <a:rPr lang="en-GB" sz="1200">
                <a:solidFill>
                  <a:srgbClr val="164055"/>
                </a:solidFill>
                <a:latin typeface="BDO Grotesk"/>
              </a:rPr>
              <a:t>, Selenium, and API integrations</a:t>
            </a:r>
            <a:endParaRPr lang="en-IN" sz="1200" err="1">
              <a:solidFill>
                <a:srgbClr val="164055"/>
              </a:solidFill>
              <a:latin typeface="BDO Grotesk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sp>
        <p:nvSpPr>
          <p:cNvPr id="60" name="TextBox 52"/>
          <p:cNvSpPr txBox="1"/>
          <p:nvPr/>
        </p:nvSpPr>
        <p:spPr>
          <a:xfrm>
            <a:off x="3810106" y="2188380"/>
            <a:ext cx="2981482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/>
            <a:r>
              <a:rPr lang="en-GB" sz="1200">
                <a:solidFill>
                  <a:srgbClr val="164055"/>
                </a:solidFill>
                <a:latin typeface="BDO Grotesk"/>
              </a:rPr>
              <a:t>Apply parsing, semantic de-duplication, and LLM-based classifiers / filters (KIAA framework)</a:t>
            </a:r>
            <a:endParaRPr lang="en-IN" sz="1200">
              <a:solidFill>
                <a:srgbClr val="164055"/>
              </a:solidFill>
              <a:latin typeface="BDO Grotesk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sp>
        <p:nvSpPr>
          <p:cNvPr id="61" name="TextBox 53"/>
          <p:cNvSpPr txBox="1"/>
          <p:nvPr/>
        </p:nvSpPr>
        <p:spPr>
          <a:xfrm>
            <a:off x="9083166" y="4955933"/>
            <a:ext cx="3073179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/>
            <a:r>
              <a:rPr lang="en-GB" sz="1200">
                <a:solidFill>
                  <a:srgbClr val="164055"/>
                </a:solidFill>
                <a:latin typeface="BDO Grotesk"/>
              </a:rPr>
              <a:t>Deliver structured datasets (Excel) with normalised fields uploaded to SFTP</a:t>
            </a:r>
            <a:endParaRPr lang="en-IN" sz="1200">
              <a:solidFill>
                <a:srgbClr val="164055"/>
              </a:solidFill>
              <a:latin typeface="BDO Grotesk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sp>
        <p:nvSpPr>
          <p:cNvPr id="9" name="TextBox 33"/>
          <p:cNvSpPr txBox="1"/>
          <p:nvPr/>
        </p:nvSpPr>
        <p:spPr>
          <a:xfrm>
            <a:off x="285811" y="1873195"/>
            <a:ext cx="2049759" cy="30777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IN" sz="1400" b="1">
                <a:solidFill>
                  <a:srgbClr val="1A3F4E"/>
                </a:solidFill>
                <a:latin typeface="BDO Grotesk DemiBold" charset="0"/>
                <a:ea typeface="Calibri" panose="020F0502020204030204" charset="0"/>
                <a:cs typeface="Times New Roman" panose="02020603050405020304" pitchFamily="18" charset="0"/>
                <a:sym typeface="+mn-ea"/>
              </a:rPr>
              <a:t>Discover.</a:t>
            </a:r>
            <a:endParaRPr lang="en-US" sz="1400" b="1">
              <a:solidFill>
                <a:srgbClr val="0B263C"/>
              </a:solidFill>
              <a:latin typeface="Arial" panose="020B0604020202020204" pitchFamily="34" charset="0"/>
              <a:ea typeface="Open Sans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Box 52"/>
          <p:cNvSpPr txBox="1"/>
          <p:nvPr/>
        </p:nvSpPr>
        <p:spPr>
          <a:xfrm>
            <a:off x="67734" y="2218449"/>
            <a:ext cx="2811536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/>
            <a:r>
              <a:rPr lang="en-GB" sz="1200">
                <a:solidFill>
                  <a:srgbClr val="164055"/>
                </a:solidFill>
                <a:latin typeface="BDO Grotesk"/>
              </a:rPr>
              <a:t>Identify and shortlist candidate URLs and relevant navigation workflow – 200 sources </a:t>
            </a:r>
            <a:endParaRPr lang="en-IN" sz="1200">
              <a:solidFill>
                <a:srgbClr val="164055"/>
              </a:solidFill>
              <a:latin typeface="BDO Grotesk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03056" y="3360807"/>
            <a:ext cx="354330" cy="59817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en-IN" sz="2800" b="1">
                <a:solidFill>
                  <a:schemeClr val="bg1"/>
                </a:solidFill>
                <a:latin typeface="BDO Grotesk" charset="0"/>
                <a:ea typeface="Calibri" panose="020F050202020403020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2976" y="3373507"/>
            <a:ext cx="354330" cy="59817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IN" altLang="en-US" sz="2800" b="1">
                <a:solidFill>
                  <a:schemeClr val="bg1"/>
                </a:solidFill>
                <a:latin typeface="BDO Grotesk" charset="0"/>
                <a:ea typeface="Calibri" panose="020F0502020204030204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1466" y="3361442"/>
            <a:ext cx="354330" cy="59817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IN" altLang="en-US" sz="2800" b="1">
                <a:solidFill>
                  <a:schemeClr val="bg1"/>
                </a:solidFill>
                <a:latin typeface="BDO Grotesk" charset="0"/>
                <a:ea typeface="Calibri" panose="020F050202020403020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2496" y="3360807"/>
            <a:ext cx="354330" cy="59817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IN" altLang="en-US" sz="2800" b="1">
                <a:solidFill>
                  <a:schemeClr val="bg1"/>
                </a:solidFill>
                <a:latin typeface="BDO Grotesk" charset="0"/>
                <a:ea typeface="Calibri" panose="020F0502020204030204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928100" y="65087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4</a:t>
            </a:fld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416823" y="333952"/>
            <a:ext cx="9454314" cy="665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A3F4E"/>
                </a:solidFill>
                <a:latin typeface="BDO Grotesk DemiBold" charset="0"/>
                <a:ea typeface="+mj-ea"/>
                <a:cs typeface="+mj-cs"/>
                <a:sym typeface="+mn-ea"/>
              </a:rPr>
              <a:t>Data Extraction Workflow</a:t>
            </a: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C7EC77F6-94E6-A250-30D1-E0BA5686AAA3}"/>
              </a:ext>
            </a:extLst>
          </p:cNvPr>
          <p:cNvSpPr txBox="1"/>
          <p:nvPr/>
        </p:nvSpPr>
        <p:spPr>
          <a:xfrm>
            <a:off x="6062199" y="4615213"/>
            <a:ext cx="1919137" cy="30777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IN" sz="1400" b="1">
                <a:solidFill>
                  <a:srgbClr val="1A3F4E"/>
                </a:solidFill>
                <a:latin typeface="BDO Grotesk DemiBold" charset="0"/>
                <a:ea typeface="Calibri" panose="020F0502020204030204" charset="0"/>
                <a:cs typeface="Times New Roman" panose="02020603050405020304" pitchFamily="18" charset="0"/>
                <a:sym typeface="+mn-ea"/>
              </a:rPr>
              <a:t>Enrich.</a:t>
            </a:r>
            <a:endParaRPr lang="en-US" sz="1400" b="1">
              <a:solidFill>
                <a:srgbClr val="0B263C"/>
              </a:solidFill>
              <a:latin typeface="Arial" panose="020B0604020202020204" pitchFamily="34" charset="0"/>
              <a:ea typeface="Open Sans" pitchFamily="34" charset="-122"/>
              <a:cs typeface="Arial" panose="020B0604020202020204" pitchFamily="34" charset="0"/>
            </a:endParaRPr>
          </a:p>
        </p:txBody>
      </p:sp>
      <p:sp>
        <p:nvSpPr>
          <p:cNvPr id="19" name="TextBox 51">
            <a:extLst>
              <a:ext uri="{FF2B5EF4-FFF2-40B4-BE49-F238E27FC236}">
                <a16:creationId xmlns:a16="http://schemas.microsoft.com/office/drawing/2014/main" id="{16BA96E4-6208-0A88-2B53-D17081066F12}"/>
              </a:ext>
            </a:extLst>
          </p:cNvPr>
          <p:cNvSpPr txBox="1"/>
          <p:nvPr/>
        </p:nvSpPr>
        <p:spPr>
          <a:xfrm>
            <a:off x="5415242" y="4973018"/>
            <a:ext cx="3213050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/>
            <a:r>
              <a:rPr lang="en-GB" sz="1200">
                <a:solidFill>
                  <a:srgbClr val="164055"/>
                </a:solidFill>
                <a:latin typeface="BDO Grotesk"/>
              </a:rPr>
              <a:t>Fill missing details and value add to partial records using primary and secondary web research </a:t>
            </a:r>
            <a:endParaRPr lang="en-IN" sz="1200" err="1">
              <a:solidFill>
                <a:srgbClr val="164055"/>
              </a:solidFill>
              <a:latin typeface="BDO Grotesk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pic>
        <p:nvPicPr>
          <p:cNvPr id="20" name="Content Placeholder 20" descr="Asset 105@300x-copy">
            <a:extLst>
              <a:ext uri="{FF2B5EF4-FFF2-40B4-BE49-F238E27FC236}">
                <a16:creationId xmlns:a16="http://schemas.microsoft.com/office/drawing/2014/main" id="{6F6A5CF9-79D1-448F-29CF-4C60C2A1C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9756" y="3905554"/>
            <a:ext cx="19050" cy="600075"/>
          </a:xfrm>
          <a:prstGeom prst="rect">
            <a:avLst/>
          </a:prstGeom>
        </p:spPr>
      </p:pic>
      <p:pic>
        <p:nvPicPr>
          <p:cNvPr id="25" name="Content Placeholder 20" descr="Asset 105@300x-copy">
            <a:extLst>
              <a:ext uri="{FF2B5EF4-FFF2-40B4-BE49-F238E27FC236}">
                <a16:creationId xmlns:a16="http://schemas.microsoft.com/office/drawing/2014/main" id="{E27652E8-3494-782D-6FDD-A08D80D45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471" y="2707309"/>
            <a:ext cx="19050" cy="600075"/>
          </a:xfrm>
          <a:prstGeom prst="rect">
            <a:avLst/>
          </a:prstGeom>
        </p:spPr>
      </p:pic>
      <p:pic>
        <p:nvPicPr>
          <p:cNvPr id="26" name="Picture 25" descr="Asset 113@300x-copy">
            <a:extLst>
              <a:ext uri="{FF2B5EF4-FFF2-40B4-BE49-F238E27FC236}">
                <a16:creationId xmlns:a16="http://schemas.microsoft.com/office/drawing/2014/main" id="{68BF119C-C40E-F07D-8273-AFABB4192B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608" y="3083229"/>
            <a:ext cx="1136015" cy="1123315"/>
          </a:xfrm>
          <a:prstGeom prst="rect">
            <a:avLst/>
          </a:prstGeom>
        </p:spPr>
      </p:pic>
      <p:pic>
        <p:nvPicPr>
          <p:cNvPr id="27" name="Picture 26" descr="Asset 114@300x-copy">
            <a:extLst>
              <a:ext uri="{FF2B5EF4-FFF2-40B4-BE49-F238E27FC236}">
                <a16:creationId xmlns:a16="http://schemas.microsoft.com/office/drawing/2014/main" id="{C372825A-6278-8ADF-BDD2-26A23562FA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1273" y="3083229"/>
            <a:ext cx="1136015" cy="1123315"/>
          </a:xfrm>
          <a:prstGeom prst="rect">
            <a:avLst/>
          </a:prstGeom>
        </p:spPr>
      </p:pic>
      <p:sp>
        <p:nvSpPr>
          <p:cNvPr id="28" name="TextBox 33">
            <a:extLst>
              <a:ext uri="{FF2B5EF4-FFF2-40B4-BE49-F238E27FC236}">
                <a16:creationId xmlns:a16="http://schemas.microsoft.com/office/drawing/2014/main" id="{FCBE7B43-F082-3624-9A36-B3100CA2A467}"/>
              </a:ext>
            </a:extLst>
          </p:cNvPr>
          <p:cNvSpPr txBox="1"/>
          <p:nvPr/>
        </p:nvSpPr>
        <p:spPr>
          <a:xfrm>
            <a:off x="7712735" y="1804270"/>
            <a:ext cx="2049759" cy="30777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IN" sz="1400" b="1">
                <a:solidFill>
                  <a:srgbClr val="1A3F4E"/>
                </a:solidFill>
                <a:latin typeface="BDO Grotesk DemiBold" charset="0"/>
                <a:ea typeface="Calibri" panose="020F0502020204030204" charset="0"/>
                <a:cs typeface="Times New Roman" panose="02020603050405020304" pitchFamily="18" charset="0"/>
                <a:sym typeface="+mn-ea"/>
              </a:rPr>
              <a:t>Check.</a:t>
            </a:r>
            <a:endParaRPr lang="en-US" sz="1400" b="1">
              <a:solidFill>
                <a:srgbClr val="0B263C"/>
              </a:solidFill>
              <a:latin typeface="Arial" panose="020B0604020202020204" pitchFamily="34" charset="0"/>
              <a:ea typeface="Open Sans" pitchFamily="34" charset="-122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E72F7A-B107-A83A-34D8-030DB6AD41D9}"/>
              </a:ext>
            </a:extLst>
          </p:cNvPr>
          <p:cNvSpPr/>
          <p:nvPr/>
        </p:nvSpPr>
        <p:spPr>
          <a:xfrm>
            <a:off x="8560768" y="3332484"/>
            <a:ext cx="354330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IN" altLang="en-US" sz="2800" b="1">
                <a:solidFill>
                  <a:schemeClr val="bg1"/>
                </a:solidFill>
                <a:latin typeface="BDO Grotesk" charset="0"/>
                <a:ea typeface="Calibri" panose="020F0502020204030204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462796-4CA5-0EDA-95D7-2D57421A2883}"/>
              </a:ext>
            </a:extLst>
          </p:cNvPr>
          <p:cNvSpPr/>
          <p:nvPr/>
        </p:nvSpPr>
        <p:spPr>
          <a:xfrm>
            <a:off x="10451798" y="3331849"/>
            <a:ext cx="354330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IN" altLang="en-US" sz="2800" b="1">
                <a:solidFill>
                  <a:schemeClr val="bg1"/>
                </a:solidFill>
                <a:latin typeface="BDO Grotesk" charset="0"/>
                <a:ea typeface="Calibri" panose="020F0502020204030204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4" name="TextBox 52">
            <a:extLst>
              <a:ext uri="{FF2B5EF4-FFF2-40B4-BE49-F238E27FC236}">
                <a16:creationId xmlns:a16="http://schemas.microsoft.com/office/drawing/2014/main" id="{7FD59EE1-1A68-8F34-1742-68090940457E}"/>
              </a:ext>
            </a:extLst>
          </p:cNvPr>
          <p:cNvSpPr txBox="1"/>
          <p:nvPr/>
        </p:nvSpPr>
        <p:spPr>
          <a:xfrm>
            <a:off x="7312086" y="2119567"/>
            <a:ext cx="2981482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/>
            <a:r>
              <a:rPr lang="en-GB" sz="1200">
                <a:solidFill>
                  <a:srgbClr val="164055"/>
                </a:solidFill>
                <a:latin typeface="BDO Grotesk"/>
              </a:rPr>
              <a:t>Manual QC checks on 50-100% records from the tech solution and manual research  </a:t>
            </a:r>
            <a:endParaRPr lang="en-IN" sz="1200">
              <a:solidFill>
                <a:srgbClr val="164055"/>
              </a:solidFill>
              <a:latin typeface="BDO Grotesk"/>
              <a:ea typeface="Calibri" panose="020F050202020403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33" y="470462"/>
            <a:ext cx="11143760" cy="6268365"/>
          </a:xfrm>
          <a:prstGeom prst="rect">
            <a:avLst/>
          </a:prstGeom>
        </p:spPr>
      </p:pic>
      <p:sp>
        <p:nvSpPr>
          <p:cNvPr id="3" name="Title 17">
            <a:extLst>
              <a:ext uri="{FF2B5EF4-FFF2-40B4-BE49-F238E27FC236}">
                <a16:creationId xmlns:a16="http://schemas.microsoft.com/office/drawing/2014/main" id="{3CF20784-050D-639D-09A2-DD7AA8135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33" y="35059"/>
            <a:ext cx="9454314" cy="665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4055"/>
                </a:solidFill>
                <a:sym typeface="+mn-ea"/>
              </a:rPr>
              <a:t>Detailed Data Extraction Workflow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6</a:t>
            </a:fld>
            <a:endParaRPr lang="en-US"/>
          </a:p>
        </p:txBody>
      </p:sp>
      <p:sp>
        <p:nvSpPr>
          <p:cNvPr id="29" name="Title 3"/>
          <p:cNvSpPr>
            <a:spLocks noGrp="1"/>
          </p:cNvSpPr>
          <p:nvPr/>
        </p:nvSpPr>
        <p:spPr>
          <a:xfrm>
            <a:off x="310969" y="75352"/>
            <a:ext cx="9543523" cy="665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BDO Grotesk DemiBold" charset="0"/>
                <a:ea typeface="+mj-ea"/>
                <a:cs typeface="+mj-cs"/>
              </a:defRPr>
            </a:lvl1pPr>
          </a:lstStyle>
          <a:p>
            <a:r>
              <a:rPr lang="en-US" sz="2900" b="1">
                <a:solidFill>
                  <a:srgbClr val="1A3F4E"/>
                </a:solidFill>
                <a:sym typeface="+mn-ea"/>
              </a:rPr>
              <a:t>Technical Architecture Diagram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E3412F-2A50-5ACA-DCA6-A8212B2D928E}"/>
              </a:ext>
            </a:extLst>
          </p:cNvPr>
          <p:cNvGrpSpPr/>
          <p:nvPr/>
        </p:nvGrpSpPr>
        <p:grpSpPr>
          <a:xfrm>
            <a:off x="310969" y="594452"/>
            <a:ext cx="9657435" cy="5669096"/>
            <a:chOff x="379193" y="740832"/>
            <a:chExt cx="9657435" cy="5669096"/>
          </a:xfrm>
        </p:grpSpPr>
        <p:pic>
          <p:nvPicPr>
            <p:cNvPr id="6146" name="Picture 2">
              <a:extLst>
                <a:ext uri="{FF2B5EF4-FFF2-40B4-BE49-F238E27FC236}">
                  <a16:creationId xmlns:a16="http://schemas.microsoft.com/office/drawing/2014/main" id="{5E9AC990-B7B3-97C4-6D3E-3EDC6D8E90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33" b="3586"/>
            <a:stretch/>
          </p:blipFill>
          <p:spPr bwMode="auto">
            <a:xfrm>
              <a:off x="379193" y="740832"/>
              <a:ext cx="9657435" cy="5669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D72BD3-B645-288B-FA31-749272B098C4}"/>
                </a:ext>
              </a:extLst>
            </p:cNvPr>
            <p:cNvSpPr txBox="1"/>
            <p:nvPr/>
          </p:nvSpPr>
          <p:spPr>
            <a:xfrm>
              <a:off x="4581987" y="1948543"/>
              <a:ext cx="10014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/>
                <a:t>KIAA FW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8BB9AA-BAC9-6825-F84B-0D624FD25C18}"/>
                </a:ext>
              </a:extLst>
            </p:cNvPr>
            <p:cNvSpPr txBox="1"/>
            <p:nvPr/>
          </p:nvSpPr>
          <p:spPr>
            <a:xfrm>
              <a:off x="2459273" y="3755572"/>
              <a:ext cx="10014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/>
                <a:t>KIAA FW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2A77FC-6B8C-7C4A-E366-17F624CDCD47}"/>
                </a:ext>
              </a:extLst>
            </p:cNvPr>
            <p:cNvSpPr txBox="1"/>
            <p:nvPr/>
          </p:nvSpPr>
          <p:spPr>
            <a:xfrm>
              <a:off x="4206424" y="5192486"/>
              <a:ext cx="10014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/>
                <a:t>KIAA FW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FFB455A-ECF2-BB81-FC5B-CD0172B704A6}"/>
              </a:ext>
            </a:extLst>
          </p:cNvPr>
          <p:cNvSpPr txBox="1"/>
          <p:nvPr/>
        </p:nvSpPr>
        <p:spPr>
          <a:xfrm>
            <a:off x="2459273" y="6409928"/>
            <a:ext cx="8546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rgbClr val="FF0000"/>
                </a:solidFill>
              </a:rPr>
              <a:t>Note: </a:t>
            </a:r>
            <a:r>
              <a:rPr lang="en-US" sz="1100" err="1">
                <a:solidFill>
                  <a:srgbClr val="FF0000"/>
                </a:solidFill>
              </a:rPr>
              <a:t>ScrapeX</a:t>
            </a:r>
            <a:r>
              <a:rPr lang="en-US" sz="1100">
                <a:solidFill>
                  <a:srgbClr val="FF0000"/>
                </a:solidFill>
              </a:rPr>
              <a:t> and KIAA platforms are fully owned intellectual property (IP) of Merit Data and Tech Ltd.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335" y="239739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>
                <a:solidFill>
                  <a:srgbClr val="1A3F4E"/>
                </a:solidFill>
                <a:sym typeface="+mn-ea"/>
              </a:rPr>
              <a:t>POC Deliverables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7</a:t>
            </a:fld>
            <a:endParaRPr lang="en-US"/>
          </a:p>
        </p:txBody>
      </p:sp>
      <p:sp>
        <p:nvSpPr>
          <p:cNvPr id="7" name="Text Placeholder 2"/>
          <p:cNvSpPr>
            <a:spLocks noGrp="1"/>
          </p:cNvSpPr>
          <p:nvPr/>
        </p:nvSpPr>
        <p:spPr>
          <a:xfrm>
            <a:off x="521335" y="649037"/>
            <a:ext cx="10913478" cy="44723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DO Grotesk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sz="1400" dirty="0">
              <a:solidFill>
                <a:srgbClr val="164055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GB" sz="1400" b="1" dirty="0">
                <a:solidFill>
                  <a:srgbClr val="769467"/>
                </a:solidFill>
              </a:rPr>
              <a:t>Output</a:t>
            </a:r>
            <a:r>
              <a:rPr lang="en-GB" sz="1400" dirty="0">
                <a:solidFill>
                  <a:srgbClr val="164055"/>
                </a:solidFill>
              </a:rPr>
              <a:t> - Unique data records (both complete and partial) delivered as CSV / </a:t>
            </a:r>
            <a:r>
              <a:rPr lang="en-GB" sz="1400" dirty="0" err="1">
                <a:solidFill>
                  <a:srgbClr val="164055"/>
                </a:solidFill>
              </a:rPr>
              <a:t>Excel,with</a:t>
            </a:r>
            <a:r>
              <a:rPr lang="en-GB" sz="1400" dirty="0">
                <a:solidFill>
                  <a:srgbClr val="164055"/>
                </a:solidFill>
              </a:rPr>
              <a:t> reference links for traceability, delivered in two stages –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1400" b="1" dirty="0">
                <a:solidFill>
                  <a:srgbClr val="164055"/>
                </a:solidFill>
              </a:rPr>
              <a:t>Stage I</a:t>
            </a:r>
            <a:r>
              <a:rPr lang="en-GB" sz="1400" dirty="0">
                <a:solidFill>
                  <a:srgbClr val="164055"/>
                </a:solidFill>
              </a:rPr>
              <a:t> - Post set up, deliver results for UAT(by DCB) from running the tech solution end to end and manual research for POC scope and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1400" b="1" dirty="0">
                <a:solidFill>
                  <a:srgbClr val="164055"/>
                </a:solidFill>
              </a:rPr>
              <a:t>Stage II </a:t>
            </a:r>
            <a:r>
              <a:rPr lang="en-GB" sz="1400" dirty="0">
                <a:solidFill>
                  <a:srgbClr val="164055"/>
                </a:solidFill>
              </a:rPr>
              <a:t>- Regular weekly updates from weeks 9-14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sz="1400" dirty="0">
              <a:solidFill>
                <a:srgbClr val="164055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GB" sz="1400" b="1" dirty="0">
                <a:solidFill>
                  <a:srgbClr val="769467"/>
                </a:solidFill>
              </a:rPr>
              <a:t>Reporting  </a:t>
            </a:r>
            <a:r>
              <a:rPr lang="en-GB" sz="1400" b="1" dirty="0">
                <a:solidFill>
                  <a:srgbClr val="164055"/>
                </a:solidFill>
              </a:rPr>
              <a:t>-</a:t>
            </a:r>
            <a:r>
              <a:rPr lang="en-GB" sz="1400" dirty="0">
                <a:solidFill>
                  <a:srgbClr val="164055"/>
                </a:solidFill>
              </a:rPr>
              <a:t> High level reporting on Stage I (i.e. after the 8-week solution is set up and run end to end for the first time) includes the number of: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rgbClr val="164055"/>
                </a:solidFill>
              </a:rPr>
              <a:t>complete and unique records identified through automated tech solution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rgbClr val="164055"/>
                </a:solidFill>
              </a:rPr>
              <a:t>partial records from the tech solution enriched by manual research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rgbClr val="164055"/>
                </a:solidFill>
              </a:rPr>
              <a:t>partial records from the tech solution that cannot be enriched by manual research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rgbClr val="164055"/>
                </a:solidFill>
              </a:rPr>
              <a:t>records added by manual research of non-public sources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rgbClr val="164055"/>
                </a:solidFill>
              </a:rPr>
              <a:t>records matching existing / live records in DCB platform (i.e. duplicates when compared to the 286 live records)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GB" sz="1400" dirty="0">
              <a:solidFill>
                <a:srgbClr val="164055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GB" sz="1400" b="1" dirty="0">
                <a:solidFill>
                  <a:srgbClr val="769467"/>
                </a:solidFill>
              </a:rPr>
              <a:t>Reporting  </a:t>
            </a:r>
            <a:r>
              <a:rPr lang="en-GB" sz="1400" b="1" dirty="0">
                <a:solidFill>
                  <a:srgbClr val="164055"/>
                </a:solidFill>
              </a:rPr>
              <a:t>-</a:t>
            </a:r>
            <a:r>
              <a:rPr lang="en-GB" sz="1400" dirty="0">
                <a:solidFill>
                  <a:srgbClr val="164055"/>
                </a:solidFill>
              </a:rPr>
              <a:t> High level reporting on Stage II (i.e. weekly updates (week 9-16) from the recurring run of the tech solution and the manual research cycle (weekly)) includes the number of: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rgbClr val="164055"/>
                </a:solidFill>
              </a:rPr>
              <a:t>new records added by the tech solution in the week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rgbClr val="164055"/>
                </a:solidFill>
              </a:rPr>
              <a:t>partial records from the tech solution enriched by manual research in the week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rgbClr val="164055"/>
                </a:solidFill>
              </a:rPr>
              <a:t>partial records from the tech solution that cannot be enriched by manual research in the week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1400" dirty="0">
                <a:solidFill>
                  <a:srgbClr val="164055"/>
                </a:solidFill>
              </a:rPr>
              <a:t>records added by manual research of non-public sources in the week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sz="1400" dirty="0">
              <a:solidFill>
                <a:srgbClr val="164055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GB" sz="1400" b="1" dirty="0">
                <a:solidFill>
                  <a:srgbClr val="769467"/>
                </a:solidFill>
                <a:ea typeface="Calibri" panose="020F0502020204030204" charset="0"/>
                <a:cs typeface="Times New Roman" panose="02020603050405020304" pitchFamily="18" charset="0"/>
                <a:sym typeface="+mn-ea"/>
              </a:rPr>
              <a:t>Other Metrics </a:t>
            </a:r>
            <a:r>
              <a:rPr lang="en-GB" sz="1400" dirty="0">
                <a:solidFill>
                  <a:srgbClr val="164055"/>
                </a:solidFill>
                <a:ea typeface="Calibri" panose="020F0502020204030204" charset="0"/>
                <a:cs typeface="Times New Roman" panose="02020603050405020304" pitchFamily="18" charset="0"/>
                <a:sym typeface="+mn-ea"/>
              </a:rPr>
              <a:t>– Number of records from each source, no of data fields by source</a:t>
            </a:r>
            <a:endParaRPr lang="en-GB" sz="1400" dirty="0">
              <a:solidFill>
                <a:srgbClr val="164055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sz="1300" b="1" dirty="0" smtClean="0">
              <a:solidFill>
                <a:srgbClr val="769467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300" b="1" dirty="0" smtClean="0">
                <a:solidFill>
                  <a:srgbClr val="769467"/>
                </a:solidFill>
              </a:rPr>
              <a:t>Note</a:t>
            </a:r>
            <a:r>
              <a:rPr lang="en-GB" sz="1300" b="1" dirty="0">
                <a:solidFill>
                  <a:srgbClr val="769467"/>
                </a:solidFill>
              </a:rPr>
              <a:t>: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300" dirty="0">
                <a:solidFill>
                  <a:srgbClr val="164055"/>
                </a:solidFill>
              </a:rPr>
              <a:t>All results received from open search and LinkedIn – US </a:t>
            </a:r>
            <a:endParaRPr lang="en-IN" sz="1300" dirty="0">
              <a:solidFill>
                <a:srgbClr val="164055"/>
              </a:solidFill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300" dirty="0">
                <a:solidFill>
                  <a:srgbClr val="164055"/>
                </a:solidFill>
              </a:rPr>
              <a:t>Registry search will be performed only for regions that will be agreed in scope</a:t>
            </a:r>
            <a:endParaRPr lang="en-US" sz="1300" dirty="0">
              <a:solidFill>
                <a:srgbClr val="16405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solidFill>
                <a:srgbClr val="164055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164055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Blip>
                <a:blip r:embed="rId2"/>
              </a:buBlip>
            </a:pPr>
            <a:endParaRPr lang="en-IN" sz="1600" dirty="0">
              <a:solidFill>
                <a:srgbClr val="164055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IN" sz="1600" b="0" dirty="0">
              <a:solidFill>
                <a:srgbClr val="1A3F4E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  <a:p>
            <a:pPr marR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3"/>
              </a:buBlip>
            </a:pPr>
            <a:endParaRPr lang="en-IN" sz="1400" b="0" dirty="0">
              <a:solidFill>
                <a:srgbClr val="1A3F4E"/>
              </a:solidFill>
              <a:effectLst/>
              <a:ea typeface="Calibri" panose="020F0502020204030204" charset="0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7731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A76DF4-E9AD-1B4F-348E-2244F1D4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284E32-724E-50DE-A662-CF06C91CD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52" y="242781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A3F4E"/>
                </a:solidFill>
                <a:sym typeface="+mn-ea"/>
              </a:rPr>
              <a:t>POC Costs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B60EFB-4346-9663-FAD9-97DA44E69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980035"/>
              </p:ext>
            </p:extLst>
          </p:nvPr>
        </p:nvGraphicFramePr>
        <p:xfrm>
          <a:off x="288220" y="874021"/>
          <a:ext cx="11675520" cy="5522284"/>
        </p:xfrm>
        <a:graphic>
          <a:graphicData uri="http://schemas.openxmlformats.org/drawingml/2006/table">
            <a:tbl>
              <a:tblPr/>
              <a:tblGrid>
                <a:gridCol w="6144413">
                  <a:extLst>
                    <a:ext uri="{9D8B030D-6E8A-4147-A177-3AD203B41FA5}">
                      <a16:colId xmlns:a16="http://schemas.microsoft.com/office/drawing/2014/main" val="1572609396"/>
                    </a:ext>
                  </a:extLst>
                </a:gridCol>
                <a:gridCol w="1658196">
                  <a:extLst>
                    <a:ext uri="{9D8B030D-6E8A-4147-A177-3AD203B41FA5}">
                      <a16:colId xmlns:a16="http://schemas.microsoft.com/office/drawing/2014/main" val="3192963808"/>
                    </a:ext>
                  </a:extLst>
                </a:gridCol>
                <a:gridCol w="3872911">
                  <a:extLst>
                    <a:ext uri="{9D8B030D-6E8A-4147-A177-3AD203B41FA5}">
                      <a16:colId xmlns:a16="http://schemas.microsoft.com/office/drawing/2014/main" val="3629496369"/>
                    </a:ext>
                  </a:extLst>
                </a:gridCol>
              </a:tblGrid>
              <a:tr h="31020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Description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Cost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Comments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710923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Discovery, Analysis and Planning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FOC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9777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Solution Design and System Set up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£500.00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445674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 err="1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ScrapeX</a:t>
                      </a:r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 configuration - c200 sources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£4,120.00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Refer Appendix I - </a:t>
                      </a:r>
                      <a:r>
                        <a:rPr lang="en-GB" sz="1400" kern="1200" dirty="0" smtClean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VI </a:t>
                      </a:r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for the full list of sources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956965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AI/ML solution using KIAA framework - classifier, semantic de-duping, data mining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£5,120.00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363667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Solution Testing /QA (Tech)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£800.00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701600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Solution Integration and Deployment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£800.00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921265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Documentation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FOC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36827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Project Management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FOC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224830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Total Solution Customisation and Set Up Costs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1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£11,340.00</a:t>
                      </a:r>
                      <a:endParaRPr lang="en-GB" sz="1400" b="0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1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1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900624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05940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Manual Resource Cost - 2 FTEs  @£1,500 Per FTE Per Month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1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FOC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1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 Manual QC, Prim &amp; Sec Research Non-public Sources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1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867160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670508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Total Infra Costs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1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£2,500.00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1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Costs for 8 weeks - Ref Appendix VI for Infra Details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1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8222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749527"/>
                  </a:ext>
                </a:extLst>
              </a:tr>
              <a:tr h="296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Total Cost of POC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£13,840.00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 Ref Slide 12 for POC Timelines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255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490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70778C-85F1-3158-6026-BA4CCFDC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66F6B8-006B-9FA1-15B9-A1EEE1F1A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73" y="177954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A3F4E"/>
                </a:solidFill>
                <a:sym typeface="+mn-ea"/>
              </a:rPr>
              <a:t>Estimated Full Project Costs – High Level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867872-EACB-A676-B09E-4A0DD3944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294497"/>
              </p:ext>
            </p:extLst>
          </p:nvPr>
        </p:nvGraphicFramePr>
        <p:xfrm>
          <a:off x="344773" y="822961"/>
          <a:ext cx="11015485" cy="5050164"/>
        </p:xfrm>
        <a:graphic>
          <a:graphicData uri="http://schemas.openxmlformats.org/drawingml/2006/table">
            <a:tbl>
              <a:tblPr/>
              <a:tblGrid>
                <a:gridCol w="5335182">
                  <a:extLst>
                    <a:ext uri="{9D8B030D-6E8A-4147-A177-3AD203B41FA5}">
                      <a16:colId xmlns:a16="http://schemas.microsoft.com/office/drawing/2014/main" val="1510284917"/>
                    </a:ext>
                  </a:extLst>
                </a:gridCol>
                <a:gridCol w="1194242">
                  <a:extLst>
                    <a:ext uri="{9D8B030D-6E8A-4147-A177-3AD203B41FA5}">
                      <a16:colId xmlns:a16="http://schemas.microsoft.com/office/drawing/2014/main" val="204752796"/>
                    </a:ext>
                  </a:extLst>
                </a:gridCol>
                <a:gridCol w="4486061">
                  <a:extLst>
                    <a:ext uri="{9D8B030D-6E8A-4147-A177-3AD203B41FA5}">
                      <a16:colId xmlns:a16="http://schemas.microsoft.com/office/drawing/2014/main" val="2015563151"/>
                    </a:ext>
                  </a:extLst>
                </a:gridCol>
              </a:tblGrid>
              <a:tr h="24932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Description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Cost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Comments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943347"/>
                  </a:ext>
                </a:extLst>
              </a:tr>
              <a:tr h="295284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Discovery, Analysis and Planning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FOC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Incl. flights +accommodation for 3 DCB resources for 1week in Chennai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403720"/>
                  </a:ext>
                </a:extLst>
              </a:tr>
              <a:tr h="24932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Solution Design and System Set up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£1,600</a:t>
                      </a:r>
                      <a:endParaRPr lang="en-US" sz="12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693179"/>
                  </a:ext>
                </a:extLst>
              </a:tr>
              <a:tr h="423845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kern="1200" dirty="0" err="1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ScrapeX</a:t>
                      </a:r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kern="1200" dirty="0" smtClean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configuration – c3500 sources (Incl. LinkedIn Links (750), Twitter Handles(750))</a:t>
                      </a:r>
                      <a:endParaRPr lang="en-GB" sz="12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£38,000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kern="1200" dirty="0" smtClean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 </a:t>
                      </a:r>
                      <a:endParaRPr lang="en-GB" sz="12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328362"/>
                  </a:ext>
                </a:extLst>
              </a:tr>
              <a:tr h="423845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AI/ML solution using KIAA framework - classifier, semantic de-duping, data mining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£12,800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34784"/>
                  </a:ext>
                </a:extLst>
              </a:tr>
              <a:tr h="24932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Solution Testing /QA (Tech)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£6,400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841480"/>
                  </a:ext>
                </a:extLst>
              </a:tr>
              <a:tr h="24932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Automated Validation Checks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£4,500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532966"/>
                  </a:ext>
                </a:extLst>
              </a:tr>
              <a:tr h="24932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Solution Integration and Deployment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£4,000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169739"/>
                  </a:ext>
                </a:extLst>
              </a:tr>
              <a:tr h="24932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Documentation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FOC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40914"/>
                  </a:ext>
                </a:extLst>
              </a:tr>
              <a:tr h="24932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Project Management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£3,850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558374"/>
                  </a:ext>
                </a:extLst>
              </a:tr>
              <a:tr h="24932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Total Solution Set Up / Configuration Costs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E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£71,150</a:t>
                      </a:r>
                      <a:endParaRPr lang="en-GB" sz="1200" b="0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r>
                        <a:rPr lang="en-US" sz="1200" b="1" kern="1200" dirty="0" smtClean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Note</a:t>
                      </a:r>
                      <a:r>
                        <a:rPr lang="en-US" sz="1200" kern="1200" dirty="0" smtClean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: Includes foreign language sources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84374"/>
                  </a:ext>
                </a:extLst>
              </a:tr>
              <a:tr h="249320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274697"/>
                  </a:ext>
                </a:extLst>
              </a:tr>
              <a:tr h="24932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Manual Resource Cost (Research only)  - 3 FTEs (TBC)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E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£4,500</a:t>
                      </a:r>
                      <a:endParaRPr lang="en-GB" sz="1200" b="0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559662"/>
                  </a:ext>
                </a:extLst>
              </a:tr>
              <a:tr h="249320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863867"/>
                  </a:ext>
                </a:extLst>
              </a:tr>
              <a:tr h="24932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Total Infra Costs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E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£17,400</a:t>
                      </a:r>
                      <a:endParaRPr lang="en-GB" sz="1200" b="0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E7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Costs for 4.5months - Refer App </a:t>
                      </a:r>
                      <a:r>
                        <a:rPr lang="en-GB" sz="120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VIII </a:t>
                      </a:r>
                      <a:r>
                        <a:rPr lang="en-GB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for Infra Details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220919"/>
                  </a:ext>
                </a:extLst>
              </a:tr>
              <a:tr h="249320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874763"/>
                  </a:ext>
                </a:extLst>
              </a:tr>
              <a:tr h="24932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Total Cost of Solution Customisation / Configuration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£93,050</a:t>
                      </a:r>
                      <a:endParaRPr lang="en-GB" sz="1200" b="0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Ref Slide </a:t>
                      </a:r>
                      <a:r>
                        <a:rPr lang="en-GB" sz="120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11 </a:t>
                      </a:r>
                      <a:r>
                        <a:rPr lang="en-GB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for POC Timelines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745548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344774" y="6006271"/>
            <a:ext cx="110154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 smtClean="0">
                <a:solidFill>
                  <a:srgbClr val="164055"/>
                </a:solidFill>
                <a:latin typeface="BDO Grotesk DemiBold" charset="0"/>
                <a:ea typeface="+mj-ea"/>
                <a:cs typeface="+mj-cs"/>
              </a:rPr>
              <a:t>Note: A</a:t>
            </a:r>
            <a:r>
              <a:rPr lang="en-US" sz="1200" dirty="0" smtClean="0">
                <a:solidFill>
                  <a:srgbClr val="164055"/>
                </a:solidFill>
                <a:latin typeface="BDO Grotesk" charset="0"/>
              </a:rPr>
              <a:t> </a:t>
            </a:r>
            <a:r>
              <a:rPr lang="en-US" sz="1200" dirty="0">
                <a:solidFill>
                  <a:srgbClr val="164055"/>
                </a:solidFill>
                <a:latin typeface="BDO Grotesk" charset="0"/>
              </a:rPr>
              <a:t>basic user interface (UI) </a:t>
            </a:r>
            <a:r>
              <a:rPr lang="en-US" sz="1200" dirty="0" smtClean="0">
                <a:solidFill>
                  <a:srgbClr val="164055"/>
                </a:solidFill>
                <a:latin typeface="BDO Grotesk" charset="0"/>
              </a:rPr>
              <a:t>can be </a:t>
            </a:r>
            <a:r>
              <a:rPr lang="en-US" sz="1200" dirty="0" err="1" smtClean="0">
                <a:solidFill>
                  <a:srgbClr val="164055"/>
                </a:solidFill>
                <a:latin typeface="BDO Grotesk" charset="0"/>
              </a:rPr>
              <a:t>customised</a:t>
            </a:r>
            <a:r>
              <a:rPr lang="en-US" sz="1200" dirty="0" smtClean="0">
                <a:solidFill>
                  <a:srgbClr val="164055"/>
                </a:solidFill>
                <a:latin typeface="BDO Grotesk" charset="0"/>
              </a:rPr>
              <a:t> to </a:t>
            </a:r>
            <a:r>
              <a:rPr lang="en-US" sz="1200" dirty="0">
                <a:solidFill>
                  <a:srgbClr val="164055"/>
                </a:solidFill>
                <a:latin typeface="BDO Grotesk" charset="0"/>
              </a:rPr>
              <a:t>facilitate the review and approval of the extracted </a:t>
            </a:r>
            <a:r>
              <a:rPr lang="en-US" sz="1200" dirty="0" smtClean="0">
                <a:solidFill>
                  <a:srgbClr val="164055"/>
                </a:solidFill>
                <a:latin typeface="BDO Grotesk" charset="0"/>
              </a:rPr>
              <a:t>and supplied final data</a:t>
            </a:r>
            <a:r>
              <a:rPr lang="en-US" sz="1200" dirty="0">
                <a:solidFill>
                  <a:srgbClr val="164055"/>
                </a:solidFill>
                <a:latin typeface="BDO Grotesk" charset="0"/>
              </a:rPr>
              <a:t>. The estimated cost for this </a:t>
            </a:r>
            <a:r>
              <a:rPr lang="en-US" sz="1200" dirty="0" smtClean="0">
                <a:solidFill>
                  <a:srgbClr val="164055"/>
                </a:solidFill>
                <a:latin typeface="BDO Grotesk" charset="0"/>
              </a:rPr>
              <a:t>basic UI component </a:t>
            </a:r>
            <a:r>
              <a:rPr lang="en-US" sz="1200" dirty="0">
                <a:solidFill>
                  <a:srgbClr val="164055"/>
                </a:solidFill>
                <a:latin typeface="BDO Grotesk" charset="0"/>
              </a:rPr>
              <a:t>is £</a:t>
            </a:r>
            <a:r>
              <a:rPr lang="en-US" sz="1200" dirty="0" smtClean="0">
                <a:solidFill>
                  <a:srgbClr val="164055"/>
                </a:solidFill>
                <a:latin typeface="BDO Grotesk" charset="0"/>
              </a:rPr>
              <a:t>8,000.</a:t>
            </a:r>
            <a:r>
              <a:rPr lang="en-GB" sz="1200" dirty="0" smtClean="0">
                <a:solidFill>
                  <a:srgbClr val="164055"/>
                </a:solidFill>
                <a:latin typeface="BDO Grotesk" charset="0"/>
              </a:rPr>
              <a:t>  </a:t>
            </a:r>
            <a:endParaRPr lang="en-GB" sz="1200" dirty="0">
              <a:solidFill>
                <a:srgbClr val="164055"/>
              </a:solidFill>
              <a:latin typeface="BDO Grotes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138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74B22-74A3-1F3F-784F-7BF5BF8A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BB4CDE-2264-8589-002D-A526CE9D7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4BADAB-7830-2530-3B3D-616FE1F08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83" y="369897"/>
            <a:ext cx="10406495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A3F4E"/>
                </a:solidFill>
                <a:sym typeface="+mn-ea"/>
              </a:rPr>
              <a:t>Estimated Recurring BAU Costs (Monthly) – High Level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532C54-65A8-D713-57AA-0C610DB97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040877"/>
              </p:ext>
            </p:extLst>
          </p:nvPr>
        </p:nvGraphicFramePr>
        <p:xfrm>
          <a:off x="1117600" y="1981199"/>
          <a:ext cx="10264606" cy="2158184"/>
        </p:xfrm>
        <a:graphic>
          <a:graphicData uri="http://schemas.openxmlformats.org/drawingml/2006/table">
            <a:tbl>
              <a:tblPr/>
              <a:tblGrid>
                <a:gridCol w="5361023">
                  <a:extLst>
                    <a:ext uri="{9D8B030D-6E8A-4147-A177-3AD203B41FA5}">
                      <a16:colId xmlns:a16="http://schemas.microsoft.com/office/drawing/2014/main" val="117045123"/>
                    </a:ext>
                  </a:extLst>
                </a:gridCol>
                <a:gridCol w="1329300">
                  <a:extLst>
                    <a:ext uri="{9D8B030D-6E8A-4147-A177-3AD203B41FA5}">
                      <a16:colId xmlns:a16="http://schemas.microsoft.com/office/drawing/2014/main" val="3979923034"/>
                    </a:ext>
                  </a:extLst>
                </a:gridCol>
                <a:gridCol w="3574283">
                  <a:extLst>
                    <a:ext uri="{9D8B030D-6E8A-4147-A177-3AD203B41FA5}">
                      <a16:colId xmlns:a16="http://schemas.microsoft.com/office/drawing/2014/main" val="4071277774"/>
                    </a:ext>
                  </a:extLst>
                </a:gridCol>
              </a:tblGrid>
              <a:tr h="39476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Description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Cost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Comments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211079"/>
                  </a:ext>
                </a:extLst>
              </a:tr>
              <a:tr h="39476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Licensing Cost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£12,500.00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804996"/>
                  </a:ext>
                </a:extLst>
              </a:tr>
              <a:tr h="39476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Estimated Infra Cost (charged on actuals)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Aptos Narrow" panose="020B0004020202020204" pitchFamily="34" charset="0"/>
                        </a:rPr>
                        <a:t>£6000.00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 High level estimates but billed on actuals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491283"/>
                  </a:ext>
                </a:extLst>
              </a:tr>
              <a:tr h="394766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Manual Resource Cost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 TBC after POC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835272"/>
                  </a:ext>
                </a:extLst>
              </a:tr>
              <a:tr h="394766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Total Recurring Cost Including Infra and Manual License Cost 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E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£18,500.00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E7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503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95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B29F9-DF57-AF35-DC93-B67474350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79D2E-2230-7C6F-6A0F-F50654A3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8072B7-08DF-A371-55B5-0FFC02A3D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35" y="374650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>
                <a:solidFill>
                  <a:srgbClr val="1A3F4E"/>
                </a:solidFill>
                <a:sym typeface="+mn-ea"/>
              </a:rPr>
              <a:t>Key Milestones and Projected Timelines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983057-F2D8-6CB7-3C5B-5D2D0C773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938621"/>
              </p:ext>
            </p:extLst>
          </p:nvPr>
        </p:nvGraphicFramePr>
        <p:xfrm>
          <a:off x="337457" y="1186995"/>
          <a:ext cx="11213058" cy="444350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88686">
                  <a:extLst>
                    <a:ext uri="{9D8B030D-6E8A-4147-A177-3AD203B41FA5}">
                      <a16:colId xmlns:a16="http://schemas.microsoft.com/office/drawing/2014/main" val="3505383067"/>
                    </a:ext>
                  </a:extLst>
                </a:gridCol>
                <a:gridCol w="2008182">
                  <a:extLst>
                    <a:ext uri="{9D8B030D-6E8A-4147-A177-3AD203B41FA5}">
                      <a16:colId xmlns:a16="http://schemas.microsoft.com/office/drawing/2014/main" val="4199511902"/>
                    </a:ext>
                  </a:extLst>
                </a:gridCol>
                <a:gridCol w="1964724">
                  <a:extLst>
                    <a:ext uri="{9D8B030D-6E8A-4147-A177-3AD203B41FA5}">
                      <a16:colId xmlns:a16="http://schemas.microsoft.com/office/drawing/2014/main" val="2415753506"/>
                    </a:ext>
                  </a:extLst>
                </a:gridCol>
                <a:gridCol w="1951466">
                  <a:extLst>
                    <a:ext uri="{9D8B030D-6E8A-4147-A177-3AD203B41FA5}">
                      <a16:colId xmlns:a16="http://schemas.microsoft.com/office/drawing/2014/main" val="2860393258"/>
                    </a:ext>
                  </a:extLst>
                </a:gridCol>
              </a:tblGrid>
              <a:tr h="342469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Milestones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Estimated Duration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Planned Start Date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Planned End Date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156481"/>
                  </a:ext>
                </a:extLst>
              </a:tr>
              <a:tr h="34246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POC Milestones and Timelines 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600" b="1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600" b="1" kern="120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600" b="1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96344"/>
                  </a:ext>
                </a:extLst>
              </a:tr>
              <a:tr h="3424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POC Solution Configuration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7694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8 Weeks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03-Nov-25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05-Jan-26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815157"/>
                  </a:ext>
                </a:extLst>
              </a:tr>
              <a:tr h="3424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POC UAT (output checks by DCB)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7694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2 Weeks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06-Jan-26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20-Jan-26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80016"/>
                  </a:ext>
                </a:extLst>
              </a:tr>
              <a:tr h="3424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POC UAT Issue Fixes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7694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1 Week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21-Jan-26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27-Jan-26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382225"/>
                  </a:ext>
                </a:extLst>
              </a:tr>
              <a:tr h="38814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Full Project Milestones and Timelines 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sz="1600" b="1" i="0" u="none" strike="noStrike" kern="120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sz="1600" b="1" i="0" u="none" strike="noStrike" kern="120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64135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 kern="1200">
                          <a:solidFill>
                            <a:schemeClr val="bg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Final Proposal Discussion Cost </a:t>
                      </a:r>
                      <a:r>
                        <a:rPr lang="en-US" sz="1600" b="0" i="0" u="none" strike="noStrike" kern="1200" err="1">
                          <a:solidFill>
                            <a:schemeClr val="bg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Finalisation</a:t>
                      </a:r>
                      <a:r>
                        <a:rPr lang="en-US" sz="1600" b="0" i="0" u="none" strike="noStrike" kern="1200">
                          <a:solidFill>
                            <a:schemeClr val="bg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and Contracts Setup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7694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4 Weeks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27-Jan-26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27-Feb-26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06915"/>
                  </a:ext>
                </a:extLst>
              </a:tr>
              <a:tr h="3940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Full Project Solution </a:t>
                      </a:r>
                      <a:r>
                        <a:rPr lang="en-US" sz="16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Customisation</a:t>
                      </a:r>
                      <a:r>
                        <a:rPr lang="en-US" sz="16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/ Configuration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7694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18 Weeks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02-Mar-26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15-Jul-26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953076"/>
                  </a:ext>
                </a:extLst>
              </a:tr>
              <a:tr h="3424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UAT (output checks by DCB)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7694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4 Weeks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16-Jul-26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14-Aug-26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032848"/>
                  </a:ext>
                </a:extLst>
              </a:tr>
              <a:tr h="3424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UAT Feedback Fixes and Deployment 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7694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2 Weeks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17-Aug-26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28-Aug-26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701425"/>
                  </a:ext>
                </a:extLst>
              </a:tr>
              <a:tr h="34246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BAU Commencement 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600" b="0" i="0" u="none" strike="noStrike" kern="1200">
                        <a:solidFill>
                          <a:srgbClr val="000000"/>
                        </a:solidFill>
                        <a:effectLst/>
                        <a:latin typeface="Aptos Narrow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826057"/>
                  </a:ext>
                </a:extLst>
              </a:tr>
              <a:tr h="3424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BAU Start date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7694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Ongoing Monthly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01 Sep 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481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939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335" y="374650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A3F4E"/>
                </a:solidFill>
                <a:sym typeface="+mn-ea"/>
              </a:rPr>
              <a:t>Appendix I - LinkedIn </a:t>
            </a:r>
            <a:r>
              <a:rPr lang="en-US" sz="2900" b="1" dirty="0" smtClean="0">
                <a:solidFill>
                  <a:srgbClr val="1A3F4E"/>
                </a:solidFill>
                <a:sym typeface="+mn-ea"/>
              </a:rPr>
              <a:t>SMEs/Contacts</a:t>
            </a:r>
            <a:endParaRPr lang="en-US" sz="2900" b="1" dirty="0">
              <a:solidFill>
                <a:srgbClr val="1A3F4E"/>
              </a:solidFill>
              <a:sym typeface="+mn-e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12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21335" y="1110469"/>
            <a:ext cx="3361117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Louis Cook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Ben 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Sooter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Mark Lewis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Michael (Mike) 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Danny Morgan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José Miguel Corral Ruiz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Edwin </a:t>
            </a:r>
            <a:r>
              <a:rPr lang="en-US" sz="1400" dirty="0" err="1">
                <a:solidFill>
                  <a:srgbClr val="164055"/>
                </a:solidFill>
                <a:latin typeface="BDO Grotesk" charset="0"/>
              </a:rPr>
              <a:t>Tello</a:t>
            </a:r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Lewis Vaughan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Patrick </a:t>
            </a:r>
            <a:r>
              <a:rPr lang="en-US" sz="1400" dirty="0" err="1">
                <a:solidFill>
                  <a:srgbClr val="164055"/>
                </a:solidFill>
                <a:latin typeface="BDO Grotesk" charset="0"/>
              </a:rPr>
              <a:t>McGwan</a:t>
            </a:r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Matthew Gooding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Jack Baldwin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Lewis Snell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Tom Moriarty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Josh </a:t>
            </a:r>
            <a:r>
              <a:rPr lang="en-US" sz="1400" dirty="0" err="1">
                <a:solidFill>
                  <a:srgbClr val="164055"/>
                </a:solidFill>
                <a:latin typeface="BDO Grotesk" charset="0"/>
              </a:rPr>
              <a:t>Tomasulo</a:t>
            </a:r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Ahmed </a:t>
            </a:r>
            <a:r>
              <a:rPr lang="en-US" sz="1400" dirty="0" err="1">
                <a:solidFill>
                  <a:srgbClr val="164055"/>
                </a:solidFill>
                <a:latin typeface="BDO Grotesk" charset="0"/>
              </a:rPr>
              <a:t>Ayoub</a:t>
            </a:r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Brody Ford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Reid </a:t>
            </a:r>
            <a:r>
              <a:rPr lang="en-US" sz="1400" dirty="0" err="1">
                <a:solidFill>
                  <a:srgbClr val="164055"/>
                </a:solidFill>
                <a:latin typeface="BDO Grotesk" charset="0"/>
              </a:rPr>
              <a:t>Lifset</a:t>
            </a:r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Brad </a:t>
            </a:r>
            <a:r>
              <a:rPr lang="en-US" sz="1400" dirty="0" err="1">
                <a:solidFill>
                  <a:srgbClr val="164055"/>
                </a:solidFill>
                <a:latin typeface="BDO Grotesk" charset="0"/>
              </a:rPr>
              <a:t>Nowack</a:t>
            </a:r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Michael Thomas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Joao Xavier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endParaRPr lang="en-GB" sz="1600" dirty="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145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335" y="374650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>
                <a:solidFill>
                  <a:srgbClr val="1A3F4E"/>
                </a:solidFill>
                <a:sym typeface="+mn-ea"/>
              </a:rPr>
              <a:t>Appendix II – News and Media Outlet Sources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21335" y="1128629"/>
            <a:ext cx="3885773" cy="380873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Wall Street Journal</a:t>
            </a:r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Bloomberg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GlobeNewswire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Business Wire</a:t>
            </a:r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PR Newswire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Yahoo 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Finance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Mission Critical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The Real Deal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Commercial Edge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Dallas Business Journal</a:t>
            </a:r>
          </a:p>
          <a:p>
            <a:pPr marL="34290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Phoenix Business Journal</a:t>
            </a:r>
          </a:p>
          <a:p>
            <a:pPr marL="34290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Washington Business Journal</a:t>
            </a:r>
          </a:p>
          <a:p>
            <a:pPr marL="34290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 err="1" smtClean="0">
                <a:solidFill>
                  <a:srgbClr val="164055"/>
                </a:solidFill>
                <a:latin typeface="BDO Grotesk" charset="0"/>
              </a:rPr>
              <a:t>Altlanta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 Business Chronicle</a:t>
            </a:r>
          </a:p>
          <a:p>
            <a:pPr marL="34290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Columbus Business First</a:t>
            </a:r>
          </a:p>
          <a:p>
            <a:pPr marL="342900" indent="-34290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Virginia Business</a:t>
            </a:r>
            <a:endParaRPr lang="en-US" sz="1400" dirty="0">
              <a:solidFill>
                <a:srgbClr val="164055"/>
              </a:solidFill>
              <a:latin typeface="BDO Grotes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796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4652B-8A25-5C0C-EF5C-4BFD297E6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A28063-7C32-98A2-E18E-B0185742C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35" y="374650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>
                <a:solidFill>
                  <a:srgbClr val="1A3F4E"/>
                </a:solidFill>
                <a:sym typeface="+mn-ea"/>
              </a:rPr>
              <a:t>Appendix III – Key </a:t>
            </a:r>
            <a:r>
              <a:rPr lang="en-US" sz="2900" b="1" err="1">
                <a:solidFill>
                  <a:srgbClr val="1A3F4E"/>
                </a:solidFill>
                <a:sym typeface="+mn-ea"/>
              </a:rPr>
              <a:t>Organisation</a:t>
            </a:r>
            <a:r>
              <a:rPr lang="en-US" sz="2900" b="1">
                <a:solidFill>
                  <a:srgbClr val="1A3F4E"/>
                </a:solidFill>
                <a:sym typeface="+mn-ea"/>
              </a:rPr>
              <a:t> Websites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D43BCC-58C7-3DFA-7B88-40D23A67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21335" y="1231629"/>
            <a:ext cx="12235295" cy="4091889"/>
          </a:xfrm>
          <a:prstGeom prst="rect">
            <a:avLst/>
          </a:prstGeom>
        </p:spPr>
        <p:txBody>
          <a:bodyPr wrap="square" lIns="91440" tIns="45720" rIns="91440" bIns="45720" numCol="2" anchor="t">
            <a:spAutoFit/>
          </a:bodyPr>
          <a:lstStyle/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Microsoft (microsoft.com / azure.microsoft.com)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Google (cloud.google.com)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Amazon (aws.amazon.com)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Oracle (oracle.com / cloud.oracle.com)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Meta (meta.com (or infrastructure / 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datacenter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subpages))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Equinix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(equinix.com)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Digital Realty (digitalrealty.com)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400" dirty="0" smtClean="0">
                <a:solidFill>
                  <a:srgbClr val="164055"/>
                </a:solidFill>
                <a:latin typeface="BDO Grotesk" charset="0"/>
              </a:rPr>
              <a:t>Cyrus One 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(cyrusone.com)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Iron Mountain Data 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Centers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(</a:t>
            </a:r>
            <a:r>
              <a:rPr lang="en-GB" sz="1400" dirty="0" smtClean="0">
                <a:solidFill>
                  <a:srgbClr val="164055"/>
                </a:solidFill>
                <a:latin typeface="BDO Grotesk" charset="0"/>
              </a:rPr>
              <a:t>ironmountain.com)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STACK Infrastructure (stackinfra.com)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endParaRPr lang="en-GB" sz="1400" dirty="0" smtClean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endParaRPr lang="en-GB" sz="1400" dirty="0" smtClean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>
              <a:lnSpc>
                <a:spcPct val="114999"/>
              </a:lnSpc>
            </a:pPr>
            <a:endParaRPr lang="en-GB" sz="1600" dirty="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B73569-C308-F302-050C-BF3C409687DB}"/>
              </a:ext>
            </a:extLst>
          </p:cNvPr>
          <p:cNvSpPr/>
          <p:nvPr/>
        </p:nvSpPr>
        <p:spPr>
          <a:xfrm>
            <a:off x="4560828" y="1043886"/>
            <a:ext cx="7625420" cy="375487"/>
          </a:xfrm>
          <a:prstGeom prst="rect">
            <a:avLst/>
          </a:prstGeom>
        </p:spPr>
        <p:txBody>
          <a:bodyPr wrap="square" lIns="91440" tIns="45720" rIns="91440" bIns="45720" numCol="2" anchor="t">
            <a:spAutoFit/>
          </a:bodyPr>
          <a:lstStyle/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endParaRPr lang="en-GB" sz="160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50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C965-4D8A-DF7B-9E77-5516A0EBF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C6CC03-B194-5E82-0B3E-4915C08AB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35" y="374650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>
                <a:solidFill>
                  <a:srgbClr val="1A3F4E"/>
                </a:solidFill>
                <a:sym typeface="+mn-ea"/>
              </a:rPr>
              <a:t>Appendix IV – Commercial Data Providers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4B292B-1200-E10A-527B-FC16CBF9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21335" y="1012715"/>
            <a:ext cx="793311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CoStar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LoopNet (commercial real estate listings)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Real Capital Analytics (RCA)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PitchBook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(for transaction deals)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S&amp;P Global Market Intelligence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Bloomberg Terminal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FactSet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CBRE / JLL proprietary reports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Bloxberg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/ CB Insights (for tech infrastructure)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Platts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/ S&amp;P 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Platts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/ IHS 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Markit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(for energy / power contracts)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Gridwise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/ Wood Mackenzie (for energy / grid analytics)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GTM / 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Greentech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Media (for power / renewables, sometimes adjacent)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Inframation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(conference / deal intelligence)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Infrastructure Investor (subscriber content)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Data 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Center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Map (paid)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Structure Research (subscription)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451 Research (subscription)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Futurum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/ Forrester / Gartner (for forecasts)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IDC (for infrastructure / cloud)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Local county / state document scanning services (if they charge for bulk access) </a:t>
            </a:r>
          </a:p>
        </p:txBody>
      </p:sp>
    </p:spTree>
    <p:extLst>
      <p:ext uri="{BB962C8B-B14F-4D97-AF65-F5344CB8AC3E}">
        <p14:creationId xmlns:p14="http://schemas.microsoft.com/office/powerpoint/2010/main" val="42152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FEFDB-0CCE-E558-3311-6603E834D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8FE099-8B75-2BA6-F034-2ED0689DD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35" y="255790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A3F4E"/>
                </a:solidFill>
                <a:latin typeface="BDO Grotesk DemiBold"/>
                <a:sym typeface="+mn-ea"/>
              </a:rPr>
              <a:t>Appendix V – Government &amp; Registry Sources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CB673E-A3BC-50E1-3D5B-7930E055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7B60B3-CA6E-D06B-2D57-574550A633F4}"/>
              </a:ext>
            </a:extLst>
          </p:cNvPr>
          <p:cNvSpPr/>
          <p:nvPr/>
        </p:nvSpPr>
        <p:spPr>
          <a:xfrm>
            <a:off x="521335" y="1012715"/>
            <a:ext cx="7088037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GB" sz="160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D0BCB3-436A-4B04-F768-E0A0D9EEBB2C}"/>
              </a:ext>
            </a:extLst>
          </p:cNvPr>
          <p:cNvSpPr txBox="1"/>
          <p:nvPr/>
        </p:nvSpPr>
        <p:spPr>
          <a:xfrm>
            <a:off x="285709" y="797949"/>
            <a:ext cx="10717072" cy="66171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/>
            <a:r>
              <a:rPr lang="en-US" sz="1400" b="1" dirty="0" smtClean="0">
                <a:solidFill>
                  <a:srgbClr val="164055"/>
                </a:solidFill>
                <a:latin typeface="BDO Grotesk" charset="0"/>
              </a:rPr>
              <a:t>1) Virginia</a:t>
            </a:r>
            <a:endParaRPr lang="en-US" sz="1400" b="1" dirty="0">
              <a:solidFill>
                <a:srgbClr val="164055"/>
              </a:solidFill>
              <a:latin typeface="BDO Grotesk" charset="0"/>
            </a:endParaRPr>
          </a:p>
          <a:p>
            <a:pPr marL="800100" indent="-342900">
              <a:buAutoNum type="alphaLcParenR"/>
            </a:pP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Circuit </a:t>
            </a: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Court 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Clerk          b) Clerk </a:t>
            </a: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of the 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Court</a:t>
            </a:r>
          </a:p>
          <a:p>
            <a:pPr marL="457200"/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c)     Links : </a:t>
            </a:r>
            <a:endParaRPr lang="en-GB" sz="1400" u="sng" dirty="0" smtClean="0">
              <a:hlinkClick r:id="rId2"/>
            </a:endParaRPr>
          </a:p>
          <a:p>
            <a:pPr marL="457200"/>
            <a:r>
              <a:rPr lang="en-GB" sz="1400" u="sng" dirty="0" smtClean="0">
                <a:hlinkClick r:id="rId2"/>
              </a:rPr>
              <a:t>https</a:t>
            </a:r>
            <a:r>
              <a:rPr lang="en-GB" sz="1400" u="sng" dirty="0">
                <a:hlinkClick r:id="rId2"/>
              </a:rPr>
              <a:t>://</a:t>
            </a:r>
            <a:r>
              <a:rPr lang="en-GB" sz="1400" u="sng" dirty="0" smtClean="0">
                <a:hlinkClick r:id="rId2"/>
              </a:rPr>
              <a:t>henrico.gov/services/recording-land-records/</a:t>
            </a:r>
            <a:r>
              <a:rPr lang="en-GB" sz="1400" u="sng" dirty="0" smtClean="0"/>
              <a:t>   </a:t>
            </a:r>
          </a:p>
          <a:p>
            <a:pPr marL="457200"/>
            <a:r>
              <a:rPr lang="en-GB" sz="1400" u="sng" dirty="0" smtClean="0">
                <a:hlinkClick r:id="rId3"/>
              </a:rPr>
              <a:t>https</a:t>
            </a:r>
            <a:r>
              <a:rPr lang="en-GB" sz="1400" u="sng" dirty="0">
                <a:hlinkClick r:id="rId3"/>
              </a:rPr>
              <a:t>://</a:t>
            </a:r>
            <a:r>
              <a:rPr lang="en-GB" sz="1400" u="sng" dirty="0" smtClean="0">
                <a:hlinkClick r:id="rId3"/>
              </a:rPr>
              <a:t>www.essexva.gov/clerk-circuit-court/page/land-records?utm_source=chatgpt.com</a:t>
            </a:r>
            <a:endParaRPr lang="en-GB" sz="1400" u="sng" dirty="0"/>
          </a:p>
          <a:p>
            <a:pPr marL="457200"/>
            <a:r>
              <a:rPr lang="en-GB" sz="1400" u="sng" dirty="0" smtClean="0">
                <a:hlinkClick r:id="rId4"/>
              </a:rPr>
              <a:t>https</a:t>
            </a:r>
            <a:r>
              <a:rPr lang="en-GB" sz="1400" u="sng" dirty="0">
                <a:hlinkClick r:id="rId4"/>
              </a:rPr>
              <a:t>://sussexcountyva.gov/department/clerk-of-circuit-court/online-access-to-land-records/?utm_source=chatgpt.com</a:t>
            </a:r>
            <a:r>
              <a:rPr lang="en-GB" sz="1400" dirty="0"/>
              <a:t/>
            </a:r>
            <a:br>
              <a:rPr lang="en-GB" sz="1400" dirty="0"/>
            </a:br>
            <a:r>
              <a:rPr lang="en-GB" sz="1400" u="sng" dirty="0">
                <a:hlinkClick r:id="rId5"/>
              </a:rPr>
              <a:t>https://www.roanokecountyva.gov/425/Real-Estate-Records?utm_source=chatgpt.com</a:t>
            </a:r>
            <a:r>
              <a:rPr lang="en-GB" sz="1400" dirty="0"/>
              <a:t/>
            </a:r>
            <a:br>
              <a:rPr lang="en-GB" sz="1400" dirty="0"/>
            </a:br>
            <a:r>
              <a:rPr lang="en-GB" sz="1400" u="sng" dirty="0">
                <a:hlinkClick r:id="rId6"/>
              </a:rPr>
              <a:t>https://www.kwc.gov/361/Land-Records?utm_source=chatgpt.com</a:t>
            </a:r>
            <a:r>
              <a:rPr lang="en-GB" sz="1400" dirty="0"/>
              <a:t/>
            </a:r>
            <a:br>
              <a:rPr lang="en-GB" sz="1400" dirty="0"/>
            </a:br>
            <a:r>
              <a:rPr lang="en-GB" sz="1400" u="sng" dirty="0">
                <a:hlinkClick r:id="rId7"/>
              </a:rPr>
              <a:t>https://www.registryofdeeds.org/virginia/?utm_source=chatgpt.com</a:t>
            </a:r>
            <a:r>
              <a:rPr lang="en-GB" sz="1400" dirty="0"/>
              <a:t/>
            </a:r>
            <a:br>
              <a:rPr lang="en-GB" sz="1400" dirty="0"/>
            </a:br>
            <a:r>
              <a:rPr lang="en-GB" sz="1400" u="sng" dirty="0">
                <a:hlinkClick r:id="rId8"/>
              </a:rPr>
              <a:t>https://www.parcelsearch.org/virginia/?</a:t>
            </a:r>
            <a:r>
              <a:rPr lang="en-GB" sz="1400" u="sng" dirty="0" smtClean="0">
                <a:hlinkClick r:id="rId8"/>
              </a:rPr>
              <a:t>utm_source=chatgpt.com</a:t>
            </a:r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pPr marL="457200"/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pPr marL="457200"/>
            <a:r>
              <a:rPr lang="en-US" sz="1400" b="1" dirty="0" smtClean="0">
                <a:solidFill>
                  <a:srgbClr val="164055"/>
                </a:solidFill>
                <a:latin typeface="BDO Grotesk" charset="0"/>
              </a:rPr>
              <a:t>2) Texas</a:t>
            </a:r>
            <a:endParaRPr lang="en-US" sz="1400" b="1" dirty="0">
              <a:solidFill>
                <a:srgbClr val="164055"/>
              </a:solidFill>
              <a:latin typeface="BDO Grotesk" charset="0"/>
            </a:endParaRPr>
          </a:p>
          <a:p>
            <a:pPr marL="457200"/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a) County Clerk(Harris, Travis and Dallas)                   b) County Recorder           c) County </a:t>
            </a: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Deed 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Records     d) GIS     </a:t>
            </a:r>
          </a:p>
          <a:p>
            <a:pPr marL="457200"/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e) Appraisal District                                                       f) 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  <a:hlinkClick r:id="rId9"/>
              </a:rPr>
              <a:t>https</a:t>
            </a:r>
            <a:r>
              <a:rPr lang="en-US" sz="1400" dirty="0">
                <a:solidFill>
                  <a:srgbClr val="164055"/>
                </a:solidFill>
                <a:latin typeface="BDO Grotesk" charset="0"/>
                <a:hlinkClick r:id="rId9"/>
              </a:rPr>
              <a:t>://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  <a:hlinkClick r:id="rId9"/>
              </a:rPr>
              <a:t>comptroller.texas.gov/taxes/data-centers/data-center-lists.php</a:t>
            </a:r>
            <a:endParaRPr lang="en-US" sz="1400" dirty="0" smtClean="0">
              <a:solidFill>
                <a:srgbClr val="164055"/>
              </a:solidFill>
              <a:latin typeface="BDO Grotesk" charset="0"/>
            </a:endParaRPr>
          </a:p>
          <a:p>
            <a:pPr marL="457200"/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pPr marL="457200"/>
            <a:r>
              <a:rPr lang="en-US" sz="1400" b="1" dirty="0">
                <a:solidFill>
                  <a:srgbClr val="164055"/>
                </a:solidFill>
                <a:latin typeface="BDO Grotesk" charset="0"/>
              </a:rPr>
              <a:t>3) Georgia</a:t>
            </a:r>
          </a:p>
          <a:p>
            <a:r>
              <a:rPr lang="en-US" sz="1400" b="1" dirty="0">
                <a:solidFill>
                  <a:srgbClr val="164055"/>
                </a:solidFill>
                <a:latin typeface="BDO Grotesk" charset="0"/>
              </a:rPr>
              <a:t>         a) </a:t>
            </a: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Count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y Clerk(Fulton)                  b)  Superior </a:t>
            </a: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Court 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Clerk     c) Deeds Office(Fulton)                    d) County </a:t>
            </a: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Tax 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Assessor</a:t>
            </a:r>
          </a:p>
          <a:p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 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        e) GIS                                             e) </a:t>
            </a:r>
            <a:r>
              <a:rPr lang="en-US" sz="1400" dirty="0" err="1" smtClean="0">
                <a:solidFill>
                  <a:srgbClr val="164055"/>
                </a:solidFill>
                <a:latin typeface="BDO Grotesk" charset="0"/>
              </a:rPr>
              <a:t>Dekalb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 County                f) Gwinnett County</a:t>
            </a:r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 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         4) </a:t>
            </a:r>
            <a:r>
              <a:rPr lang="en-US" sz="1400" b="1" dirty="0" smtClean="0">
                <a:solidFill>
                  <a:srgbClr val="164055"/>
                </a:solidFill>
                <a:latin typeface="BDO Grotesk" charset="0"/>
              </a:rPr>
              <a:t>Arizona</a:t>
            </a:r>
            <a:endParaRPr lang="en-US" sz="1400" b="1" dirty="0">
              <a:solidFill>
                <a:srgbClr val="164055"/>
              </a:solidFill>
              <a:latin typeface="BDO Grotesk" charset="0"/>
            </a:endParaRPr>
          </a:p>
          <a:p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          a) County Recorder(Maricopa &amp; Pima)                    b) County Assessor                             c) GIS                                  </a:t>
            </a:r>
          </a:p>
          <a:p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 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         d) Planning &amp; Zoning Office                                     </a:t>
            </a: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e) Pima County Recorder</a:t>
            </a:r>
          </a:p>
          <a:p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 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         5) </a:t>
            </a:r>
            <a:r>
              <a:rPr lang="en-US" sz="1400" b="1" dirty="0" smtClean="0">
                <a:solidFill>
                  <a:srgbClr val="164055"/>
                </a:solidFill>
                <a:latin typeface="BDO Grotesk" charset="0"/>
              </a:rPr>
              <a:t>Ohio</a:t>
            </a:r>
            <a:endParaRPr lang="en-US" sz="1400" b="1" dirty="0">
              <a:solidFill>
                <a:srgbClr val="164055"/>
              </a:solidFill>
              <a:latin typeface="BDO Grotesk" charset="0"/>
            </a:endParaRPr>
          </a:p>
          <a:p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          a) County Recorder(Franklin &amp; Cuyahoga)                b) County Auditor                               c) GIS                                   </a:t>
            </a:r>
          </a:p>
          <a:p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 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         d) Municipal </a:t>
            </a: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Planning &amp; Zoning, </a:t>
            </a:r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Developer</a:t>
            </a:r>
          </a:p>
          <a:p>
            <a:endParaRPr lang="en-US" sz="1400" dirty="0">
              <a:solidFill>
                <a:srgbClr val="164055"/>
              </a:solidFill>
              <a:latin typeface="BDO Grotesk" charset="0"/>
            </a:endParaRPr>
          </a:p>
          <a:p>
            <a:endParaRPr lang="en-GB" dirty="0"/>
          </a:p>
          <a:p>
            <a:r>
              <a:rPr lang="en-US" sz="1400" dirty="0" smtClean="0">
                <a:solidFill>
                  <a:srgbClr val="164055"/>
                </a:solidFill>
                <a:latin typeface="BDO Grotesk" charset="0"/>
              </a:rPr>
              <a:t> </a:t>
            </a:r>
            <a:endParaRPr lang="en-US" sz="1400" dirty="0">
              <a:solidFill>
                <a:srgbClr val="164055"/>
              </a:solidFill>
              <a:latin typeface="BDO Grotes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0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FEFDB-0CCE-E558-3311-6603E834D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8FE099-8B75-2BA6-F034-2ED0689DD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35" y="374650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A3F4E"/>
                </a:solidFill>
                <a:latin typeface="BDO Grotesk DemiBold"/>
                <a:sym typeface="+mn-ea"/>
              </a:rPr>
              <a:t>Appendix </a:t>
            </a:r>
            <a:r>
              <a:rPr lang="en-US" sz="2900" b="1" dirty="0" smtClean="0">
                <a:solidFill>
                  <a:srgbClr val="1A3F4E"/>
                </a:solidFill>
                <a:latin typeface="BDO Grotesk DemiBold"/>
                <a:sym typeface="+mn-ea"/>
              </a:rPr>
              <a:t>V</a:t>
            </a:r>
            <a:r>
              <a:rPr lang="en-US" sz="2900" b="1" dirty="0">
                <a:solidFill>
                  <a:srgbClr val="1A3F4E"/>
                </a:solidFill>
                <a:sym typeface="+mn-ea"/>
              </a:rPr>
              <a:t>I</a:t>
            </a:r>
            <a:r>
              <a:rPr lang="en-US" sz="2900" b="1" dirty="0" smtClean="0">
                <a:solidFill>
                  <a:srgbClr val="1A3F4E"/>
                </a:solidFill>
                <a:latin typeface="BDO Grotesk DemiBold"/>
                <a:sym typeface="+mn-ea"/>
              </a:rPr>
              <a:t> </a:t>
            </a:r>
            <a:r>
              <a:rPr lang="en-US" sz="2900" b="1" dirty="0">
                <a:solidFill>
                  <a:srgbClr val="1A3F4E"/>
                </a:solidFill>
                <a:latin typeface="BDO Grotesk DemiBold"/>
                <a:sym typeface="+mn-ea"/>
              </a:rPr>
              <a:t>– </a:t>
            </a:r>
            <a:r>
              <a:rPr lang="en-US" sz="2900" b="1" dirty="0" smtClean="0">
                <a:solidFill>
                  <a:srgbClr val="1A3F4E"/>
                </a:solidFill>
                <a:latin typeface="BDO Grotesk DemiBold"/>
                <a:sym typeface="+mn-ea"/>
              </a:rPr>
              <a:t>Twitter Handles</a:t>
            </a:r>
            <a:endParaRPr lang="en-US" sz="2900" b="1" dirty="0">
              <a:solidFill>
                <a:srgbClr val="1A3F4E"/>
              </a:solidFill>
              <a:latin typeface="BDO Grotesk DemiBold"/>
              <a:sym typeface="+mn-e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CB673E-A3BC-50E1-3D5B-7930E055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7B60B3-CA6E-D06B-2D57-574550A633F4}"/>
              </a:ext>
            </a:extLst>
          </p:cNvPr>
          <p:cNvSpPr/>
          <p:nvPr/>
        </p:nvSpPr>
        <p:spPr>
          <a:xfrm>
            <a:off x="521335" y="1012715"/>
            <a:ext cx="7088037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GB" sz="160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9554" y="1012715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@Azure (Microsoft Azure)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AWScloud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GoogleCloud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OracleCloud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@Meta (Meta Platforms)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Equinix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DigitalRealty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CyrusOne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IronMountainDC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STACKInfra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Aligned_DC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EdgeConneX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CoreSite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Accesso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(Edge / data 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center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firm)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Powergrid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(or local utility corporate handles),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DataCenterDF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(Data 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Center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Frontier)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DCDnews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(Data 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Center</a:t>
            </a: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 Dynamics)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CommercialEdge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MissionCriticalMag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rgbClr val="164055"/>
                </a:solidFill>
                <a:latin typeface="BDO Grotesk" charset="0"/>
              </a:rPr>
              <a:t>@</a:t>
            </a:r>
            <a:r>
              <a:rPr lang="en-GB" sz="1400" dirty="0" err="1">
                <a:solidFill>
                  <a:srgbClr val="164055"/>
                </a:solidFill>
                <a:latin typeface="BDO Grotesk" charset="0"/>
              </a:rPr>
              <a:t>DCColoNews</a:t>
            </a:r>
            <a:endParaRPr lang="en-GB" sz="1400" dirty="0">
              <a:solidFill>
                <a:srgbClr val="164055"/>
              </a:solidFill>
              <a:latin typeface="BDO Grotes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62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FEFDB-0CCE-E558-3311-6603E834D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8FE099-8B75-2BA6-F034-2ED0689DD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35" y="374650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A3F4E"/>
                </a:solidFill>
                <a:latin typeface="BDO Grotesk DemiBold"/>
                <a:sym typeface="+mn-ea"/>
              </a:rPr>
              <a:t>Appendix </a:t>
            </a:r>
            <a:r>
              <a:rPr lang="en-US" sz="2900" b="1" dirty="0" smtClean="0">
                <a:solidFill>
                  <a:srgbClr val="1A3F4E"/>
                </a:solidFill>
                <a:latin typeface="BDO Grotesk DemiBold"/>
                <a:sym typeface="+mn-ea"/>
              </a:rPr>
              <a:t>V</a:t>
            </a:r>
            <a:r>
              <a:rPr lang="en-US" sz="2900" b="1" dirty="0" smtClean="0">
                <a:solidFill>
                  <a:srgbClr val="1A3F4E"/>
                </a:solidFill>
                <a:sym typeface="+mn-ea"/>
              </a:rPr>
              <a:t>I</a:t>
            </a:r>
            <a:r>
              <a:rPr lang="en-US" sz="2900" b="1" dirty="0">
                <a:solidFill>
                  <a:srgbClr val="1A3F4E"/>
                </a:solidFill>
                <a:sym typeface="+mn-ea"/>
              </a:rPr>
              <a:t>I</a:t>
            </a:r>
            <a:r>
              <a:rPr lang="en-US" sz="2900" b="1" dirty="0" smtClean="0">
                <a:solidFill>
                  <a:srgbClr val="1A3F4E"/>
                </a:solidFill>
                <a:latin typeface="BDO Grotesk DemiBold"/>
                <a:sym typeface="+mn-ea"/>
              </a:rPr>
              <a:t> </a:t>
            </a:r>
            <a:r>
              <a:rPr lang="en-US" sz="2900" b="1" dirty="0">
                <a:solidFill>
                  <a:srgbClr val="1A3F4E"/>
                </a:solidFill>
                <a:latin typeface="BDO Grotesk DemiBold"/>
                <a:sym typeface="+mn-ea"/>
              </a:rPr>
              <a:t>– </a:t>
            </a:r>
            <a:r>
              <a:rPr lang="en-US" sz="2900" b="1" dirty="0" smtClean="0">
                <a:solidFill>
                  <a:srgbClr val="1A3F4E"/>
                </a:solidFill>
                <a:latin typeface="BDO Grotesk DemiBold"/>
                <a:sym typeface="+mn-ea"/>
              </a:rPr>
              <a:t>Data Points</a:t>
            </a:r>
            <a:endParaRPr lang="en-US" sz="2900" b="1" dirty="0">
              <a:solidFill>
                <a:srgbClr val="1A3F4E"/>
              </a:solidFill>
              <a:latin typeface="BDO Grotesk DemiBold"/>
              <a:sym typeface="+mn-e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CB673E-A3BC-50E1-3D5B-7930E055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18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7B60B3-CA6E-D06B-2D57-574550A633F4}"/>
              </a:ext>
            </a:extLst>
          </p:cNvPr>
          <p:cNvSpPr/>
          <p:nvPr/>
        </p:nvSpPr>
        <p:spPr>
          <a:xfrm>
            <a:off x="521335" y="1012715"/>
            <a:ext cx="7088037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GB" sz="160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9554" y="1012715"/>
            <a:ext cx="6096000" cy="309315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Date Of Transaction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Facility Name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Address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Market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Buyer Company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Seller Company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Agents / Advisors Company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Plot Area (ha)/(m²)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Currency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Purchase Price (mil)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Price per m²/Hectare (mil)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Purchase Type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Deals Tags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WAULT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Transaction Note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Source URL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Summary/description </a:t>
            </a:r>
          </a:p>
          <a:p>
            <a:pPr marL="342900" indent="-342900">
              <a:lnSpc>
                <a:spcPts val="13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164055"/>
                </a:solidFill>
                <a:latin typeface="BDO Grotesk" charset="0"/>
              </a:rPr>
              <a:t>Meta Data</a:t>
            </a:r>
          </a:p>
        </p:txBody>
      </p:sp>
    </p:spTree>
    <p:extLst>
      <p:ext uri="{BB962C8B-B14F-4D97-AF65-F5344CB8AC3E}">
        <p14:creationId xmlns:p14="http://schemas.microsoft.com/office/powerpoint/2010/main" val="198716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272FC-AE33-D1CF-B05C-02C6C6A43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01453B-B928-1926-9248-246E6BFF7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35" y="374650"/>
            <a:ext cx="9693182" cy="518795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1A3F4E"/>
                </a:solidFill>
                <a:sym typeface="+mn-ea"/>
              </a:rPr>
              <a:t>Appendix </a:t>
            </a:r>
            <a:r>
              <a:rPr lang="en-US" sz="2900" b="1" dirty="0" smtClean="0">
                <a:solidFill>
                  <a:srgbClr val="1A3F4E"/>
                </a:solidFill>
                <a:sym typeface="+mn-ea"/>
              </a:rPr>
              <a:t>VII</a:t>
            </a:r>
            <a:r>
              <a:rPr lang="en-US" sz="2900" b="1" dirty="0">
                <a:solidFill>
                  <a:srgbClr val="1A3F4E"/>
                </a:solidFill>
                <a:sym typeface="+mn-ea"/>
              </a:rPr>
              <a:t>I</a:t>
            </a:r>
            <a:r>
              <a:rPr lang="en-US" sz="2900" b="1" dirty="0" smtClean="0">
                <a:solidFill>
                  <a:srgbClr val="1A3F4E"/>
                </a:solidFill>
                <a:sym typeface="+mn-ea"/>
              </a:rPr>
              <a:t> </a:t>
            </a:r>
            <a:r>
              <a:rPr lang="en-US" sz="2900" b="1" dirty="0">
                <a:solidFill>
                  <a:srgbClr val="1A3F4E"/>
                </a:solidFill>
                <a:sym typeface="+mn-ea"/>
              </a:rPr>
              <a:t>– Infrastructure Details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7C2F86-BEBF-4E06-0FA5-DC5A2691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70C33A-8D8B-21F7-B3BB-944745B73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116812"/>
              </p:ext>
            </p:extLst>
          </p:nvPr>
        </p:nvGraphicFramePr>
        <p:xfrm>
          <a:off x="640828" y="1182081"/>
          <a:ext cx="10265230" cy="4356125"/>
        </p:xfrm>
        <a:graphic>
          <a:graphicData uri="http://schemas.openxmlformats.org/drawingml/2006/table">
            <a:tbl>
              <a:tblPr/>
              <a:tblGrid>
                <a:gridCol w="771795">
                  <a:extLst>
                    <a:ext uri="{9D8B030D-6E8A-4147-A177-3AD203B41FA5}">
                      <a16:colId xmlns:a16="http://schemas.microsoft.com/office/drawing/2014/main" val="348761346"/>
                    </a:ext>
                  </a:extLst>
                </a:gridCol>
                <a:gridCol w="3930835">
                  <a:extLst>
                    <a:ext uri="{9D8B030D-6E8A-4147-A177-3AD203B41FA5}">
                      <a16:colId xmlns:a16="http://schemas.microsoft.com/office/drawing/2014/main" val="3502354054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3639573486"/>
                    </a:ext>
                  </a:extLst>
                </a:gridCol>
              </a:tblGrid>
              <a:tr h="54235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1400" b="1" kern="1200" dirty="0" err="1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S.No</a:t>
                      </a:r>
                      <a:endParaRPr lang="en-GB" sz="1400" b="1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1400" b="1" kern="1200" dirty="0" smtClean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Infrastructure Used </a:t>
                      </a:r>
                      <a:r>
                        <a:rPr lang="en-GB" sz="1400" b="1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During POC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1400" b="1" kern="1200" dirty="0" smtClean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Comments</a:t>
                      </a:r>
                      <a:endParaRPr lang="en-GB" sz="1400" b="1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992036"/>
                  </a:ext>
                </a:extLst>
              </a:tr>
              <a:tr h="3205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Proxy Services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Region specific proxies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17757"/>
                  </a:ext>
                </a:extLst>
              </a:tr>
              <a:tr h="33456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Virtual Machines(Ubuntu)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B4as v2: 4 vCPUs, 16 GB RAM, 0 GB Temporary storage, £0.127/hour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3301"/>
                  </a:ext>
                </a:extLst>
              </a:tr>
              <a:tr h="3205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DB Server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D Series, 4 </a:t>
                      </a:r>
                      <a:r>
                        <a:rPr lang="en-GB" sz="1400" kern="1200" dirty="0" err="1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vCore</a:t>
                      </a:r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, £0.2955/hour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27897"/>
                  </a:ext>
                </a:extLst>
              </a:tr>
              <a:tr h="3205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Storage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780412"/>
                  </a:ext>
                </a:extLst>
              </a:tr>
              <a:tr h="3205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Backup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986032"/>
                  </a:ext>
                </a:extLst>
              </a:tr>
              <a:tr h="3205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Twitter Subscription and </a:t>
                      </a:r>
                      <a:r>
                        <a:rPr lang="en-GB" sz="1400" kern="1200" err="1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Apify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657154"/>
                  </a:ext>
                </a:extLst>
              </a:tr>
              <a:tr h="3205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err="1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Serper</a:t>
                      </a:r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(Open Search) API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035577"/>
                  </a:ext>
                </a:extLst>
              </a:tr>
              <a:tr h="3205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err="1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Linkedin</a:t>
                      </a:r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 Post Scraping - Subscription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kern="1200" dirty="0">
                        <a:solidFill>
                          <a:srgbClr val="164055"/>
                        </a:solidFill>
                        <a:latin typeface="BDO Grotesk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940522"/>
                  </a:ext>
                </a:extLst>
              </a:tr>
              <a:tr h="3205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GPU Machines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Intel® Xeon® Gold 5412U</a:t>
                      </a:r>
                      <a:b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</a:br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GPU: NVIDIA RTX™ 6000</a:t>
                      </a:r>
                    </a:p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RAM: 128 GB DDR5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83530"/>
                  </a:ext>
                </a:extLst>
              </a:tr>
              <a:tr h="3205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Open AI Key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kern="1200" dirty="0">
                          <a:solidFill>
                            <a:srgbClr val="164055"/>
                          </a:solidFill>
                          <a:latin typeface="BDO Grotesk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67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61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2012</Words>
  <Application>Microsoft Office PowerPoint</Application>
  <PresentationFormat>Widescreen</PresentationFormat>
  <Paragraphs>409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 Narrow</vt:lpstr>
      <vt:lpstr>Arial</vt:lpstr>
      <vt:lpstr>BDO Grotesk</vt:lpstr>
      <vt:lpstr>BDO Grotesk Black</vt:lpstr>
      <vt:lpstr>BDO Grotesk DemiBold</vt:lpstr>
      <vt:lpstr>Calibri</vt:lpstr>
      <vt:lpstr>Courier New</vt:lpstr>
      <vt:lpstr>Open Sans</vt:lpstr>
      <vt:lpstr>Times New Roman</vt:lpstr>
      <vt:lpstr>1_Office Theme</vt:lpstr>
      <vt:lpstr>PowerPoint Presentation</vt:lpstr>
      <vt:lpstr>POC Objectives</vt:lpstr>
      <vt:lpstr>POC Scope and Data Source Categories</vt:lpstr>
      <vt:lpstr>Data Extraction Workflow</vt:lpstr>
      <vt:lpstr>Detailed Data Extraction Workflow</vt:lpstr>
      <vt:lpstr>PowerPoint Presentation</vt:lpstr>
      <vt:lpstr>POC Deliverables</vt:lpstr>
      <vt:lpstr>POC Costs </vt:lpstr>
      <vt:lpstr>Estimated Full Project Costs – High Level </vt:lpstr>
      <vt:lpstr>Estimated Recurring BAU Costs (Monthly) – High Level </vt:lpstr>
      <vt:lpstr>Key Milestones and Projected Timelines</vt:lpstr>
      <vt:lpstr>Appendix I - LinkedIn SMEs/Contacts</vt:lpstr>
      <vt:lpstr>Appendix II – News and Media Outlet Sources</vt:lpstr>
      <vt:lpstr>Appendix III – Key Organisation Websites </vt:lpstr>
      <vt:lpstr>Appendix IV – Commercial Data Providers </vt:lpstr>
      <vt:lpstr>Appendix V – Government &amp; Registry Sources</vt:lpstr>
      <vt:lpstr>Appendix VI – Twitter Handles</vt:lpstr>
      <vt:lpstr>Appendix VII – Data Points</vt:lpstr>
      <vt:lpstr>Appendix VIII – Infrastructure Details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WPP Presentation</dc:title>
  <dc:creator>shubhampawar</dc:creator>
  <cp:lastModifiedBy>Rathin Jayanarayanan</cp:lastModifiedBy>
  <cp:revision>352</cp:revision>
  <dcterms:created xsi:type="dcterms:W3CDTF">2025-08-26T09:59:00Z</dcterms:created>
  <dcterms:modified xsi:type="dcterms:W3CDTF">2025-10-16T08:41:11Z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1033-10.2.0.5820</vt:lpwstr>
  </property>
</Properties>
</file>